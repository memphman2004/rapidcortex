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139" d="100"/>
          <a:sy n="139" d="100"/>
        </p:scale>
        <p:origin x="176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606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2B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A2B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A2B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A2B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A2B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A2B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A2B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A2B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A2B3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A2B3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1A2B3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2B3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1028700"/>
            <a:ext cx="9144000" cy="0"/>
          </a:xfrm>
          <a:prstGeom prst="line">
            <a:avLst/>
          </a:prstGeom>
          <a:noFill/>
          <a:ln w="6350">
            <a:solidFill>
              <a:srgbClr val="1A2B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2057400"/>
            <a:ext cx="9144000" cy="0"/>
          </a:xfrm>
          <a:prstGeom prst="line">
            <a:avLst/>
          </a:prstGeom>
          <a:noFill/>
          <a:ln w="6350">
            <a:solidFill>
              <a:srgbClr val="1A2B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086100"/>
            <a:ext cx="9144000" cy="0"/>
          </a:xfrm>
          <a:prstGeom prst="line">
            <a:avLst/>
          </a:prstGeom>
          <a:noFill/>
          <a:ln w="6350">
            <a:solidFill>
              <a:srgbClr val="1A2B3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A2B3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5143500"/>
            <a:ext cx="9144000" cy="0"/>
          </a:xfrm>
          <a:prstGeom prst="line">
            <a:avLst/>
          </a:prstGeom>
          <a:noFill/>
          <a:ln w="6350">
            <a:solidFill>
              <a:srgbClr val="1A2B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-457200" y="-274320"/>
            <a:ext cx="4114800" cy="3200400"/>
          </a:xfrm>
          <a:prstGeom prst="rect">
            <a:avLst/>
          </a:prstGeom>
          <a:solidFill>
            <a:srgbClr val="C8102E">
              <a:alpha val="6000"/>
            </a:srgbClr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47472"/>
            <a:ext cx="640080" cy="31089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4747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214207" y="356617"/>
            <a:ext cx="67155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kern="0" spc="300" dirty="0">
                <a:gradFill flip="none" rotWithShape="1">
                  <a:gsLst>
                    <a:gs pos="99000">
                      <a:srgbClr val="C00000"/>
                    </a:gs>
                    <a:gs pos="52000">
                      <a:schemeClr val="bg1"/>
                    </a:gs>
                    <a:gs pos="20000">
                      <a:srgbClr val="002060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atin typeface="Arial" pitchFamily="34" charset="0"/>
                <a:ea typeface="Arial" pitchFamily="34" charset="-122"/>
                <a:cs typeface="Arial" pitchFamily="34" charset="-120"/>
              </a:rPr>
              <a:t>NEXCORT IQ</a:t>
            </a:r>
            <a:endParaRPr lang="en-US" sz="4400" dirty="0">
              <a:gradFill flip="none" rotWithShape="1">
                <a:gsLst>
                  <a:gs pos="99000">
                    <a:srgbClr val="C00000"/>
                  </a:gs>
                  <a:gs pos="52000">
                    <a:schemeClr val="bg1"/>
                  </a:gs>
                  <a:gs pos="20000">
                    <a:srgbClr val="002060"/>
                  </a:gs>
                </a:gsLst>
                <a:path path="circle">
                  <a:fillToRect l="100000" t="100000"/>
                </a:path>
                <a:tileRect r="-100000" b="-100000"/>
              </a:gra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230852" y="1440180"/>
            <a:ext cx="868229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CHANGES WHEN NEXCORT IQ ENTERS THE 9-1-1 CENTER?</a:t>
            </a:r>
          </a:p>
        </p:txBody>
      </p:sp>
      <p:sp>
        <p:nvSpPr>
          <p:cNvPr id="26" name="Shape 24"/>
          <p:cNvSpPr/>
          <p:nvPr/>
        </p:nvSpPr>
        <p:spPr>
          <a:xfrm>
            <a:off x="1412824" y="3851911"/>
            <a:ext cx="6775553" cy="7772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525250" y="3920492"/>
            <a:ext cx="6498237" cy="643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i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“Intelligence at the speed of response”</a:t>
            </a:r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BF7BE69D-01E0-C252-0801-9EB460C1A8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-1"/>
            <a:ext cx="1115569" cy="1072734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5190472A-09EB-8CE5-833E-649EA19233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3487" y="-15459"/>
            <a:ext cx="1115569" cy="107273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3200400" cy="5143500"/>
          </a:xfrm>
          <a:prstGeom prst="rect">
            <a:avLst/>
          </a:prstGeom>
          <a:solidFill>
            <a:srgbClr val="111A2B"/>
          </a:solidFill>
          <a:ln w="12700">
            <a:solidFill>
              <a:srgbClr val="111A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47472"/>
            <a:ext cx="1645920" cy="201168"/>
          </a:xfrm>
          <a:prstGeom prst="roundRect">
            <a:avLst>
              <a:gd name="adj" fmla="val 18182"/>
            </a:avLst>
          </a:prstGeom>
          <a:solidFill>
            <a:srgbClr val="C8102E">
              <a:alpha val="22000"/>
            </a:srgbClr>
          </a:solidFill>
          <a:ln w="12700">
            <a:solidFill>
              <a:srgbClr val="C8102E">
                <a:alpha val="7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911 TODAY</a:t>
            </a:r>
            <a:endParaRPr lang="en-US" sz="7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CRISIS MEETS 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1389888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4FB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2304288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240 million 911 calls are made every year in the United States alone. Dispatchers process language barriers, incomplete addresses, and simultaneous radio traffic; all within seconds. The system was not designed for this volume or this pressure.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46520" y="411480"/>
            <a:ext cx="2377440" cy="1005840"/>
          </a:xfrm>
          <a:prstGeom prst="rect">
            <a:avLst/>
          </a:prstGeom>
          <a:solidFill>
            <a:srgbClr val="0F1929"/>
          </a:solidFill>
          <a:ln w="12700">
            <a:solidFill>
              <a:srgbClr val="1B6FD8">
                <a:alpha val="40000"/>
              </a:srgbClr>
            </a:solidFill>
            <a:prstDash val="solid"/>
          </a:ln>
          <a:effectLst>
            <a:outerShdw blurRad="152400" dist="50800" dir="5400000" algn="bl" rotWithShape="0">
              <a:srgbClr val="000000">
                <a:alpha val="5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56248" y="502920"/>
            <a:ext cx="2157984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240M+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537960" y="1014984"/>
            <a:ext cx="21945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911 calls per year in the US</a:t>
            </a:r>
            <a:r>
              <a:rPr lang="en-US" sz="900" baseline="30000" dirty="0">
                <a:solidFill>
                  <a:srgbClr val="8F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46520" y="1600200"/>
            <a:ext cx="2377440" cy="1005840"/>
          </a:xfrm>
          <a:prstGeom prst="rect">
            <a:avLst/>
          </a:prstGeom>
          <a:solidFill>
            <a:srgbClr val="0F1929"/>
          </a:solidFill>
          <a:ln w="12700">
            <a:solidFill>
              <a:srgbClr val="1B6FD8">
                <a:alpha val="40000"/>
              </a:srgbClr>
            </a:solidFill>
            <a:prstDash val="solid"/>
          </a:ln>
          <a:effectLst>
            <a:outerShdw blurRad="152400" dist="50800" dir="54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56248" y="1691640"/>
            <a:ext cx="2157984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4FB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3 sec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537960" y="2203704"/>
            <a:ext cx="21945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dispatcher assessment window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46520" y="2788920"/>
            <a:ext cx="2377440" cy="1005840"/>
          </a:xfrm>
          <a:prstGeom prst="rect">
            <a:avLst/>
          </a:prstGeom>
          <a:solidFill>
            <a:srgbClr val="0F1929"/>
          </a:solidFill>
          <a:ln w="12700">
            <a:solidFill>
              <a:srgbClr val="1B6FD8">
                <a:alpha val="40000"/>
              </a:srgbClr>
            </a:solidFill>
            <a:prstDash val="solid"/>
          </a:ln>
          <a:effectLst>
            <a:outerShdw blurRad="152400" dist="50800" dir="54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56248" y="2880360"/>
            <a:ext cx="2157984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537960" y="3392424"/>
            <a:ext cx="21945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PSAPs are critically understaffed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46520" y="3794760"/>
            <a:ext cx="2377440" cy="1005840"/>
          </a:xfrm>
          <a:prstGeom prst="rect">
            <a:avLst/>
          </a:prstGeom>
          <a:solidFill>
            <a:srgbClr val="0F1929"/>
          </a:solidFill>
          <a:ln w="12700">
            <a:solidFill>
              <a:srgbClr val="1B6FD8">
                <a:alpha val="40000"/>
              </a:srgbClr>
            </a:solidFill>
            <a:prstDash val="solid"/>
          </a:ln>
          <a:effectLst>
            <a:outerShdw blurRad="152400" dist="50800" dir="54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56248" y="3886200"/>
            <a:ext cx="2157984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8F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6,000+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537960" y="4398264"/>
            <a:ext cx="21945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PSAPs operating in the US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4434840"/>
            <a:ext cx="3200400" cy="38404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4348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TECHNOLOGY HAS NOT KEPT UP</a:t>
            </a:r>
            <a:endParaRPr lang="en-US" sz="1000" dirty="0"/>
          </a:p>
        </p:txBody>
      </p:sp>
      <p:sp>
        <p:nvSpPr>
          <p:cNvPr id="23" name="Shape 0">
            <a:extLst>
              <a:ext uri="{FF2B5EF4-FFF2-40B4-BE49-F238E27FC236}">
                <a16:creationId xmlns:a16="http://schemas.microsoft.com/office/drawing/2014/main" id="{8427F27F-C015-3DA1-EB2F-B2AC074652C0}"/>
              </a:ext>
            </a:extLst>
          </p:cNvPr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chemeClr val="bg1"/>
          </a:solidFill>
          <a:ln w="12700">
            <a:noFill/>
            <a:prstDash val="solid"/>
          </a:ln>
        </p:spPr>
      </p:sp>
      <p:sp>
        <p:nvSpPr>
          <p:cNvPr id="24" name="Shape 0">
            <a:extLst>
              <a:ext uri="{FF2B5EF4-FFF2-40B4-BE49-F238E27FC236}">
                <a16:creationId xmlns:a16="http://schemas.microsoft.com/office/drawing/2014/main" id="{2CE4E22C-B36C-29E0-1FB6-AD9F6030BF35}"/>
              </a:ext>
            </a:extLst>
          </p:cNvPr>
          <p:cNvSpPr/>
          <p:nvPr/>
        </p:nvSpPr>
        <p:spPr>
          <a:xfrm>
            <a:off x="-16002" y="-9145"/>
            <a:ext cx="9166860" cy="45719"/>
          </a:xfrm>
          <a:prstGeom prst="rect">
            <a:avLst/>
          </a:prstGeom>
          <a:gradFill flip="none" rotWithShape="1">
            <a:gsLst>
              <a:gs pos="0">
                <a:srgbClr val="002060"/>
              </a:gs>
              <a:gs pos="49000">
                <a:schemeClr val="bg1"/>
              </a:gs>
              <a:gs pos="100000">
                <a:srgbClr val="FF0000"/>
              </a:gs>
            </a:gsLst>
            <a:path path="circle">
              <a:fillToRect l="100000" t="100000"/>
            </a:path>
            <a:tileRect r="-100000" b="-100000"/>
          </a:gradFill>
          <a:ln w="12700">
            <a:noFill/>
            <a:prstDash val="solid"/>
          </a:ln>
        </p:spPr>
      </p:sp>
      <p:sp>
        <p:nvSpPr>
          <p:cNvPr id="25" name="Shape 0">
            <a:extLst>
              <a:ext uri="{FF2B5EF4-FFF2-40B4-BE49-F238E27FC236}">
                <a16:creationId xmlns:a16="http://schemas.microsoft.com/office/drawing/2014/main" id="{402DF60C-7197-F8EE-96E8-A26904ADDD92}"/>
              </a:ext>
            </a:extLst>
          </p:cNvPr>
          <p:cNvSpPr/>
          <p:nvPr/>
        </p:nvSpPr>
        <p:spPr>
          <a:xfrm rot="5400000">
            <a:off x="-2576323" y="2553462"/>
            <a:ext cx="5152644" cy="45719"/>
          </a:xfrm>
          <a:prstGeom prst="rect">
            <a:avLst/>
          </a:prstGeom>
          <a:solidFill>
            <a:srgbClr val="FF0000"/>
          </a:solidFill>
          <a:ln w="12700">
            <a:noFill/>
            <a:prstDash val="solid"/>
          </a:ln>
        </p:spPr>
      </p:sp>
      <p:sp>
        <p:nvSpPr>
          <p:cNvPr id="26" name="Shape 0">
            <a:extLst>
              <a:ext uri="{FF2B5EF4-FFF2-40B4-BE49-F238E27FC236}">
                <a16:creationId xmlns:a16="http://schemas.microsoft.com/office/drawing/2014/main" id="{426262F1-F06F-0A26-9A73-2CA8FE702F60}"/>
              </a:ext>
            </a:extLst>
          </p:cNvPr>
          <p:cNvSpPr/>
          <p:nvPr/>
        </p:nvSpPr>
        <p:spPr>
          <a:xfrm rot="5400000">
            <a:off x="6563104" y="2544318"/>
            <a:ext cx="5152645" cy="82296"/>
          </a:xfrm>
          <a:prstGeom prst="rect">
            <a:avLst/>
          </a:prstGeom>
          <a:solidFill>
            <a:srgbClr val="002060"/>
          </a:solidFill>
          <a:ln w="12700">
            <a:noFill/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5143500"/>
          </a:xfrm>
          <a:prstGeom prst="rect">
            <a:avLst/>
          </a:prstGeom>
          <a:solidFill>
            <a:srgbClr val="0D1520"/>
          </a:solidFill>
          <a:ln w="12700">
            <a:solidFill>
              <a:srgbClr val="0D15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47472"/>
            <a:ext cx="1645920" cy="201168"/>
          </a:xfrm>
          <a:prstGeom prst="roundRect">
            <a:avLst>
              <a:gd name="adj" fmla="val 18182"/>
            </a:avLst>
          </a:prstGeom>
          <a:solidFill>
            <a:srgbClr val="C8102E">
              <a:alpha val="22000"/>
            </a:srgbClr>
          </a:solidFill>
          <a:ln w="12700">
            <a:solidFill>
              <a:srgbClr val="C8102E">
                <a:alpha val="7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4747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DISPATCHER REALITY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ENJOY THE CALL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1874520"/>
            <a:ext cx="4114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REDUCE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LOAD.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65760" y="342900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NexCort iQ doesn't replace dispatchers.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F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gives them AI-powered intelligence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F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they can focus on what humans do best.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18886" y="560070"/>
            <a:ext cx="3749040" cy="868680"/>
          </a:xfrm>
          <a:prstGeom prst="rect">
            <a:avLst/>
          </a:prstGeom>
          <a:solidFill>
            <a:srgbClr val="0F1929"/>
          </a:solidFill>
          <a:ln w="50800">
            <a:solidFill>
              <a:srgbClr val="FF0000">
                <a:alpha val="60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01766" y="56007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Transcription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01766" y="88925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word captured in real time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0" y="1527048"/>
            <a:ext cx="3749040" cy="868680"/>
          </a:xfrm>
          <a:prstGeom prst="rect">
            <a:avLst/>
          </a:prstGeom>
          <a:solidFill>
            <a:srgbClr val="0F1929"/>
          </a:solidFill>
          <a:ln w="50800">
            <a:solidFill>
              <a:schemeClr val="bg1"/>
            </a:solidFill>
            <a:prstDash val="solid"/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66360" y="158191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Translation</a:t>
            </a:r>
            <a:endParaRPr lang="en-US" sz="1300" dirty="0">
              <a:solidFill>
                <a:srgbClr val="FF0000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5166360" y="191109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40+ languages, zero delay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257800" y="2564892"/>
            <a:ext cx="3749040" cy="868680"/>
          </a:xfrm>
          <a:prstGeom prst="rect">
            <a:avLst/>
          </a:prstGeom>
          <a:solidFill>
            <a:srgbClr val="0F1929"/>
          </a:solidFill>
          <a:ln w="50800">
            <a:solidFill>
              <a:srgbClr val="FF0000"/>
            </a:solidFill>
            <a:prstDash val="solid"/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394960" y="261975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Triage Summary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94960" y="29489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type, location, hazards extracted automatically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92040" y="3566160"/>
            <a:ext cx="3749040" cy="868680"/>
          </a:xfrm>
          <a:prstGeom prst="rect">
            <a:avLst/>
          </a:prstGeom>
          <a:solidFill>
            <a:srgbClr val="0F1929"/>
          </a:solidFill>
          <a:ln w="50800">
            <a:solidFill>
              <a:schemeClr val="bg1">
                <a:lumMod val="95000"/>
              </a:schemeClr>
            </a:solidFill>
            <a:prstDash val="solid"/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0" y="362102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 Dashboard</a:t>
            </a:r>
            <a:endParaRPr lang="en-US" sz="1300" dirty="0">
              <a:solidFill>
                <a:srgbClr val="FF0000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5029200" y="395020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real-time visibility across all active calls</a:t>
            </a:r>
            <a:endParaRPr lang="en-US" sz="1000" dirty="0"/>
          </a:p>
        </p:txBody>
      </p:sp>
      <p:sp>
        <p:nvSpPr>
          <p:cNvPr id="20" name="Shape 0">
            <a:extLst>
              <a:ext uri="{FF2B5EF4-FFF2-40B4-BE49-F238E27FC236}">
                <a16:creationId xmlns:a16="http://schemas.microsoft.com/office/drawing/2014/main" id="{7B05565D-31FA-DA97-A65A-ADD3E574CC21}"/>
              </a:ext>
            </a:extLst>
          </p:cNvPr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chemeClr val="bg1"/>
          </a:solidFill>
          <a:ln w="12700">
            <a:noFill/>
            <a:prstDash val="solid"/>
          </a:ln>
        </p:spPr>
      </p:sp>
      <p:sp>
        <p:nvSpPr>
          <p:cNvPr id="21" name="Shape 0">
            <a:extLst>
              <a:ext uri="{FF2B5EF4-FFF2-40B4-BE49-F238E27FC236}">
                <a16:creationId xmlns:a16="http://schemas.microsoft.com/office/drawing/2014/main" id="{ABD3F09D-1566-F2C7-4226-DAEDB2518339}"/>
              </a:ext>
            </a:extLst>
          </p:cNvPr>
          <p:cNvSpPr/>
          <p:nvPr/>
        </p:nvSpPr>
        <p:spPr>
          <a:xfrm>
            <a:off x="-16002" y="-9145"/>
            <a:ext cx="9166860" cy="45719"/>
          </a:xfrm>
          <a:prstGeom prst="rect">
            <a:avLst/>
          </a:prstGeom>
          <a:gradFill flip="none" rotWithShape="1">
            <a:gsLst>
              <a:gs pos="0">
                <a:srgbClr val="002060"/>
              </a:gs>
              <a:gs pos="49000">
                <a:schemeClr val="bg1"/>
              </a:gs>
              <a:gs pos="100000">
                <a:srgbClr val="FF0000"/>
              </a:gs>
            </a:gsLst>
            <a:path path="circle">
              <a:fillToRect l="100000" t="100000"/>
            </a:path>
            <a:tileRect r="-100000" b="-100000"/>
          </a:gradFill>
          <a:ln w="12700">
            <a:noFill/>
            <a:prstDash val="solid"/>
          </a:ln>
        </p:spPr>
      </p:sp>
      <p:sp>
        <p:nvSpPr>
          <p:cNvPr id="22" name="Shape 0">
            <a:extLst>
              <a:ext uri="{FF2B5EF4-FFF2-40B4-BE49-F238E27FC236}">
                <a16:creationId xmlns:a16="http://schemas.microsoft.com/office/drawing/2014/main" id="{B25101B4-8D3F-422B-EE9F-1DC25030E00B}"/>
              </a:ext>
            </a:extLst>
          </p:cNvPr>
          <p:cNvSpPr/>
          <p:nvPr/>
        </p:nvSpPr>
        <p:spPr>
          <a:xfrm rot="5400000">
            <a:off x="-2576323" y="2553462"/>
            <a:ext cx="5152644" cy="45719"/>
          </a:xfrm>
          <a:prstGeom prst="rect">
            <a:avLst/>
          </a:prstGeom>
          <a:solidFill>
            <a:srgbClr val="FF0000"/>
          </a:solidFill>
          <a:ln w="12700">
            <a:noFill/>
            <a:prstDash val="solid"/>
          </a:ln>
        </p:spPr>
      </p:sp>
      <p:sp>
        <p:nvSpPr>
          <p:cNvPr id="23" name="Shape 0">
            <a:extLst>
              <a:ext uri="{FF2B5EF4-FFF2-40B4-BE49-F238E27FC236}">
                <a16:creationId xmlns:a16="http://schemas.microsoft.com/office/drawing/2014/main" id="{F7ABBE17-A8CF-C69D-7527-3E73537BFF10}"/>
              </a:ext>
            </a:extLst>
          </p:cNvPr>
          <p:cNvSpPr/>
          <p:nvPr/>
        </p:nvSpPr>
        <p:spPr>
          <a:xfrm rot="5400000">
            <a:off x="6563104" y="2544318"/>
            <a:ext cx="5152645" cy="82296"/>
          </a:xfrm>
          <a:prstGeom prst="rect">
            <a:avLst/>
          </a:prstGeom>
          <a:solidFill>
            <a:srgbClr val="002060"/>
          </a:solidFill>
          <a:ln w="12700">
            <a:noFill/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457200" y="274320"/>
            <a:ext cx="1645920" cy="201168"/>
          </a:xfrm>
          <a:prstGeom prst="roundRect">
            <a:avLst>
              <a:gd name="adj" fmla="val 18182"/>
            </a:avLst>
          </a:prstGeom>
          <a:solidFill>
            <a:srgbClr val="C8102E">
              <a:alpha val="22000"/>
            </a:srgbClr>
          </a:solidFill>
          <a:ln w="12700">
            <a:solidFill>
              <a:srgbClr val="C8102E">
                <a:alpha val="7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7432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kern="0" spc="600" dirty="0">
                <a:solidFill>
                  <a:srgbClr val="8F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NEXCORT IQ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F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next-generation public safety intelligence platform built for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8F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911 dispatch centers, emergency communications, law enforcement,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8F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rescue, EMS, and emergency management agencies.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3154680"/>
            <a:ext cx="2697480" cy="1554480"/>
          </a:xfrm>
          <a:prstGeom prst="rect">
            <a:avLst/>
          </a:prstGeom>
          <a:solidFill>
            <a:srgbClr val="111A2B"/>
          </a:solidFill>
          <a:ln w="12700">
            <a:solidFill>
              <a:srgbClr val="C8102E">
                <a:alpha val="50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3154680"/>
            <a:ext cx="2697480" cy="5486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" y="3291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76072" y="37490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transcription &amp; translation in 40+ languages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19272" y="3154680"/>
            <a:ext cx="2697480" cy="1554480"/>
          </a:xfrm>
          <a:prstGeom prst="rect">
            <a:avLst/>
          </a:prstGeom>
          <a:solidFill>
            <a:srgbClr val="111A2B"/>
          </a:solidFill>
          <a:ln w="12700">
            <a:solidFill>
              <a:srgbClr val="4FB3F0">
                <a:alpha val="50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19272" y="3154680"/>
            <a:ext cx="2697480" cy="54864"/>
          </a:xfrm>
          <a:prstGeom prst="rect">
            <a:avLst/>
          </a:prstGeom>
          <a:solidFill>
            <a:srgbClr val="4FB3F0"/>
          </a:solidFill>
          <a:ln w="12700">
            <a:solidFill>
              <a:srgbClr val="4FB3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83864" y="3291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FB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483864" y="37490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triage, extraction &amp; confidence scoring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27064" y="3154680"/>
            <a:ext cx="2697480" cy="1554480"/>
          </a:xfrm>
          <a:prstGeom prst="rect">
            <a:avLst/>
          </a:prstGeom>
          <a:solidFill>
            <a:srgbClr val="111A2B"/>
          </a:solidFill>
          <a:ln w="12700">
            <a:solidFill>
              <a:srgbClr val="1B6FD8">
                <a:alpha val="50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27064" y="3154680"/>
            <a:ext cx="2697480" cy="54864"/>
          </a:xfrm>
          <a:prstGeom prst="rect">
            <a:avLst/>
          </a:prstGeom>
          <a:solidFill>
            <a:srgbClr val="1B6FD8"/>
          </a:solidFill>
          <a:ln w="12700">
            <a:solidFill>
              <a:srgbClr val="1B6F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91656" y="3291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6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391656" y="37490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 dashboards, live video &amp; incident command</a:t>
            </a:r>
            <a:endParaRPr lang="en-US" sz="1050" dirty="0"/>
          </a:p>
        </p:txBody>
      </p:sp>
      <p:sp>
        <p:nvSpPr>
          <p:cNvPr id="20" name="Shape 0">
            <a:extLst>
              <a:ext uri="{FF2B5EF4-FFF2-40B4-BE49-F238E27FC236}">
                <a16:creationId xmlns:a16="http://schemas.microsoft.com/office/drawing/2014/main" id="{E961A783-98BB-9C01-A41C-08F4D12ACF7A}"/>
              </a:ext>
            </a:extLst>
          </p:cNvPr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chemeClr val="bg1"/>
          </a:solidFill>
          <a:ln w="12700">
            <a:noFill/>
            <a:prstDash val="solid"/>
          </a:ln>
        </p:spPr>
      </p:sp>
      <p:sp>
        <p:nvSpPr>
          <p:cNvPr id="21" name="Shape 0">
            <a:extLst>
              <a:ext uri="{FF2B5EF4-FFF2-40B4-BE49-F238E27FC236}">
                <a16:creationId xmlns:a16="http://schemas.microsoft.com/office/drawing/2014/main" id="{7DF6DA37-1AFB-D4F7-3286-302F21F0E885}"/>
              </a:ext>
            </a:extLst>
          </p:cNvPr>
          <p:cNvSpPr/>
          <p:nvPr/>
        </p:nvSpPr>
        <p:spPr>
          <a:xfrm>
            <a:off x="-16002" y="-9145"/>
            <a:ext cx="9166860" cy="45719"/>
          </a:xfrm>
          <a:prstGeom prst="rect">
            <a:avLst/>
          </a:prstGeom>
          <a:gradFill flip="none" rotWithShape="1">
            <a:gsLst>
              <a:gs pos="0">
                <a:srgbClr val="002060"/>
              </a:gs>
              <a:gs pos="49000">
                <a:schemeClr val="bg1"/>
              </a:gs>
              <a:gs pos="100000">
                <a:srgbClr val="FF0000"/>
              </a:gs>
            </a:gsLst>
            <a:path path="circle">
              <a:fillToRect l="100000" t="100000"/>
            </a:path>
            <a:tileRect r="-100000" b="-100000"/>
          </a:gradFill>
          <a:ln w="12700">
            <a:noFill/>
            <a:prstDash val="solid"/>
          </a:ln>
        </p:spPr>
      </p:sp>
      <p:sp>
        <p:nvSpPr>
          <p:cNvPr id="22" name="Shape 0">
            <a:extLst>
              <a:ext uri="{FF2B5EF4-FFF2-40B4-BE49-F238E27FC236}">
                <a16:creationId xmlns:a16="http://schemas.microsoft.com/office/drawing/2014/main" id="{A06575F2-EEC1-7666-4112-682FC9679F80}"/>
              </a:ext>
            </a:extLst>
          </p:cNvPr>
          <p:cNvSpPr/>
          <p:nvPr/>
        </p:nvSpPr>
        <p:spPr>
          <a:xfrm rot="5400000">
            <a:off x="-2576323" y="2553462"/>
            <a:ext cx="5152644" cy="45719"/>
          </a:xfrm>
          <a:prstGeom prst="rect">
            <a:avLst/>
          </a:prstGeom>
          <a:solidFill>
            <a:srgbClr val="FF0000"/>
          </a:solidFill>
          <a:ln w="12700">
            <a:noFill/>
            <a:prstDash val="solid"/>
          </a:ln>
        </p:spPr>
      </p:sp>
      <p:sp>
        <p:nvSpPr>
          <p:cNvPr id="23" name="Shape 0">
            <a:extLst>
              <a:ext uri="{FF2B5EF4-FFF2-40B4-BE49-F238E27FC236}">
                <a16:creationId xmlns:a16="http://schemas.microsoft.com/office/drawing/2014/main" id="{5D9993FF-DFE1-4825-A1AD-EE1801988669}"/>
              </a:ext>
            </a:extLst>
          </p:cNvPr>
          <p:cNvSpPr/>
          <p:nvPr/>
        </p:nvSpPr>
        <p:spPr>
          <a:xfrm rot="5400000">
            <a:off x="6563104" y="2544318"/>
            <a:ext cx="5152645" cy="82296"/>
          </a:xfrm>
          <a:prstGeom prst="rect">
            <a:avLst/>
          </a:prstGeom>
          <a:solidFill>
            <a:srgbClr val="002060"/>
          </a:solidFill>
          <a:ln w="12700">
            <a:noFill/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645920" cy="201168"/>
          </a:xfrm>
          <a:prstGeom prst="roundRect">
            <a:avLst>
              <a:gd name="adj" fmla="val 18182"/>
            </a:avLst>
          </a:prstGeom>
          <a:solidFill>
            <a:srgbClr val="C8102E">
              <a:alpha val="22000"/>
            </a:srgbClr>
          </a:solidFill>
          <a:ln w="12700">
            <a:solidFill>
              <a:srgbClr val="C8102E">
                <a:alpha val="7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FEATURES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9728" y="502920"/>
            <a:ext cx="8577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YOUR CENTER NEEDS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84048" y="1298448"/>
            <a:ext cx="2651760" cy="1554480"/>
          </a:xfrm>
          <a:prstGeom prst="rect">
            <a:avLst/>
          </a:prstGeom>
          <a:solidFill>
            <a:srgbClr val="111A2B"/>
          </a:solidFill>
          <a:ln w="12700">
            <a:solidFill>
              <a:srgbClr val="C8102E">
                <a:alpha val="38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81328"/>
            <a:ext cx="402336" cy="402336"/>
          </a:xfrm>
          <a:prstGeom prst="ellipse">
            <a:avLst/>
          </a:prstGeom>
          <a:solidFill>
            <a:srgbClr val="C8102E">
              <a:alpha val="20000"/>
            </a:srgbClr>
          </a:solidFill>
          <a:ln w="12700">
            <a:solidFill>
              <a:srgbClr val="C8102E">
                <a:alpha val="60000"/>
              </a:srgbClr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1517904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42416" y="1481328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Transcription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1956816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speech-to-text with &lt; 2 sec latency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10128" y="1298448"/>
            <a:ext cx="2651760" cy="1554480"/>
          </a:xfrm>
          <a:prstGeom prst="rect">
            <a:avLst/>
          </a:prstGeom>
          <a:solidFill>
            <a:srgbClr val="111A2B"/>
          </a:solidFill>
          <a:ln w="12700">
            <a:solidFill>
              <a:srgbClr val="4FB3F0">
                <a:alpha val="38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74720" y="1481328"/>
            <a:ext cx="402336" cy="402336"/>
          </a:xfrm>
          <a:prstGeom prst="ellipse">
            <a:avLst/>
          </a:prstGeom>
          <a:solidFill>
            <a:srgbClr val="4FB3F0">
              <a:alpha val="20000"/>
            </a:srgbClr>
          </a:solidFill>
          <a:ln w="12700">
            <a:solidFill>
              <a:srgbClr val="4FB3F0">
                <a:alpha val="60000"/>
              </a:srgbClr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1296" y="1517904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68496" y="1481328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Translation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474720" y="1956816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40+ languages with auto-detection &amp; confidence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236208" y="1298448"/>
            <a:ext cx="2651760" cy="1554480"/>
          </a:xfrm>
          <a:prstGeom prst="rect">
            <a:avLst/>
          </a:prstGeom>
          <a:solidFill>
            <a:srgbClr val="111A2B"/>
          </a:solidFill>
          <a:ln w="12700">
            <a:solidFill>
              <a:srgbClr val="C8102E">
                <a:alpha val="38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00800" y="1481328"/>
            <a:ext cx="402336" cy="402336"/>
          </a:xfrm>
          <a:prstGeom prst="ellipse">
            <a:avLst/>
          </a:prstGeom>
          <a:solidFill>
            <a:srgbClr val="C8102E">
              <a:alpha val="20000"/>
            </a:srgbClr>
          </a:solidFill>
          <a:ln w="12700">
            <a:solidFill>
              <a:srgbClr val="C8102E">
                <a:alpha val="60000"/>
              </a:srgbClr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7376" y="1517904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894576" y="1481328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Triage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400800" y="1956816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type, hazards &amp; location extracted instantly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384048" y="3090672"/>
            <a:ext cx="2651760" cy="1554480"/>
          </a:xfrm>
          <a:prstGeom prst="rect">
            <a:avLst/>
          </a:prstGeom>
          <a:solidFill>
            <a:srgbClr val="111A2B"/>
          </a:solidFill>
          <a:ln w="12700">
            <a:solidFill>
              <a:srgbClr val="1B6FD8">
                <a:alpha val="38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48640" y="3273552"/>
            <a:ext cx="402336" cy="402336"/>
          </a:xfrm>
          <a:prstGeom prst="ellipse">
            <a:avLst/>
          </a:prstGeom>
          <a:solidFill>
            <a:srgbClr val="1B6FD8">
              <a:alpha val="20000"/>
            </a:srgbClr>
          </a:solidFill>
          <a:ln w="12700">
            <a:solidFill>
              <a:srgbClr val="1B6FD8">
                <a:alpha val="60000"/>
              </a:srgbClr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216" y="3310128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42416" y="3273552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Video (WebRTC)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48640" y="374904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KVS WebRTC caller video with audit trail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3310128" y="3090672"/>
            <a:ext cx="2651760" cy="1554480"/>
          </a:xfrm>
          <a:prstGeom prst="rect">
            <a:avLst/>
          </a:prstGeom>
          <a:solidFill>
            <a:srgbClr val="111A2B"/>
          </a:solidFill>
          <a:ln w="12700">
            <a:solidFill>
              <a:srgbClr val="4FB3F0">
                <a:alpha val="38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474720" y="3273552"/>
            <a:ext cx="402336" cy="402336"/>
          </a:xfrm>
          <a:prstGeom prst="ellipse">
            <a:avLst/>
          </a:prstGeom>
          <a:solidFill>
            <a:srgbClr val="4FB3F0">
              <a:alpha val="20000"/>
            </a:srgbClr>
          </a:solidFill>
          <a:ln w="12700">
            <a:solidFill>
              <a:srgbClr val="4FB3F0">
                <a:alpha val="60000"/>
              </a:srgbClr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11296" y="3310128"/>
            <a:ext cx="329184" cy="32918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968496" y="3273552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 Dashboard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3474720" y="374904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call monitoring, shadow review &amp; QA tools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6236208" y="3090672"/>
            <a:ext cx="2651760" cy="1554480"/>
          </a:xfrm>
          <a:prstGeom prst="rect">
            <a:avLst/>
          </a:prstGeom>
          <a:solidFill>
            <a:srgbClr val="111A2B"/>
          </a:solidFill>
          <a:ln w="12700">
            <a:solidFill>
              <a:srgbClr val="C8102E">
                <a:alpha val="38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400800" y="3273552"/>
            <a:ext cx="402336" cy="402336"/>
          </a:xfrm>
          <a:prstGeom prst="ellipse">
            <a:avLst/>
          </a:prstGeom>
          <a:solidFill>
            <a:srgbClr val="C8102E">
              <a:alpha val="20000"/>
            </a:srgbClr>
          </a:solidFill>
          <a:ln w="12700">
            <a:solidFill>
              <a:srgbClr val="C8102E">
                <a:alpha val="60000"/>
              </a:srgbClr>
            </a:solidFill>
            <a:prstDash val="solid"/>
          </a:ln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7376" y="3310128"/>
            <a:ext cx="329184" cy="32918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894576" y="3273552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Command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6400800" y="374904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 rooms, runbooks, timelines &amp; post-incident review</a:t>
            </a:r>
            <a:endParaRPr lang="en-US" sz="1000" dirty="0"/>
          </a:p>
        </p:txBody>
      </p:sp>
      <p:sp>
        <p:nvSpPr>
          <p:cNvPr id="35" name="Shape 0">
            <a:extLst>
              <a:ext uri="{FF2B5EF4-FFF2-40B4-BE49-F238E27FC236}">
                <a16:creationId xmlns:a16="http://schemas.microsoft.com/office/drawing/2014/main" id="{1B4246E6-5F04-9D91-864C-BCF426BDC7AE}"/>
              </a:ext>
            </a:extLst>
          </p:cNvPr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chemeClr val="bg1"/>
          </a:solidFill>
          <a:ln w="12700">
            <a:noFill/>
            <a:prstDash val="solid"/>
          </a:ln>
        </p:spPr>
      </p:sp>
      <p:sp>
        <p:nvSpPr>
          <p:cNvPr id="36" name="Shape 0">
            <a:extLst>
              <a:ext uri="{FF2B5EF4-FFF2-40B4-BE49-F238E27FC236}">
                <a16:creationId xmlns:a16="http://schemas.microsoft.com/office/drawing/2014/main" id="{E73B8416-9C2E-AE2B-F2F5-AD0E7B3C58BB}"/>
              </a:ext>
            </a:extLst>
          </p:cNvPr>
          <p:cNvSpPr/>
          <p:nvPr/>
        </p:nvSpPr>
        <p:spPr>
          <a:xfrm>
            <a:off x="-16002" y="-9145"/>
            <a:ext cx="9166860" cy="45719"/>
          </a:xfrm>
          <a:prstGeom prst="rect">
            <a:avLst/>
          </a:prstGeom>
          <a:gradFill flip="none" rotWithShape="1">
            <a:gsLst>
              <a:gs pos="0">
                <a:srgbClr val="002060"/>
              </a:gs>
              <a:gs pos="49000">
                <a:schemeClr val="bg1"/>
              </a:gs>
              <a:gs pos="100000">
                <a:srgbClr val="FF0000"/>
              </a:gs>
            </a:gsLst>
            <a:path path="circle">
              <a:fillToRect l="100000" t="100000"/>
            </a:path>
            <a:tileRect r="-100000" b="-100000"/>
          </a:gradFill>
          <a:ln w="12700">
            <a:noFill/>
            <a:prstDash val="solid"/>
          </a:ln>
        </p:spPr>
      </p:sp>
      <p:sp>
        <p:nvSpPr>
          <p:cNvPr id="37" name="Shape 0">
            <a:extLst>
              <a:ext uri="{FF2B5EF4-FFF2-40B4-BE49-F238E27FC236}">
                <a16:creationId xmlns:a16="http://schemas.microsoft.com/office/drawing/2014/main" id="{D21E8576-2E76-11EE-B5CE-0ED312395E48}"/>
              </a:ext>
            </a:extLst>
          </p:cNvPr>
          <p:cNvSpPr/>
          <p:nvPr/>
        </p:nvSpPr>
        <p:spPr>
          <a:xfrm rot="5400000">
            <a:off x="-2576323" y="2553462"/>
            <a:ext cx="5152644" cy="45719"/>
          </a:xfrm>
          <a:prstGeom prst="rect">
            <a:avLst/>
          </a:prstGeom>
          <a:solidFill>
            <a:srgbClr val="FF0000"/>
          </a:solidFill>
          <a:ln w="12700">
            <a:noFill/>
            <a:prstDash val="solid"/>
          </a:ln>
        </p:spPr>
      </p:sp>
      <p:sp>
        <p:nvSpPr>
          <p:cNvPr id="38" name="Shape 0">
            <a:extLst>
              <a:ext uri="{FF2B5EF4-FFF2-40B4-BE49-F238E27FC236}">
                <a16:creationId xmlns:a16="http://schemas.microsoft.com/office/drawing/2014/main" id="{A60DF053-DFED-F68C-80A6-DA3C7A1B108D}"/>
              </a:ext>
            </a:extLst>
          </p:cNvPr>
          <p:cNvSpPr/>
          <p:nvPr/>
        </p:nvSpPr>
        <p:spPr>
          <a:xfrm rot="5400000">
            <a:off x="6563104" y="2544318"/>
            <a:ext cx="5152645" cy="82296"/>
          </a:xfrm>
          <a:prstGeom prst="rect">
            <a:avLst/>
          </a:prstGeom>
          <a:solidFill>
            <a:srgbClr val="002060"/>
          </a:solidFill>
          <a:ln w="12700">
            <a:noFill/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5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" y="0"/>
            <a:ext cx="3840480" cy="5143500"/>
          </a:xfrm>
          <a:prstGeom prst="rect">
            <a:avLst/>
          </a:prstGeom>
          <a:solidFill>
            <a:srgbClr val="060A0F"/>
          </a:solidFill>
          <a:ln w="12700">
            <a:solidFill>
              <a:srgbClr val="060A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347472"/>
            <a:ext cx="1645920" cy="201168"/>
          </a:xfrm>
          <a:prstGeom prst="roundRect">
            <a:avLst>
              <a:gd name="adj" fmla="val 18182"/>
            </a:avLst>
          </a:prstGeom>
          <a:solidFill>
            <a:srgbClr val="C8102E">
              <a:alpha val="22000"/>
            </a:srgbClr>
          </a:solidFill>
          <a:ln w="12700">
            <a:solidFill>
              <a:srgbClr val="C8102E">
                <a:alpha val="7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9768" y="34747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IT'S FOR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84048" y="658368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DON'T ASK AGENCIES TO CHANGE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217855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IMPROVE WHAT YOU HAVE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84048" y="278892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F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NexCort iQ enhances your existing CAD system, telephony, and workflows — without replacing anything your team already relies on.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14800" y="347472"/>
            <a:ext cx="4663440" cy="932688"/>
          </a:xfrm>
          <a:prstGeom prst="rect">
            <a:avLst/>
          </a:prstGeom>
          <a:solidFill>
            <a:srgbClr val="0F1929"/>
          </a:solidFill>
          <a:ln w="12700">
            <a:solidFill>
              <a:srgbClr val="C8102E">
                <a:alpha val="45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0" y="347472"/>
            <a:ext cx="54864" cy="93268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15968" y="43891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15968" y="768096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Transcription, translation, AI triage summary, caller media request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0" y="1463040"/>
            <a:ext cx="4663440" cy="932688"/>
          </a:xfrm>
          <a:prstGeom prst="rect">
            <a:avLst/>
          </a:prstGeom>
          <a:solidFill>
            <a:srgbClr val="0F1929"/>
          </a:solidFill>
          <a:ln w="12700">
            <a:solidFill>
              <a:srgbClr val="4FB3F0">
                <a:alpha val="45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0" y="1463040"/>
            <a:ext cx="54864" cy="932688"/>
          </a:xfrm>
          <a:prstGeom prst="rect">
            <a:avLst/>
          </a:prstGeom>
          <a:solidFill>
            <a:srgbClr val="4FB3F0"/>
          </a:solidFill>
          <a:ln w="12700">
            <a:solidFill>
              <a:srgbClr val="4FB3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15968" y="155448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4FB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15968" y="1883664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call monitoring, QA scorecards, coaching notes, performance trends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0" y="2578608"/>
            <a:ext cx="4663440" cy="932688"/>
          </a:xfrm>
          <a:prstGeom prst="rect">
            <a:avLst/>
          </a:prstGeom>
          <a:solidFill>
            <a:srgbClr val="0F1929"/>
          </a:solidFill>
          <a:ln w="12700">
            <a:solidFill>
              <a:srgbClr val="1B6FD8">
                <a:alpha val="45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0" y="2578608"/>
            <a:ext cx="54864" cy="932688"/>
          </a:xfrm>
          <a:prstGeom prst="rect">
            <a:avLst/>
          </a:prstGeom>
          <a:solidFill>
            <a:srgbClr val="1B6FD8"/>
          </a:solidFill>
          <a:ln w="12700">
            <a:solidFill>
              <a:srgbClr val="1B6F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15968" y="267004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B6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STAFF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15968" y="2999232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 rooms, incident timelines, runbooks, post-incident review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0" y="3694176"/>
            <a:ext cx="4663440" cy="932688"/>
          </a:xfrm>
          <a:prstGeom prst="rect">
            <a:avLst/>
          </a:prstGeom>
          <a:solidFill>
            <a:srgbClr val="0F1929"/>
          </a:solidFill>
          <a:ln w="12700">
            <a:solidFill>
              <a:srgbClr val="8FA3BE">
                <a:alpha val="45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0" y="3694176"/>
            <a:ext cx="54864" cy="932688"/>
          </a:xfrm>
          <a:prstGeom prst="rect">
            <a:avLst/>
          </a:prstGeom>
          <a:solidFill>
            <a:srgbClr val="8FA3BE"/>
          </a:solidFill>
          <a:ln w="12700">
            <a:solidFill>
              <a:srgbClr val="8FA3B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15968" y="3785616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8F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AGENCY IT / ADMIN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315968" y="4114800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RBAC, tenant isolation, audit logs, integrations, API key management</a:t>
            </a:r>
            <a:endParaRPr lang="en-US" sz="1000" dirty="0"/>
          </a:p>
        </p:txBody>
      </p:sp>
      <p:sp>
        <p:nvSpPr>
          <p:cNvPr id="24" name="Shape 0">
            <a:extLst>
              <a:ext uri="{FF2B5EF4-FFF2-40B4-BE49-F238E27FC236}">
                <a16:creationId xmlns:a16="http://schemas.microsoft.com/office/drawing/2014/main" id="{E41E107E-BB15-573B-809A-AB296A8B905C}"/>
              </a:ext>
            </a:extLst>
          </p:cNvPr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chemeClr val="bg1"/>
          </a:solidFill>
          <a:ln w="12700">
            <a:noFill/>
            <a:prstDash val="solid"/>
          </a:ln>
        </p:spPr>
      </p:sp>
      <p:sp>
        <p:nvSpPr>
          <p:cNvPr id="25" name="Shape 0">
            <a:extLst>
              <a:ext uri="{FF2B5EF4-FFF2-40B4-BE49-F238E27FC236}">
                <a16:creationId xmlns:a16="http://schemas.microsoft.com/office/drawing/2014/main" id="{7A908030-A44D-4FF2-D115-98984533542A}"/>
              </a:ext>
            </a:extLst>
          </p:cNvPr>
          <p:cNvSpPr/>
          <p:nvPr/>
        </p:nvSpPr>
        <p:spPr>
          <a:xfrm>
            <a:off x="-16002" y="-9145"/>
            <a:ext cx="9166860" cy="45719"/>
          </a:xfrm>
          <a:prstGeom prst="rect">
            <a:avLst/>
          </a:prstGeom>
          <a:gradFill flip="none" rotWithShape="1">
            <a:gsLst>
              <a:gs pos="0">
                <a:srgbClr val="002060"/>
              </a:gs>
              <a:gs pos="49000">
                <a:schemeClr val="bg1"/>
              </a:gs>
              <a:gs pos="100000">
                <a:srgbClr val="FF0000"/>
              </a:gs>
            </a:gsLst>
            <a:path path="circle">
              <a:fillToRect l="100000" t="100000"/>
            </a:path>
            <a:tileRect r="-100000" b="-100000"/>
          </a:gradFill>
          <a:ln w="12700">
            <a:noFill/>
            <a:prstDash val="solid"/>
          </a:ln>
        </p:spPr>
      </p:sp>
      <p:sp>
        <p:nvSpPr>
          <p:cNvPr id="26" name="Shape 0">
            <a:extLst>
              <a:ext uri="{FF2B5EF4-FFF2-40B4-BE49-F238E27FC236}">
                <a16:creationId xmlns:a16="http://schemas.microsoft.com/office/drawing/2014/main" id="{422D6947-E0F8-57C3-BF96-2A68630A80BF}"/>
              </a:ext>
            </a:extLst>
          </p:cNvPr>
          <p:cNvSpPr/>
          <p:nvPr/>
        </p:nvSpPr>
        <p:spPr>
          <a:xfrm rot="5400000">
            <a:off x="-2576323" y="2553462"/>
            <a:ext cx="5152644" cy="45719"/>
          </a:xfrm>
          <a:prstGeom prst="rect">
            <a:avLst/>
          </a:prstGeom>
          <a:solidFill>
            <a:srgbClr val="FF0000"/>
          </a:solidFill>
          <a:ln w="12700">
            <a:noFill/>
            <a:prstDash val="solid"/>
          </a:ln>
        </p:spPr>
      </p:sp>
      <p:sp>
        <p:nvSpPr>
          <p:cNvPr id="27" name="Shape 0">
            <a:extLst>
              <a:ext uri="{FF2B5EF4-FFF2-40B4-BE49-F238E27FC236}">
                <a16:creationId xmlns:a16="http://schemas.microsoft.com/office/drawing/2014/main" id="{24327E7C-A44D-6944-40CF-CB459475FA61}"/>
              </a:ext>
            </a:extLst>
          </p:cNvPr>
          <p:cNvSpPr/>
          <p:nvPr/>
        </p:nvSpPr>
        <p:spPr>
          <a:xfrm rot="5400000">
            <a:off x="6563104" y="2544318"/>
            <a:ext cx="5152645" cy="82296"/>
          </a:xfrm>
          <a:prstGeom prst="rect">
            <a:avLst/>
          </a:prstGeom>
          <a:solidFill>
            <a:srgbClr val="002060"/>
          </a:solidFill>
          <a:ln w="12700">
            <a:noFill/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0">
            <a:extLst>
              <a:ext uri="{FF2B5EF4-FFF2-40B4-BE49-F238E27FC236}">
                <a16:creationId xmlns:a16="http://schemas.microsoft.com/office/drawing/2014/main" id="{64703BA5-7932-9EBF-0BED-8740E7A9BBE5}"/>
              </a:ext>
            </a:extLst>
          </p:cNvPr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chemeClr val="bg1"/>
          </a:solidFill>
          <a:ln w="12700">
            <a:noFill/>
            <a:prstDash val="solid"/>
          </a:ln>
        </p:spPr>
      </p:sp>
      <p:sp>
        <p:nvSpPr>
          <p:cNvPr id="2" name="Shape 0"/>
          <p:cNvSpPr/>
          <p:nvPr/>
        </p:nvSpPr>
        <p:spPr>
          <a:xfrm>
            <a:off x="3127248" y="1371600"/>
            <a:ext cx="2743200" cy="2743200"/>
          </a:xfrm>
          <a:prstGeom prst="rect">
            <a:avLst/>
          </a:prstGeom>
          <a:solidFill>
            <a:srgbClr val="C8102E">
              <a:alpha val="4000"/>
            </a:srgbClr>
          </a:solidFill>
          <a:ln w="12700">
            <a:noFill/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1645920" cy="374904"/>
          </a:xfrm>
          <a:prstGeom prst="roundRect">
            <a:avLst>
              <a:gd name="adj" fmla="val 18182"/>
            </a:avLst>
          </a:prstGeom>
          <a:solidFill>
            <a:srgbClr val="C8102E">
              <a:alpha val="22000"/>
            </a:srgbClr>
          </a:solidFill>
          <a:ln w="12700">
            <a:solidFill>
              <a:srgbClr val="C8102E">
                <a:alpha val="7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0175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COMPLIANCE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5029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MISSION-CRITICAL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2084832"/>
            <a:ext cx="5029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DESIGN.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safety data is among the most sensitive in existence.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F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NexCort iQ is built with CJIS-aware principles from day one.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760720" y="457200"/>
            <a:ext cx="3017520" cy="1207008"/>
          </a:xfrm>
          <a:prstGeom prst="rect">
            <a:avLst/>
          </a:prstGeom>
          <a:solidFill>
            <a:srgbClr val="0F1929"/>
          </a:solidFill>
          <a:ln w="12700">
            <a:solidFill>
              <a:srgbClr val="1B6FD8">
                <a:alpha val="3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713232"/>
            <a:ext cx="402336" cy="4023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46520" y="62179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CJIS-Aware Design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46520" y="987552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and access controls aligned to CJIS Security Policy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760720" y="1938528"/>
            <a:ext cx="3017520" cy="1207008"/>
          </a:xfrm>
          <a:prstGeom prst="rect">
            <a:avLst/>
          </a:prstGeom>
          <a:solidFill>
            <a:srgbClr val="0F1929"/>
          </a:solidFill>
          <a:ln w="12700">
            <a:solidFill>
              <a:srgbClr val="1B6FD8">
                <a:alpha val="3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2194560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446520" y="21031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 Isolation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446520" y="246888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cross-agency data exposure — enforced at every API route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5760720" y="3419856"/>
            <a:ext cx="3017520" cy="1207008"/>
          </a:xfrm>
          <a:prstGeom prst="rect">
            <a:avLst/>
          </a:prstGeom>
          <a:solidFill>
            <a:srgbClr val="0F1929"/>
          </a:solidFill>
          <a:ln w="12700">
            <a:solidFill>
              <a:srgbClr val="1B6FD8">
                <a:alpha val="3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3675888"/>
            <a:ext cx="402336" cy="40233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46520" y="358444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Audit Trail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446520" y="3950208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user action logged with agency, user, timestamp, and action</a:t>
            </a:r>
            <a:endParaRPr lang="en-US" sz="950" dirty="0"/>
          </a:p>
        </p:txBody>
      </p:sp>
      <p:sp>
        <p:nvSpPr>
          <p:cNvPr id="20" name="Shape 0">
            <a:extLst>
              <a:ext uri="{FF2B5EF4-FFF2-40B4-BE49-F238E27FC236}">
                <a16:creationId xmlns:a16="http://schemas.microsoft.com/office/drawing/2014/main" id="{57D7819C-D2FA-9706-CCC9-4A45A7745B80}"/>
              </a:ext>
            </a:extLst>
          </p:cNvPr>
          <p:cNvSpPr/>
          <p:nvPr/>
        </p:nvSpPr>
        <p:spPr>
          <a:xfrm>
            <a:off x="-16002" y="-9145"/>
            <a:ext cx="9166860" cy="45719"/>
          </a:xfrm>
          <a:prstGeom prst="rect">
            <a:avLst/>
          </a:prstGeom>
          <a:gradFill flip="none" rotWithShape="1">
            <a:gsLst>
              <a:gs pos="0">
                <a:srgbClr val="002060"/>
              </a:gs>
              <a:gs pos="49000">
                <a:schemeClr val="bg1"/>
              </a:gs>
              <a:gs pos="100000">
                <a:srgbClr val="FF0000"/>
              </a:gs>
            </a:gsLst>
            <a:path path="circle">
              <a:fillToRect l="100000" t="100000"/>
            </a:path>
            <a:tileRect r="-100000" b="-100000"/>
          </a:gradFill>
          <a:ln w="12700">
            <a:noFill/>
            <a:prstDash val="solid"/>
          </a:ln>
        </p:spPr>
      </p:sp>
      <p:sp>
        <p:nvSpPr>
          <p:cNvPr id="22" name="Shape 0">
            <a:extLst>
              <a:ext uri="{FF2B5EF4-FFF2-40B4-BE49-F238E27FC236}">
                <a16:creationId xmlns:a16="http://schemas.microsoft.com/office/drawing/2014/main" id="{5EE5D422-4B0D-48B1-C7F4-9FABE4F8CBD9}"/>
              </a:ext>
            </a:extLst>
          </p:cNvPr>
          <p:cNvSpPr/>
          <p:nvPr/>
        </p:nvSpPr>
        <p:spPr>
          <a:xfrm rot="5400000">
            <a:off x="-2576323" y="2553462"/>
            <a:ext cx="5152644" cy="45719"/>
          </a:xfrm>
          <a:prstGeom prst="rect">
            <a:avLst/>
          </a:prstGeom>
          <a:solidFill>
            <a:srgbClr val="FF0000"/>
          </a:solidFill>
          <a:ln w="12700">
            <a:noFill/>
            <a:prstDash val="solid"/>
          </a:ln>
        </p:spPr>
      </p:sp>
      <p:sp>
        <p:nvSpPr>
          <p:cNvPr id="23" name="Shape 0">
            <a:extLst>
              <a:ext uri="{FF2B5EF4-FFF2-40B4-BE49-F238E27FC236}">
                <a16:creationId xmlns:a16="http://schemas.microsoft.com/office/drawing/2014/main" id="{650B238F-DC30-7709-8769-741BFA7A28ED}"/>
              </a:ext>
            </a:extLst>
          </p:cNvPr>
          <p:cNvSpPr/>
          <p:nvPr/>
        </p:nvSpPr>
        <p:spPr>
          <a:xfrm rot="5400000">
            <a:off x="6563104" y="2544318"/>
            <a:ext cx="5152645" cy="82296"/>
          </a:xfrm>
          <a:prstGeom prst="rect">
            <a:avLst/>
          </a:prstGeom>
          <a:solidFill>
            <a:srgbClr val="002060"/>
          </a:solidFill>
          <a:ln w="12700">
            <a:noFill/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457200" y="256032"/>
            <a:ext cx="1645920" cy="201168"/>
          </a:xfrm>
          <a:prstGeom prst="roundRect">
            <a:avLst>
              <a:gd name="adj" fmla="val 18182"/>
            </a:avLst>
          </a:prstGeom>
          <a:solidFill>
            <a:srgbClr val="C8102E">
              <a:alpha val="22000"/>
            </a:srgbClr>
          </a:solidFill>
          <a:ln w="12700">
            <a:solidFill>
              <a:srgbClr val="C8102E">
                <a:alpha val="7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DELIVERY.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IMPACT.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8F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NexCort iQ deploys on AWS with multi-region capability, 99.9% SLA,</a:t>
            </a:r>
            <a:endParaRPr lang="en-US" sz="1300" dirty="0"/>
          </a:p>
          <a:p>
            <a:pPr marL="0" indent="0" algn="r">
              <a:buNone/>
            </a:pPr>
            <a:r>
              <a:rPr lang="en-US" sz="1300" dirty="0">
                <a:solidFill>
                  <a:srgbClr val="8F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a rollback-tested deployment pipeline. Every agency gets their own</a:t>
            </a:r>
            <a:endParaRPr lang="en-US" sz="1300" dirty="0"/>
          </a:p>
          <a:p>
            <a:pPr marL="0" indent="0" algn="r">
              <a:buNone/>
            </a:pPr>
            <a:r>
              <a:rPr lang="en-US" sz="1300" dirty="0">
                <a:solidFill>
                  <a:srgbClr val="8F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isolated environment — no shared data, no shared risk.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58568" y="3401568"/>
            <a:ext cx="256032" cy="0"/>
          </a:xfrm>
          <a:prstGeom prst="line">
            <a:avLst/>
          </a:prstGeom>
          <a:noFill/>
          <a:ln w="12700">
            <a:solidFill>
              <a:srgbClr val="5B7A9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3090672"/>
            <a:ext cx="1828800" cy="1664208"/>
          </a:xfrm>
          <a:prstGeom prst="rect">
            <a:avLst/>
          </a:prstGeom>
          <a:solidFill>
            <a:srgbClr val="0F1929"/>
          </a:solidFill>
          <a:ln w="12700">
            <a:solidFill>
              <a:srgbClr val="C8102E">
                <a:alpha val="50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3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84048" y="3090672"/>
            <a:ext cx="1828800" cy="5486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3200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" y="3639312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 free 60-day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F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agency pilot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34840" y="3401568"/>
            <a:ext cx="256032" cy="0"/>
          </a:xfrm>
          <a:prstGeom prst="line">
            <a:avLst/>
          </a:prstGeom>
          <a:noFill/>
          <a:ln w="12700">
            <a:solidFill>
              <a:srgbClr val="5B7A9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0" y="3090672"/>
            <a:ext cx="1828800" cy="1664208"/>
          </a:xfrm>
          <a:prstGeom prst="rect">
            <a:avLst/>
          </a:prstGeom>
          <a:solidFill>
            <a:srgbClr val="0F1929"/>
          </a:solidFill>
          <a:ln w="12700">
            <a:solidFill>
              <a:srgbClr val="4FB3F0">
                <a:alpha val="50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3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0" y="3090672"/>
            <a:ext cx="1828800" cy="54864"/>
          </a:xfrm>
          <a:prstGeom prst="rect">
            <a:avLst/>
          </a:prstGeom>
          <a:solidFill>
            <a:srgbClr val="4FB3F0"/>
          </a:solidFill>
          <a:ln w="12700">
            <a:solidFill>
              <a:srgbClr val="4FB3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1760" y="3200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4FB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51760" y="3639312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PSAP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F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deployment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11112" y="3401568"/>
            <a:ext cx="256032" cy="0"/>
          </a:xfrm>
          <a:prstGeom prst="line">
            <a:avLst/>
          </a:prstGeom>
          <a:noFill/>
          <a:ln w="12700">
            <a:solidFill>
              <a:srgbClr val="5B7A9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6592" y="3090672"/>
            <a:ext cx="1828800" cy="1664208"/>
          </a:xfrm>
          <a:prstGeom prst="rect">
            <a:avLst/>
          </a:prstGeom>
          <a:solidFill>
            <a:srgbClr val="0F1929"/>
          </a:solidFill>
          <a:ln w="12700">
            <a:solidFill>
              <a:srgbClr val="1B6FD8">
                <a:alpha val="50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3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36592" y="3090672"/>
            <a:ext cx="1828800" cy="54864"/>
          </a:xfrm>
          <a:prstGeom prst="rect">
            <a:avLst/>
          </a:prstGeom>
          <a:solidFill>
            <a:srgbClr val="1B6FD8"/>
          </a:solidFill>
          <a:ln w="12700">
            <a:solidFill>
              <a:srgbClr val="1B6F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28032" y="3200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B6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28032" y="3639312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Multi-site with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F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tools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12864" y="3090672"/>
            <a:ext cx="1828800" cy="1664208"/>
          </a:xfrm>
          <a:prstGeom prst="rect">
            <a:avLst/>
          </a:prstGeom>
          <a:solidFill>
            <a:srgbClr val="0F1929"/>
          </a:solidFill>
          <a:ln w="12700">
            <a:solidFill>
              <a:srgbClr val="8FA3BE">
                <a:alpha val="50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3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12864" y="3090672"/>
            <a:ext cx="1828800" cy="54864"/>
          </a:xfrm>
          <a:prstGeom prst="rect">
            <a:avLst/>
          </a:prstGeom>
          <a:solidFill>
            <a:srgbClr val="8FA3BE"/>
          </a:solidFill>
          <a:ln w="12700">
            <a:solidFill>
              <a:srgbClr val="8FA3B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04304" y="3200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8F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004304" y="3639312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Statewide /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F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rollout</a:t>
            </a:r>
            <a:endParaRPr lang="en-US" sz="1000" dirty="0"/>
          </a:p>
        </p:txBody>
      </p:sp>
      <p:sp>
        <p:nvSpPr>
          <p:cNvPr id="28" name="Shape 0">
            <a:extLst>
              <a:ext uri="{FF2B5EF4-FFF2-40B4-BE49-F238E27FC236}">
                <a16:creationId xmlns:a16="http://schemas.microsoft.com/office/drawing/2014/main" id="{22AE0CE8-3144-6BC0-B7F5-7F1E8744F154}"/>
              </a:ext>
            </a:extLst>
          </p:cNvPr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chemeClr val="bg1"/>
          </a:solidFill>
          <a:ln w="12700">
            <a:noFill/>
            <a:prstDash val="solid"/>
          </a:ln>
        </p:spPr>
      </p:sp>
      <p:sp>
        <p:nvSpPr>
          <p:cNvPr id="29" name="Shape 0">
            <a:extLst>
              <a:ext uri="{FF2B5EF4-FFF2-40B4-BE49-F238E27FC236}">
                <a16:creationId xmlns:a16="http://schemas.microsoft.com/office/drawing/2014/main" id="{8C3D7E5C-502E-DE41-0906-1CD9F4F07C5C}"/>
              </a:ext>
            </a:extLst>
          </p:cNvPr>
          <p:cNvSpPr/>
          <p:nvPr/>
        </p:nvSpPr>
        <p:spPr>
          <a:xfrm>
            <a:off x="-16002" y="-9145"/>
            <a:ext cx="9166860" cy="45719"/>
          </a:xfrm>
          <a:prstGeom prst="rect">
            <a:avLst/>
          </a:prstGeom>
          <a:gradFill flip="none" rotWithShape="1">
            <a:gsLst>
              <a:gs pos="0">
                <a:srgbClr val="002060"/>
              </a:gs>
              <a:gs pos="49000">
                <a:schemeClr val="bg1"/>
              </a:gs>
              <a:gs pos="100000">
                <a:srgbClr val="FF0000"/>
              </a:gs>
            </a:gsLst>
            <a:path path="circle">
              <a:fillToRect l="100000" t="100000"/>
            </a:path>
            <a:tileRect r="-100000" b="-100000"/>
          </a:gradFill>
          <a:ln w="12700">
            <a:noFill/>
            <a:prstDash val="solid"/>
          </a:ln>
        </p:spPr>
      </p:sp>
      <p:sp>
        <p:nvSpPr>
          <p:cNvPr id="30" name="Shape 0">
            <a:extLst>
              <a:ext uri="{FF2B5EF4-FFF2-40B4-BE49-F238E27FC236}">
                <a16:creationId xmlns:a16="http://schemas.microsoft.com/office/drawing/2014/main" id="{E52EC251-6B9D-EE55-E116-BFDDA9A7E130}"/>
              </a:ext>
            </a:extLst>
          </p:cNvPr>
          <p:cNvSpPr/>
          <p:nvPr/>
        </p:nvSpPr>
        <p:spPr>
          <a:xfrm rot="5400000">
            <a:off x="-2576323" y="2553462"/>
            <a:ext cx="5152644" cy="45719"/>
          </a:xfrm>
          <a:prstGeom prst="rect">
            <a:avLst/>
          </a:prstGeom>
          <a:solidFill>
            <a:srgbClr val="FF0000"/>
          </a:solidFill>
          <a:ln w="12700">
            <a:noFill/>
            <a:prstDash val="solid"/>
          </a:ln>
        </p:spPr>
      </p:sp>
      <p:sp>
        <p:nvSpPr>
          <p:cNvPr id="31" name="Shape 0">
            <a:extLst>
              <a:ext uri="{FF2B5EF4-FFF2-40B4-BE49-F238E27FC236}">
                <a16:creationId xmlns:a16="http://schemas.microsoft.com/office/drawing/2014/main" id="{00F3A52C-94DB-BB7E-3C61-805ADE4A6C91}"/>
              </a:ext>
            </a:extLst>
          </p:cNvPr>
          <p:cNvSpPr/>
          <p:nvPr/>
        </p:nvSpPr>
        <p:spPr>
          <a:xfrm rot="5400000">
            <a:off x="6563104" y="2544318"/>
            <a:ext cx="5152645" cy="82296"/>
          </a:xfrm>
          <a:prstGeom prst="rect">
            <a:avLst/>
          </a:prstGeom>
          <a:solidFill>
            <a:srgbClr val="002060"/>
          </a:solidFill>
          <a:ln w="12700">
            <a:noFill/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457200"/>
            <a:ext cx="4572000" cy="3657600"/>
          </a:xfrm>
          <a:prstGeom prst="rect">
            <a:avLst/>
          </a:prstGeom>
          <a:solidFill>
            <a:srgbClr val="C8102E">
              <a:alpha val="6000"/>
            </a:srgbClr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1645920" cy="201168"/>
          </a:xfrm>
          <a:prstGeom prst="roundRect">
            <a:avLst>
              <a:gd name="adj" fmla="val 18182"/>
            </a:avLst>
          </a:prstGeom>
          <a:solidFill>
            <a:srgbClr val="C8102E">
              <a:alpha val="22000"/>
            </a:srgbClr>
          </a:solidFill>
          <a:ln w="12700">
            <a:solidFill>
              <a:srgbClr val="C8102E">
                <a:alpha val="7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OFFER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ISN'T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SPONSORSHIP.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2029968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PARTNERSHIP.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27889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F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controlled pilot program gives agencies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8F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risk-free path to operational intelligence.</a:t>
            </a:r>
            <a:endParaRPr lang="en-US" sz="12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457200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394960" y="43891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60-day free controlled pilot, no long-term commitment required</a:t>
            </a:r>
            <a:endParaRPr lang="en-US" sz="1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353312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94960" y="1335024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Dispatcher and supervisor walkthrough included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249424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394960" y="223113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Onboarding, training, and go-live support provided</a:t>
            </a:r>
            <a:endParaRPr lang="en-US" sz="11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3145536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394960" y="312724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audit trail and security validation before launch</a:t>
            </a:r>
            <a:endParaRPr lang="en-US" sz="11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4041648"/>
            <a:ext cx="256032" cy="25603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394960" y="40233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 read-only integration or mock adapter available</a:t>
            </a:r>
            <a:endParaRPr lang="en-US" sz="1100" dirty="0"/>
          </a:p>
        </p:txBody>
      </p:sp>
      <p:sp>
        <p:nvSpPr>
          <p:cNvPr id="18" name="Shape 0">
            <a:extLst>
              <a:ext uri="{FF2B5EF4-FFF2-40B4-BE49-F238E27FC236}">
                <a16:creationId xmlns:a16="http://schemas.microsoft.com/office/drawing/2014/main" id="{230B24C4-92F7-914A-ADDF-8992CED03CD6}"/>
              </a:ext>
            </a:extLst>
          </p:cNvPr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chemeClr val="bg1"/>
          </a:solidFill>
          <a:ln w="12700">
            <a:noFill/>
            <a:prstDash val="solid"/>
          </a:ln>
        </p:spPr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109300B6-EAD8-9CA9-1400-5986BB2AB209}"/>
              </a:ext>
            </a:extLst>
          </p:cNvPr>
          <p:cNvSpPr/>
          <p:nvPr/>
        </p:nvSpPr>
        <p:spPr>
          <a:xfrm>
            <a:off x="-16002" y="-9145"/>
            <a:ext cx="9166860" cy="45719"/>
          </a:xfrm>
          <a:prstGeom prst="rect">
            <a:avLst/>
          </a:prstGeom>
          <a:gradFill flip="none" rotWithShape="1">
            <a:gsLst>
              <a:gs pos="0">
                <a:srgbClr val="002060"/>
              </a:gs>
              <a:gs pos="49000">
                <a:schemeClr val="bg1"/>
              </a:gs>
              <a:gs pos="100000">
                <a:srgbClr val="FF0000"/>
              </a:gs>
            </a:gsLst>
            <a:path path="circle">
              <a:fillToRect l="100000" t="100000"/>
            </a:path>
            <a:tileRect r="-100000" b="-100000"/>
          </a:gradFill>
          <a:ln w="12700">
            <a:noFill/>
            <a:prstDash val="solid"/>
          </a:ln>
        </p:spPr>
      </p:sp>
      <p:sp>
        <p:nvSpPr>
          <p:cNvPr id="20" name="Shape 0">
            <a:extLst>
              <a:ext uri="{FF2B5EF4-FFF2-40B4-BE49-F238E27FC236}">
                <a16:creationId xmlns:a16="http://schemas.microsoft.com/office/drawing/2014/main" id="{7057612F-8A23-7719-3008-E8DD66FA81AD}"/>
              </a:ext>
            </a:extLst>
          </p:cNvPr>
          <p:cNvSpPr/>
          <p:nvPr/>
        </p:nvSpPr>
        <p:spPr>
          <a:xfrm rot="5400000">
            <a:off x="-2576323" y="2553462"/>
            <a:ext cx="5152644" cy="45719"/>
          </a:xfrm>
          <a:prstGeom prst="rect">
            <a:avLst/>
          </a:prstGeom>
          <a:solidFill>
            <a:srgbClr val="FF0000"/>
          </a:solidFill>
          <a:ln w="12700">
            <a:noFill/>
            <a:prstDash val="solid"/>
          </a:ln>
        </p:spPr>
      </p:sp>
      <p:sp>
        <p:nvSpPr>
          <p:cNvPr id="21" name="Shape 0">
            <a:extLst>
              <a:ext uri="{FF2B5EF4-FFF2-40B4-BE49-F238E27FC236}">
                <a16:creationId xmlns:a16="http://schemas.microsoft.com/office/drawing/2014/main" id="{156A517B-3167-8876-D5DF-093CFCE64474}"/>
              </a:ext>
            </a:extLst>
          </p:cNvPr>
          <p:cNvSpPr/>
          <p:nvPr/>
        </p:nvSpPr>
        <p:spPr>
          <a:xfrm rot="5400000">
            <a:off x="6563104" y="2544318"/>
            <a:ext cx="5152645" cy="82296"/>
          </a:xfrm>
          <a:prstGeom prst="rect">
            <a:avLst/>
          </a:prstGeom>
          <a:solidFill>
            <a:srgbClr val="002060"/>
          </a:solidFill>
          <a:ln w="12700">
            <a:noFill/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>
            <a:extLst>
              <a:ext uri="{FF2B5EF4-FFF2-40B4-BE49-F238E27FC236}">
                <a16:creationId xmlns:a16="http://schemas.microsoft.com/office/drawing/2014/main" id="{A05F0124-7EEE-DD0D-1278-35454FADAA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4398" y="64012"/>
            <a:ext cx="2994659" cy="1371596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41E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41E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41E2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41E2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41E2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41E2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41E2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41E2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41E2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41E2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141E2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41E2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1028700"/>
            <a:ext cx="9144000" cy="0"/>
          </a:xfrm>
          <a:prstGeom prst="line">
            <a:avLst/>
          </a:prstGeom>
          <a:noFill/>
          <a:ln w="6350">
            <a:solidFill>
              <a:srgbClr val="141E2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2057400"/>
            <a:ext cx="9144000" cy="0"/>
          </a:xfrm>
          <a:prstGeom prst="line">
            <a:avLst/>
          </a:prstGeom>
          <a:noFill/>
          <a:ln w="6350">
            <a:solidFill>
              <a:srgbClr val="141E2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086100"/>
            <a:ext cx="9144000" cy="0"/>
          </a:xfrm>
          <a:prstGeom prst="line">
            <a:avLst/>
          </a:prstGeom>
          <a:noFill/>
          <a:ln w="6350">
            <a:solidFill>
              <a:srgbClr val="141E2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41E2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95728" y="429769"/>
            <a:ext cx="4572000" cy="4114800"/>
          </a:xfrm>
          <a:prstGeom prst="rect">
            <a:avLst/>
          </a:prstGeom>
          <a:solidFill>
            <a:srgbClr val="1B6FD8">
              <a:alpha val="4000"/>
            </a:srgbClr>
          </a:solidFill>
          <a:ln w="12700">
            <a:solidFill>
              <a:srgbClr val="1B6FD8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5143500"/>
            <a:ext cx="9144000" cy="0"/>
          </a:xfrm>
          <a:prstGeom prst="line">
            <a:avLst/>
          </a:prstGeom>
          <a:noFill/>
          <a:ln w="6350">
            <a:solidFill>
              <a:srgbClr val="141E2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132588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US.</a:t>
            </a:r>
            <a:endParaRPr lang="en-US" sz="7200" dirty="0"/>
          </a:p>
        </p:txBody>
      </p:sp>
      <p:sp>
        <p:nvSpPr>
          <p:cNvPr id="23" name="Text 21"/>
          <p:cNvSpPr/>
          <p:nvPr/>
        </p:nvSpPr>
        <p:spPr>
          <a:xfrm>
            <a:off x="914400" y="242316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8F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NexCort iQ is ready to partner with forward-thinking agencies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8F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committed to modern, intelligent emergency communications.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371600" y="340156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WYLD.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71600" y="382219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F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an early partner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F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shape the platform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943600" y="340156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REMEMBERED.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943600" y="382219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F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your region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F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into a new era of 911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1A2B"/>
          </a:solidFill>
          <a:ln w="12700">
            <a:solidFill>
              <a:srgbClr val="111A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rapidcortex.us  |  Intelligence at the speed of response.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553</TotalTime>
  <Words>648</Words>
  <Application>Microsoft Macintosh PowerPoint</Application>
  <PresentationFormat>On-screen Show (16:9)</PresentationFormat>
  <Paragraphs>131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J.W. Coleman</cp:lastModifiedBy>
  <cp:revision>5</cp:revision>
  <dcterms:created xsi:type="dcterms:W3CDTF">2026-06-16T14:39:50Z</dcterms:created>
  <dcterms:modified xsi:type="dcterms:W3CDTF">2026-06-17T01:05:11Z</dcterms:modified>
</cp:coreProperties>
</file>