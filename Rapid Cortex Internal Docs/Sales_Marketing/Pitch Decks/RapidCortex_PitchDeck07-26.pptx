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6" r:id="rId4"/>
    <p:sldId id="258" r:id="rId5"/>
    <p:sldId id="259" r:id="rId6"/>
    <p:sldId id="260" r:id="rId7"/>
    <p:sldId id="267" r:id="rId8"/>
    <p:sldId id="261" r:id="rId9"/>
    <p:sldId id="268" r:id="rId10"/>
    <p:sldId id="262" r:id="rId11"/>
    <p:sldId id="263" r:id="rId12"/>
    <p:sldId id="26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0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A0F"/>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A2B3C"/>
            </a:solidFill>
            <a:prstDash val="solid"/>
          </a:ln>
        </p:spPr>
      </p:sp>
      <p:sp>
        <p:nvSpPr>
          <p:cNvPr id="3" name="Shape 1"/>
          <p:cNvSpPr/>
          <p:nvPr/>
        </p:nvSpPr>
        <p:spPr>
          <a:xfrm>
            <a:off x="914400" y="0"/>
            <a:ext cx="0" cy="5143500"/>
          </a:xfrm>
          <a:prstGeom prst="line">
            <a:avLst/>
          </a:prstGeom>
          <a:noFill/>
          <a:ln w="6350">
            <a:solidFill>
              <a:srgbClr val="1A2B3C"/>
            </a:solidFill>
            <a:prstDash val="solid"/>
          </a:ln>
        </p:spPr>
      </p:sp>
      <p:sp>
        <p:nvSpPr>
          <p:cNvPr id="4" name="Shape 2"/>
          <p:cNvSpPr/>
          <p:nvPr/>
        </p:nvSpPr>
        <p:spPr>
          <a:xfrm>
            <a:off x="1828800" y="0"/>
            <a:ext cx="0" cy="5143500"/>
          </a:xfrm>
          <a:prstGeom prst="line">
            <a:avLst/>
          </a:prstGeom>
          <a:noFill/>
          <a:ln w="6350">
            <a:solidFill>
              <a:srgbClr val="1A2B3C"/>
            </a:solidFill>
            <a:prstDash val="solid"/>
          </a:ln>
        </p:spPr>
      </p:sp>
      <p:sp>
        <p:nvSpPr>
          <p:cNvPr id="5" name="Shape 3"/>
          <p:cNvSpPr/>
          <p:nvPr/>
        </p:nvSpPr>
        <p:spPr>
          <a:xfrm>
            <a:off x="2743200" y="0"/>
            <a:ext cx="0" cy="5143500"/>
          </a:xfrm>
          <a:prstGeom prst="line">
            <a:avLst/>
          </a:prstGeom>
          <a:noFill/>
          <a:ln w="6350">
            <a:solidFill>
              <a:srgbClr val="1A2B3C"/>
            </a:solidFill>
            <a:prstDash val="solid"/>
          </a:ln>
        </p:spPr>
      </p:sp>
      <p:sp>
        <p:nvSpPr>
          <p:cNvPr id="6" name="Shape 4"/>
          <p:cNvSpPr/>
          <p:nvPr/>
        </p:nvSpPr>
        <p:spPr>
          <a:xfrm>
            <a:off x="3657600" y="0"/>
            <a:ext cx="0" cy="5143500"/>
          </a:xfrm>
          <a:prstGeom prst="line">
            <a:avLst/>
          </a:prstGeom>
          <a:noFill/>
          <a:ln w="6350">
            <a:solidFill>
              <a:srgbClr val="1A2B3C"/>
            </a:solidFill>
            <a:prstDash val="solid"/>
          </a:ln>
        </p:spPr>
      </p:sp>
      <p:sp>
        <p:nvSpPr>
          <p:cNvPr id="7" name="Shape 5"/>
          <p:cNvSpPr/>
          <p:nvPr/>
        </p:nvSpPr>
        <p:spPr>
          <a:xfrm>
            <a:off x="4572000" y="0"/>
            <a:ext cx="0" cy="5143500"/>
          </a:xfrm>
          <a:prstGeom prst="line">
            <a:avLst/>
          </a:prstGeom>
          <a:noFill/>
          <a:ln w="6350">
            <a:solidFill>
              <a:srgbClr val="1A2B3C"/>
            </a:solidFill>
            <a:prstDash val="solid"/>
          </a:ln>
        </p:spPr>
      </p:sp>
      <p:sp>
        <p:nvSpPr>
          <p:cNvPr id="8" name="Shape 6"/>
          <p:cNvSpPr/>
          <p:nvPr/>
        </p:nvSpPr>
        <p:spPr>
          <a:xfrm>
            <a:off x="5486400" y="0"/>
            <a:ext cx="0" cy="5143500"/>
          </a:xfrm>
          <a:prstGeom prst="line">
            <a:avLst/>
          </a:prstGeom>
          <a:noFill/>
          <a:ln w="6350">
            <a:solidFill>
              <a:srgbClr val="1A2B3C"/>
            </a:solidFill>
            <a:prstDash val="solid"/>
          </a:ln>
        </p:spPr>
      </p:sp>
      <p:sp>
        <p:nvSpPr>
          <p:cNvPr id="9" name="Shape 7"/>
          <p:cNvSpPr/>
          <p:nvPr/>
        </p:nvSpPr>
        <p:spPr>
          <a:xfrm>
            <a:off x="6400800" y="0"/>
            <a:ext cx="0" cy="5143500"/>
          </a:xfrm>
          <a:prstGeom prst="line">
            <a:avLst/>
          </a:prstGeom>
          <a:noFill/>
          <a:ln w="6350">
            <a:solidFill>
              <a:srgbClr val="1A2B3C"/>
            </a:solidFill>
            <a:prstDash val="solid"/>
          </a:ln>
        </p:spPr>
      </p:sp>
      <p:sp>
        <p:nvSpPr>
          <p:cNvPr id="10" name="Shape 8"/>
          <p:cNvSpPr/>
          <p:nvPr/>
        </p:nvSpPr>
        <p:spPr>
          <a:xfrm>
            <a:off x="7315200" y="0"/>
            <a:ext cx="0" cy="5143500"/>
          </a:xfrm>
          <a:prstGeom prst="line">
            <a:avLst/>
          </a:prstGeom>
          <a:noFill/>
          <a:ln w="6350">
            <a:solidFill>
              <a:srgbClr val="1A2B3C"/>
            </a:solidFill>
            <a:prstDash val="solid"/>
          </a:ln>
        </p:spPr>
      </p:sp>
      <p:sp>
        <p:nvSpPr>
          <p:cNvPr id="11" name="Shape 9"/>
          <p:cNvSpPr/>
          <p:nvPr/>
        </p:nvSpPr>
        <p:spPr>
          <a:xfrm>
            <a:off x="8229600" y="0"/>
            <a:ext cx="0" cy="5143500"/>
          </a:xfrm>
          <a:prstGeom prst="line">
            <a:avLst/>
          </a:prstGeom>
          <a:noFill/>
          <a:ln w="6350">
            <a:solidFill>
              <a:srgbClr val="1A2B3C"/>
            </a:solidFill>
            <a:prstDash val="solid"/>
          </a:ln>
        </p:spPr>
      </p:sp>
      <p:sp>
        <p:nvSpPr>
          <p:cNvPr id="12" name="Shape 10"/>
          <p:cNvSpPr/>
          <p:nvPr/>
        </p:nvSpPr>
        <p:spPr>
          <a:xfrm>
            <a:off x="9144000" y="0"/>
            <a:ext cx="0" cy="5143500"/>
          </a:xfrm>
          <a:prstGeom prst="line">
            <a:avLst/>
          </a:prstGeom>
          <a:noFill/>
          <a:ln w="6350">
            <a:solidFill>
              <a:srgbClr val="1A2B3C"/>
            </a:solidFill>
            <a:prstDash val="solid"/>
          </a:ln>
        </p:spPr>
      </p:sp>
      <p:sp>
        <p:nvSpPr>
          <p:cNvPr id="13" name="Shape 11"/>
          <p:cNvSpPr/>
          <p:nvPr/>
        </p:nvSpPr>
        <p:spPr>
          <a:xfrm>
            <a:off x="0" y="0"/>
            <a:ext cx="9144000" cy="0"/>
          </a:xfrm>
          <a:prstGeom prst="line">
            <a:avLst/>
          </a:prstGeom>
          <a:noFill/>
          <a:ln w="6350">
            <a:solidFill>
              <a:srgbClr val="1A2B3C"/>
            </a:solidFill>
            <a:prstDash val="solid"/>
          </a:ln>
        </p:spPr>
      </p:sp>
      <p:sp>
        <p:nvSpPr>
          <p:cNvPr id="14" name="Shape 12"/>
          <p:cNvSpPr/>
          <p:nvPr/>
        </p:nvSpPr>
        <p:spPr>
          <a:xfrm>
            <a:off x="0" y="1028700"/>
            <a:ext cx="9144000" cy="0"/>
          </a:xfrm>
          <a:prstGeom prst="line">
            <a:avLst/>
          </a:prstGeom>
          <a:noFill/>
          <a:ln w="6350">
            <a:solidFill>
              <a:srgbClr val="1A2B3C"/>
            </a:solidFill>
            <a:prstDash val="solid"/>
          </a:ln>
        </p:spPr>
      </p:sp>
      <p:sp>
        <p:nvSpPr>
          <p:cNvPr id="15" name="Shape 13"/>
          <p:cNvSpPr/>
          <p:nvPr/>
        </p:nvSpPr>
        <p:spPr>
          <a:xfrm>
            <a:off x="0" y="2057400"/>
            <a:ext cx="9144000" cy="0"/>
          </a:xfrm>
          <a:prstGeom prst="line">
            <a:avLst/>
          </a:prstGeom>
          <a:noFill/>
          <a:ln w="6350">
            <a:solidFill>
              <a:srgbClr val="1A2B3C"/>
            </a:solidFill>
            <a:prstDash val="solid"/>
          </a:ln>
        </p:spPr>
      </p:sp>
      <p:sp>
        <p:nvSpPr>
          <p:cNvPr id="16" name="Shape 14"/>
          <p:cNvSpPr/>
          <p:nvPr/>
        </p:nvSpPr>
        <p:spPr>
          <a:xfrm>
            <a:off x="0" y="3086100"/>
            <a:ext cx="9144000" cy="0"/>
          </a:xfrm>
          <a:prstGeom prst="line">
            <a:avLst/>
          </a:prstGeom>
          <a:noFill/>
          <a:ln w="6350">
            <a:solidFill>
              <a:srgbClr val="1A2B3C"/>
            </a:solidFill>
            <a:prstDash val="solid"/>
          </a:ln>
        </p:spPr>
      </p:sp>
      <p:sp>
        <p:nvSpPr>
          <p:cNvPr id="17" name="Shape 15"/>
          <p:cNvSpPr/>
          <p:nvPr/>
        </p:nvSpPr>
        <p:spPr>
          <a:xfrm>
            <a:off x="0" y="4114800"/>
            <a:ext cx="9144000" cy="0"/>
          </a:xfrm>
          <a:prstGeom prst="line">
            <a:avLst/>
          </a:prstGeom>
          <a:noFill/>
          <a:ln w="6350">
            <a:solidFill>
              <a:srgbClr val="1A2B3C"/>
            </a:solidFill>
            <a:prstDash val="solid"/>
          </a:ln>
        </p:spPr>
      </p:sp>
      <p:sp>
        <p:nvSpPr>
          <p:cNvPr id="18" name="Shape 16"/>
          <p:cNvSpPr/>
          <p:nvPr/>
        </p:nvSpPr>
        <p:spPr>
          <a:xfrm>
            <a:off x="0" y="5143500"/>
            <a:ext cx="9144000" cy="0"/>
          </a:xfrm>
          <a:prstGeom prst="line">
            <a:avLst/>
          </a:prstGeom>
          <a:noFill/>
          <a:ln w="6350">
            <a:solidFill>
              <a:srgbClr val="1A2B3C"/>
            </a:solidFill>
            <a:prstDash val="solid"/>
          </a:ln>
        </p:spPr>
      </p:sp>
      <p:sp>
        <p:nvSpPr>
          <p:cNvPr id="19" name="Shape 17"/>
          <p:cNvSpPr/>
          <p:nvPr/>
        </p:nvSpPr>
        <p:spPr>
          <a:xfrm>
            <a:off x="-457200" y="-274320"/>
            <a:ext cx="4114800" cy="3200400"/>
          </a:xfrm>
          <a:prstGeom prst="rect">
            <a:avLst/>
          </a:prstGeom>
          <a:solidFill>
            <a:srgbClr val="C8102E">
              <a:alpha val="6000"/>
            </a:srgbClr>
          </a:solidFill>
          <a:ln w="12700">
            <a:solidFill>
              <a:srgbClr val="C8102E">
                <a:alpha val="0"/>
              </a:srgbClr>
            </a:solidFill>
            <a:prstDash val="solid"/>
          </a:ln>
        </p:spPr>
      </p:sp>
      <p:sp>
        <p:nvSpPr>
          <p:cNvPr id="21" name="Shape 19"/>
          <p:cNvSpPr/>
          <p:nvPr/>
        </p:nvSpPr>
        <p:spPr>
          <a:xfrm>
            <a:off x="457200" y="347472"/>
            <a:ext cx="640080" cy="310896"/>
          </a:xfrm>
          <a:prstGeom prst="rect">
            <a:avLst/>
          </a:prstGeom>
          <a:solidFill>
            <a:srgbClr val="C8102E"/>
          </a:solidFill>
          <a:ln w="12700">
            <a:solidFill>
              <a:srgbClr val="C8102E"/>
            </a:solidFill>
            <a:prstDash val="solid"/>
          </a:ln>
        </p:spPr>
      </p:sp>
      <p:sp>
        <p:nvSpPr>
          <p:cNvPr id="22" name="Text 20"/>
          <p:cNvSpPr/>
          <p:nvPr/>
        </p:nvSpPr>
        <p:spPr>
          <a:xfrm>
            <a:off x="457200" y="347472"/>
            <a:ext cx="6400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RC</a:t>
            </a:r>
            <a:endParaRPr lang="en-US" sz="1100" dirty="0"/>
          </a:p>
        </p:txBody>
      </p:sp>
      <p:sp>
        <p:nvSpPr>
          <p:cNvPr id="23" name="Text 21"/>
          <p:cNvSpPr/>
          <p:nvPr/>
        </p:nvSpPr>
        <p:spPr>
          <a:xfrm>
            <a:off x="1214205" y="383617"/>
            <a:ext cx="6715590" cy="310896"/>
          </a:xfrm>
          <a:prstGeom prst="rect">
            <a:avLst/>
          </a:prstGeom>
          <a:noFill/>
          <a:ln/>
        </p:spPr>
        <p:txBody>
          <a:bodyPr wrap="square" lIns="0" tIns="0" rIns="0" bIns="0" rtlCol="0" anchor="ctr"/>
          <a:lstStyle/>
          <a:p>
            <a:pPr marL="0" indent="0" algn="ctr">
              <a:buNone/>
            </a:pPr>
            <a:r>
              <a:rPr lang="en-US" sz="4400" b="1" kern="0" spc="300" dirty="0">
                <a:gradFill flip="none" rotWithShape="1">
                  <a:gsLst>
                    <a:gs pos="99000">
                      <a:srgbClr val="C00000"/>
                    </a:gs>
                    <a:gs pos="52000">
                      <a:schemeClr val="bg1"/>
                    </a:gs>
                    <a:gs pos="20000">
                      <a:srgbClr val="002060"/>
                    </a:gs>
                  </a:gsLst>
                  <a:path path="circle">
                    <a:fillToRect l="100000" t="100000"/>
                  </a:path>
                  <a:tileRect r="-100000" b="-100000"/>
                </a:gradFill>
                <a:latin typeface="Arial" pitchFamily="34" charset="0"/>
                <a:ea typeface="Arial" pitchFamily="34" charset="-122"/>
                <a:cs typeface="Arial" pitchFamily="34" charset="-120"/>
              </a:rPr>
              <a:t>NEXCORT IQ</a:t>
            </a:r>
            <a:endParaRPr lang="en-US" sz="4400" dirty="0">
              <a:gradFill flip="none" rotWithShape="1">
                <a:gsLst>
                  <a:gs pos="99000">
                    <a:srgbClr val="C00000"/>
                  </a:gs>
                  <a:gs pos="52000">
                    <a:schemeClr val="bg1"/>
                  </a:gs>
                  <a:gs pos="20000">
                    <a:srgbClr val="002060"/>
                  </a:gs>
                </a:gsLst>
                <a:path path="circle">
                  <a:fillToRect l="100000" t="100000"/>
                </a:path>
                <a:tileRect r="-100000" b="-100000"/>
              </a:gradFill>
            </a:endParaRPr>
          </a:p>
        </p:txBody>
      </p:sp>
      <p:sp>
        <p:nvSpPr>
          <p:cNvPr id="24" name="Text 22"/>
          <p:cNvSpPr/>
          <p:nvPr/>
        </p:nvSpPr>
        <p:spPr>
          <a:xfrm>
            <a:off x="230852" y="2072858"/>
            <a:ext cx="8682297" cy="777240"/>
          </a:xfrm>
          <a:prstGeom prst="rect">
            <a:avLst/>
          </a:prstGeom>
          <a:noFill/>
          <a:ln/>
        </p:spPr>
        <p:txBody>
          <a:bodyPr wrap="square" lIns="0" tIns="0" rIns="0" bIns="0" rtlCol="0" anchor="ctr"/>
          <a:lstStyle/>
          <a:p>
            <a:pPr algn="ctr"/>
            <a:r>
              <a:rPr lang="en-US" sz="3600" dirty="0">
                <a:solidFill>
                  <a:schemeClr val="bg1"/>
                </a:solidFill>
                <a:latin typeface="Arial" panose="020B0604020202020204" pitchFamily="34" charset="0"/>
                <a:cs typeface="Arial" panose="020B0604020202020204" pitchFamily="34" charset="0"/>
              </a:rPr>
              <a:t>WHAT CHANGES WHEN NEXCORT IQ ENTERS THE CONVERSATION?</a:t>
            </a:r>
          </a:p>
        </p:txBody>
      </p:sp>
      <p:sp>
        <p:nvSpPr>
          <p:cNvPr id="26" name="Shape 24"/>
          <p:cNvSpPr/>
          <p:nvPr/>
        </p:nvSpPr>
        <p:spPr>
          <a:xfrm>
            <a:off x="1412824" y="3851911"/>
            <a:ext cx="6775553" cy="777240"/>
          </a:xfrm>
          <a:prstGeom prst="rect">
            <a:avLst/>
          </a:prstGeom>
          <a:solidFill>
            <a:srgbClr val="C8102E"/>
          </a:solidFill>
          <a:ln w="12700">
            <a:solidFill>
              <a:srgbClr val="C8102E"/>
            </a:solidFill>
            <a:prstDash val="solid"/>
          </a:ln>
        </p:spPr>
      </p:sp>
      <p:sp>
        <p:nvSpPr>
          <p:cNvPr id="28" name="Text 26"/>
          <p:cNvSpPr/>
          <p:nvPr/>
        </p:nvSpPr>
        <p:spPr>
          <a:xfrm>
            <a:off x="1525250" y="3920492"/>
            <a:ext cx="6498237" cy="643827"/>
          </a:xfrm>
          <a:prstGeom prst="rect">
            <a:avLst/>
          </a:prstGeom>
          <a:noFill/>
          <a:ln/>
        </p:spPr>
        <p:txBody>
          <a:bodyPr wrap="square" lIns="0" tIns="0" rIns="0" bIns="0" rtlCol="0" anchor="ctr"/>
          <a:lstStyle/>
          <a:p>
            <a:pPr marL="0" indent="0" algn="ctr">
              <a:buNone/>
            </a:pPr>
            <a:r>
              <a:rPr lang="en-US" sz="2800" i="1" dirty="0">
                <a:solidFill>
                  <a:schemeClr val="bg1"/>
                </a:solidFill>
                <a:latin typeface="Arial" pitchFamily="34" charset="0"/>
                <a:ea typeface="Arial" pitchFamily="34" charset="-122"/>
                <a:cs typeface="Arial" pitchFamily="34" charset="-120"/>
              </a:rPr>
              <a:t>“Intelligence at the speed of response”</a:t>
            </a:r>
            <a:endParaRPr lang="en-US" sz="2800" dirty="0">
              <a:solidFill>
                <a:schemeClr val="bg1"/>
              </a:solidFill>
            </a:endParaRPr>
          </a:p>
        </p:txBody>
      </p:sp>
      <p:pic>
        <p:nvPicPr>
          <p:cNvPr id="30" name="Picture 29">
            <a:extLst>
              <a:ext uri="{FF2B5EF4-FFF2-40B4-BE49-F238E27FC236}">
                <a16:creationId xmlns:a16="http://schemas.microsoft.com/office/drawing/2014/main" id="{BF7BE69D-01E0-C252-0801-9EB460C1A8CE}"/>
              </a:ext>
            </a:extLst>
          </p:cNvPr>
          <p:cNvPicPr>
            <a:picLocks noChangeAspect="1"/>
          </p:cNvPicPr>
          <p:nvPr/>
        </p:nvPicPr>
        <p:blipFill>
          <a:blip r:embed="rId3"/>
          <a:stretch>
            <a:fillRect/>
          </a:stretch>
        </p:blipFill>
        <p:spPr>
          <a:xfrm>
            <a:off x="-1" y="-1"/>
            <a:ext cx="1115569" cy="1072734"/>
          </a:xfrm>
          <a:prstGeom prst="rect">
            <a:avLst/>
          </a:prstGeom>
        </p:spPr>
      </p:pic>
      <p:pic>
        <p:nvPicPr>
          <p:cNvPr id="31" name="Picture 30">
            <a:extLst>
              <a:ext uri="{FF2B5EF4-FFF2-40B4-BE49-F238E27FC236}">
                <a16:creationId xmlns:a16="http://schemas.microsoft.com/office/drawing/2014/main" id="{5190472A-09EB-8CE5-833E-649EA192331B}"/>
              </a:ext>
            </a:extLst>
          </p:cNvPr>
          <p:cNvPicPr>
            <a:picLocks noChangeAspect="1"/>
          </p:cNvPicPr>
          <p:nvPr/>
        </p:nvPicPr>
        <p:blipFill>
          <a:blip r:embed="rId3"/>
          <a:stretch>
            <a:fillRect/>
          </a:stretch>
        </p:blipFill>
        <p:spPr>
          <a:xfrm>
            <a:off x="8023487" y="-15459"/>
            <a:ext cx="1115569" cy="10727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8"/>
        </a:solidFill>
        <a:effectLst/>
      </p:bgPr>
    </p:bg>
    <p:spTree>
      <p:nvGrpSpPr>
        <p:cNvPr id="1" name=""/>
        <p:cNvGrpSpPr/>
        <p:nvPr/>
      </p:nvGrpSpPr>
      <p:grpSpPr>
        <a:xfrm>
          <a:off x="0" y="0"/>
          <a:ext cx="0" cy="0"/>
          <a:chOff x="0" y="0"/>
          <a:chExt cx="0" cy="0"/>
        </a:xfrm>
      </p:grpSpPr>
      <p:sp>
        <p:nvSpPr>
          <p:cNvPr id="2" name="Shape 0"/>
          <p:cNvSpPr/>
          <p:nvPr/>
        </p:nvSpPr>
        <p:spPr>
          <a:xfrm>
            <a:off x="6217920" y="0"/>
            <a:ext cx="3200400" cy="5143500"/>
          </a:xfrm>
          <a:prstGeom prst="rect">
            <a:avLst/>
          </a:prstGeom>
          <a:solidFill>
            <a:srgbClr val="111A2B"/>
          </a:solidFill>
          <a:ln w="12700">
            <a:solidFill>
              <a:srgbClr val="111A2B"/>
            </a:solidFill>
            <a:prstDash val="solid"/>
          </a:ln>
        </p:spPr>
      </p:sp>
      <p:sp>
        <p:nvSpPr>
          <p:cNvPr id="3" name="Shape 1"/>
          <p:cNvSpPr/>
          <p:nvPr/>
        </p:nvSpPr>
        <p:spPr>
          <a:xfrm>
            <a:off x="457200" y="34747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502920" y="347472"/>
            <a:ext cx="1554480" cy="201168"/>
          </a:xfrm>
          <a:prstGeom prst="rect">
            <a:avLst/>
          </a:prstGeom>
          <a:noFill/>
          <a:ln/>
        </p:spPr>
        <p:txBody>
          <a:bodyPr wrap="square" lIns="0" tIns="0" rIns="0" bIns="0" rtlCol="0" anchor="ctr"/>
          <a:lstStyle/>
          <a:p>
            <a:pPr marL="0" indent="0" algn="ctr">
              <a:buNone/>
            </a:pPr>
            <a:r>
              <a:rPr lang="en-US" sz="700" b="1" kern="0" spc="200" dirty="0">
                <a:solidFill>
                  <a:schemeClr val="bg1"/>
                </a:solidFill>
                <a:latin typeface="Arial" pitchFamily="34" charset="0"/>
                <a:ea typeface="Arial" pitchFamily="34" charset="-122"/>
                <a:cs typeface="Arial" pitchFamily="34" charset="-120"/>
              </a:rPr>
              <a:t>911 TODAY</a:t>
            </a:r>
            <a:endParaRPr lang="en-US" sz="700" dirty="0">
              <a:solidFill>
                <a:schemeClr val="bg1"/>
              </a:solidFill>
            </a:endParaRPr>
          </a:p>
        </p:txBody>
      </p:sp>
      <p:sp>
        <p:nvSpPr>
          <p:cNvPr id="5" name="Text 3"/>
          <p:cNvSpPr/>
          <p:nvPr/>
        </p:nvSpPr>
        <p:spPr>
          <a:xfrm>
            <a:off x="457200" y="658368"/>
            <a:ext cx="566928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WHEN CRISIS MEETS </a:t>
            </a:r>
            <a:endParaRPr lang="en-US" sz="4000" dirty="0"/>
          </a:p>
        </p:txBody>
      </p:sp>
      <p:sp>
        <p:nvSpPr>
          <p:cNvPr id="6" name="Text 4"/>
          <p:cNvSpPr/>
          <p:nvPr/>
        </p:nvSpPr>
        <p:spPr>
          <a:xfrm>
            <a:off x="457200" y="1389888"/>
            <a:ext cx="5669280" cy="777240"/>
          </a:xfrm>
          <a:prstGeom prst="rect">
            <a:avLst/>
          </a:prstGeom>
          <a:noFill/>
          <a:ln/>
        </p:spPr>
        <p:txBody>
          <a:bodyPr wrap="square" lIns="0" tIns="0" rIns="0" bIns="0" rtlCol="0" anchor="ctr"/>
          <a:lstStyle/>
          <a:p>
            <a:pPr marL="0" indent="0" algn="ctr">
              <a:buNone/>
            </a:pPr>
            <a:r>
              <a:rPr lang="en-US" sz="4000" b="1" dirty="0">
                <a:solidFill>
                  <a:srgbClr val="4FB3F0"/>
                </a:solidFill>
                <a:latin typeface="Arial" pitchFamily="34" charset="0"/>
                <a:ea typeface="Arial" pitchFamily="34" charset="-122"/>
                <a:cs typeface="Arial" pitchFamily="34" charset="-120"/>
              </a:rPr>
              <a:t>INTELLIGENCE</a:t>
            </a:r>
            <a:endParaRPr lang="en-US" sz="4000" dirty="0"/>
          </a:p>
        </p:txBody>
      </p:sp>
      <p:sp>
        <p:nvSpPr>
          <p:cNvPr id="7" name="Text 5"/>
          <p:cNvSpPr/>
          <p:nvPr/>
        </p:nvSpPr>
        <p:spPr>
          <a:xfrm>
            <a:off x="457200" y="2304288"/>
            <a:ext cx="5486400" cy="1371600"/>
          </a:xfrm>
          <a:prstGeom prst="rect">
            <a:avLst/>
          </a:prstGeom>
          <a:noFill/>
          <a:ln/>
        </p:spPr>
        <p:txBody>
          <a:bodyPr wrap="square" lIns="0" tIns="0" rIns="0" bIns="0" rtlCol="0" anchor="ctr"/>
          <a:lstStyle/>
          <a:p>
            <a:pPr marL="0" indent="0" algn="ctr">
              <a:buNone/>
            </a:pPr>
            <a:r>
              <a:rPr lang="en-US" sz="1300" dirty="0">
                <a:solidFill>
                  <a:srgbClr val="8FA3BE"/>
                </a:solidFill>
                <a:latin typeface="Arial" pitchFamily="34" charset="0"/>
                <a:ea typeface="Arial" pitchFamily="34" charset="-122"/>
                <a:cs typeface="Arial" pitchFamily="34" charset="-120"/>
              </a:rPr>
              <a:t>240 million 911 calls are made every year. Dispatchers assess language barriers, incomplete addresses, and simultaneous crises — all in under 3 seconds. When the system fails to keep a call open, the consequences can be fatal.</a:t>
            </a:r>
            <a:endParaRPr lang="en-US" sz="1300" dirty="0"/>
          </a:p>
        </p:txBody>
      </p:sp>
      <p:sp>
        <p:nvSpPr>
          <p:cNvPr id="8" name="Shape 6"/>
          <p:cNvSpPr/>
          <p:nvPr/>
        </p:nvSpPr>
        <p:spPr>
          <a:xfrm>
            <a:off x="6446520" y="41148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9" name="Text 7"/>
          <p:cNvSpPr/>
          <p:nvPr/>
        </p:nvSpPr>
        <p:spPr>
          <a:xfrm>
            <a:off x="6556248" y="502920"/>
            <a:ext cx="2157984" cy="553212"/>
          </a:xfrm>
          <a:prstGeom prst="rect">
            <a:avLst/>
          </a:prstGeom>
          <a:noFill/>
          <a:ln/>
        </p:spPr>
        <p:txBody>
          <a:bodyPr wrap="square" lIns="0" tIns="0" rIns="0" bIns="0" rtlCol="0" anchor="b"/>
          <a:lstStyle/>
          <a:p>
            <a:pPr marL="0" indent="0" algn="ctr">
              <a:buNone/>
            </a:pPr>
            <a:r>
              <a:rPr lang="en-US" sz="3400" b="1" dirty="0">
                <a:solidFill>
                  <a:srgbClr val="C8102E"/>
                </a:solidFill>
                <a:latin typeface="Arial" pitchFamily="34" charset="0"/>
                <a:ea typeface="Arial" pitchFamily="34" charset="-122"/>
                <a:cs typeface="Arial" pitchFamily="34" charset="-120"/>
              </a:rPr>
              <a:t>240M+</a:t>
            </a:r>
            <a:endParaRPr lang="en-US" sz="3400" dirty="0"/>
          </a:p>
        </p:txBody>
      </p:sp>
      <p:sp>
        <p:nvSpPr>
          <p:cNvPr id="10" name="Text 8"/>
          <p:cNvSpPr/>
          <p:nvPr/>
        </p:nvSpPr>
        <p:spPr>
          <a:xfrm>
            <a:off x="6537960" y="101498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911 calls per year in the US</a:t>
            </a:r>
            <a:r>
              <a:rPr lang="en-US" sz="900" baseline="30000" dirty="0">
                <a:solidFill>
                  <a:srgbClr val="8FA3BE"/>
                </a:solidFill>
                <a:latin typeface="Arial" pitchFamily="34" charset="0"/>
                <a:ea typeface="Arial" pitchFamily="34" charset="-122"/>
                <a:cs typeface="Arial" pitchFamily="34" charset="-120"/>
              </a:rPr>
              <a:t>1</a:t>
            </a:r>
            <a:endParaRPr lang="en-US" sz="900" dirty="0"/>
          </a:p>
        </p:txBody>
      </p:sp>
      <p:sp>
        <p:nvSpPr>
          <p:cNvPr id="11" name="Shape 9"/>
          <p:cNvSpPr/>
          <p:nvPr/>
        </p:nvSpPr>
        <p:spPr>
          <a:xfrm>
            <a:off x="6446520" y="160020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2" name="Text 10"/>
          <p:cNvSpPr/>
          <p:nvPr/>
        </p:nvSpPr>
        <p:spPr>
          <a:xfrm>
            <a:off x="6556248" y="1691640"/>
            <a:ext cx="2157984" cy="553212"/>
          </a:xfrm>
          <a:prstGeom prst="rect">
            <a:avLst/>
          </a:prstGeom>
          <a:noFill/>
          <a:ln/>
        </p:spPr>
        <p:txBody>
          <a:bodyPr wrap="square" lIns="0" tIns="0" rIns="0" bIns="0" rtlCol="0" anchor="b"/>
          <a:lstStyle/>
          <a:p>
            <a:pPr marL="0" indent="0" algn="ctr">
              <a:buNone/>
            </a:pPr>
            <a:r>
              <a:rPr lang="en-US" sz="3400" b="1" dirty="0">
                <a:solidFill>
                  <a:srgbClr val="4FB3F0"/>
                </a:solidFill>
                <a:latin typeface="Arial" pitchFamily="34" charset="0"/>
                <a:ea typeface="Arial" pitchFamily="34" charset="-122"/>
                <a:cs typeface="Arial" pitchFamily="34" charset="-120"/>
              </a:rPr>
              <a:t>&lt; 3 sec</a:t>
            </a:r>
            <a:endParaRPr lang="en-US" sz="3400" dirty="0"/>
          </a:p>
        </p:txBody>
      </p:sp>
      <p:sp>
        <p:nvSpPr>
          <p:cNvPr id="13" name="Text 11"/>
          <p:cNvSpPr/>
          <p:nvPr/>
        </p:nvSpPr>
        <p:spPr>
          <a:xfrm>
            <a:off x="6537960" y="220370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avg dispatcher assessment window</a:t>
            </a:r>
            <a:endParaRPr lang="en-US" sz="900" dirty="0"/>
          </a:p>
        </p:txBody>
      </p:sp>
      <p:sp>
        <p:nvSpPr>
          <p:cNvPr id="14" name="Shape 12"/>
          <p:cNvSpPr/>
          <p:nvPr/>
        </p:nvSpPr>
        <p:spPr>
          <a:xfrm>
            <a:off x="6446520" y="278892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5" name="Text 13"/>
          <p:cNvSpPr/>
          <p:nvPr/>
        </p:nvSpPr>
        <p:spPr>
          <a:xfrm>
            <a:off x="6556248" y="2880360"/>
            <a:ext cx="2157984" cy="553212"/>
          </a:xfrm>
          <a:prstGeom prst="rect">
            <a:avLst/>
          </a:prstGeom>
          <a:noFill/>
          <a:ln/>
        </p:spPr>
        <p:txBody>
          <a:bodyPr wrap="square" lIns="0" tIns="0" rIns="0" bIns="0" rtlCol="0" anchor="b"/>
          <a:lstStyle/>
          <a:p>
            <a:pPr marL="0" indent="0" algn="ctr">
              <a:buNone/>
            </a:pPr>
            <a:r>
              <a:rPr lang="en-US" sz="3400" b="1" dirty="0">
                <a:solidFill>
                  <a:srgbClr val="C8102E"/>
                </a:solidFill>
                <a:latin typeface="Arial" pitchFamily="34" charset="0"/>
                <a:ea typeface="Arial" pitchFamily="34" charset="-122"/>
                <a:cs typeface="Arial" pitchFamily="34" charset="-120"/>
              </a:rPr>
              <a:t>46%</a:t>
            </a:r>
            <a:endParaRPr lang="en-US" sz="3400" dirty="0"/>
          </a:p>
        </p:txBody>
      </p:sp>
      <p:sp>
        <p:nvSpPr>
          <p:cNvPr id="16" name="Text 14"/>
          <p:cNvSpPr/>
          <p:nvPr/>
        </p:nvSpPr>
        <p:spPr>
          <a:xfrm>
            <a:off x="6537960" y="339242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of PSAPs are critically understaffed</a:t>
            </a:r>
            <a:endParaRPr lang="en-US" sz="900" dirty="0"/>
          </a:p>
        </p:txBody>
      </p:sp>
      <p:sp>
        <p:nvSpPr>
          <p:cNvPr id="17" name="Shape 15"/>
          <p:cNvSpPr/>
          <p:nvPr/>
        </p:nvSpPr>
        <p:spPr>
          <a:xfrm>
            <a:off x="6446520" y="379476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8" name="Text 16"/>
          <p:cNvSpPr/>
          <p:nvPr/>
        </p:nvSpPr>
        <p:spPr>
          <a:xfrm>
            <a:off x="6556248" y="3886200"/>
            <a:ext cx="2157984" cy="553212"/>
          </a:xfrm>
          <a:prstGeom prst="rect">
            <a:avLst/>
          </a:prstGeom>
          <a:noFill/>
          <a:ln/>
        </p:spPr>
        <p:txBody>
          <a:bodyPr wrap="square" lIns="0" tIns="0" rIns="0" bIns="0" rtlCol="0" anchor="b"/>
          <a:lstStyle/>
          <a:p>
            <a:pPr marL="0" indent="0" algn="ctr">
              <a:buNone/>
            </a:pPr>
            <a:r>
              <a:rPr lang="en-US" sz="3400" b="1" dirty="0">
                <a:solidFill>
                  <a:srgbClr val="8FA3BE"/>
                </a:solidFill>
                <a:latin typeface="Arial" pitchFamily="34" charset="0"/>
                <a:ea typeface="Arial" pitchFamily="34" charset="-122"/>
                <a:cs typeface="Arial" pitchFamily="34" charset="-120"/>
              </a:rPr>
              <a:t>6,000+</a:t>
            </a:r>
            <a:endParaRPr lang="en-US" sz="3400" dirty="0"/>
          </a:p>
        </p:txBody>
      </p:sp>
      <p:sp>
        <p:nvSpPr>
          <p:cNvPr id="19" name="Text 17"/>
          <p:cNvSpPr/>
          <p:nvPr/>
        </p:nvSpPr>
        <p:spPr>
          <a:xfrm>
            <a:off x="6537960" y="439826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PSAPs operating in the US</a:t>
            </a:r>
            <a:endParaRPr lang="en-US" sz="900" dirty="0"/>
          </a:p>
        </p:txBody>
      </p:sp>
      <p:sp>
        <p:nvSpPr>
          <p:cNvPr id="20" name="Shape 18"/>
          <p:cNvSpPr/>
          <p:nvPr/>
        </p:nvSpPr>
        <p:spPr>
          <a:xfrm>
            <a:off x="457200" y="4434840"/>
            <a:ext cx="3200400" cy="384048"/>
          </a:xfrm>
          <a:prstGeom prst="rect">
            <a:avLst/>
          </a:prstGeom>
          <a:solidFill>
            <a:srgbClr val="C8102E"/>
          </a:solidFill>
          <a:ln w="12700">
            <a:solidFill>
              <a:srgbClr val="C8102E"/>
            </a:solidFill>
            <a:prstDash val="solid"/>
          </a:ln>
        </p:spPr>
      </p:sp>
      <p:sp>
        <p:nvSpPr>
          <p:cNvPr id="21" name="Text 19"/>
          <p:cNvSpPr/>
          <p:nvPr/>
        </p:nvSpPr>
        <p:spPr>
          <a:xfrm>
            <a:off x="457200" y="4434840"/>
            <a:ext cx="3200400" cy="38404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Arial" pitchFamily="34" charset="0"/>
                <a:ea typeface="Arial" pitchFamily="34" charset="-122"/>
                <a:cs typeface="Arial" pitchFamily="34" charset="-120"/>
              </a:rPr>
              <a:t>THE RESPONSE GAP IS A LIFE-SAFETY FAILURE</a:t>
            </a:r>
            <a:endParaRPr lang="en-US" sz="1000" dirty="0"/>
          </a:p>
        </p:txBody>
      </p:sp>
      <p:sp>
        <p:nvSpPr>
          <p:cNvPr id="23" name="Shape 0">
            <a:extLst>
              <a:ext uri="{FF2B5EF4-FFF2-40B4-BE49-F238E27FC236}">
                <a16:creationId xmlns:a16="http://schemas.microsoft.com/office/drawing/2014/main" id="{8427F27F-C015-3DA1-EB2F-B2AC074652C0}"/>
              </a:ext>
            </a:extLst>
          </p:cNvPr>
          <p:cNvSpPr/>
          <p:nvPr/>
        </p:nvSpPr>
        <p:spPr>
          <a:xfrm>
            <a:off x="0" y="5088636"/>
            <a:ext cx="9144000" cy="54864"/>
          </a:xfrm>
          <a:prstGeom prst="rect">
            <a:avLst/>
          </a:prstGeom>
          <a:solidFill>
            <a:schemeClr val="bg1"/>
          </a:solidFill>
          <a:ln w="12700">
            <a:noFill/>
            <a:prstDash val="solid"/>
          </a:ln>
        </p:spPr>
      </p:sp>
      <p:sp>
        <p:nvSpPr>
          <p:cNvPr id="24" name="Shape 0">
            <a:extLst>
              <a:ext uri="{FF2B5EF4-FFF2-40B4-BE49-F238E27FC236}">
                <a16:creationId xmlns:a16="http://schemas.microsoft.com/office/drawing/2014/main" id="{2CE4E22C-B36C-29E0-1FB6-AD9F6030BF35}"/>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5" name="Shape 0">
            <a:extLst>
              <a:ext uri="{FF2B5EF4-FFF2-40B4-BE49-F238E27FC236}">
                <a16:creationId xmlns:a16="http://schemas.microsoft.com/office/drawing/2014/main" id="{402DF60C-7197-F8EE-96E8-A26904ADDD92}"/>
              </a:ext>
            </a:extLst>
          </p:cNvPr>
          <p:cNvSpPr/>
          <p:nvPr/>
        </p:nvSpPr>
        <p:spPr>
          <a:xfrm rot="5400000">
            <a:off x="-2576323" y="2553462"/>
            <a:ext cx="5152644" cy="45719"/>
          </a:xfrm>
          <a:prstGeom prst="rect">
            <a:avLst/>
          </a:prstGeom>
          <a:solidFill>
            <a:srgbClr val="FF0000"/>
          </a:solidFill>
          <a:ln w="12700">
            <a:noFill/>
            <a:prstDash val="solid"/>
          </a:ln>
        </p:spPr>
      </p:sp>
      <p:sp>
        <p:nvSpPr>
          <p:cNvPr id="26" name="Shape 0">
            <a:extLst>
              <a:ext uri="{FF2B5EF4-FFF2-40B4-BE49-F238E27FC236}">
                <a16:creationId xmlns:a16="http://schemas.microsoft.com/office/drawing/2014/main" id="{426262F1-F06F-0A26-9A73-2CA8FE702F60}"/>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A0E18"/>
        </a:solidFill>
        <a:effectLst/>
      </p:bgPr>
    </p:bg>
    <p:spTree>
      <p:nvGrpSpPr>
        <p:cNvPr id="1" name=""/>
        <p:cNvGrpSpPr/>
        <p:nvPr/>
      </p:nvGrpSpPr>
      <p:grpSpPr>
        <a:xfrm>
          <a:off x="0" y="0"/>
          <a:ext cx="0" cy="0"/>
          <a:chOff x="0" y="0"/>
          <a:chExt cx="0" cy="0"/>
        </a:xfrm>
      </p:grpSpPr>
      <p:sp>
        <p:nvSpPr>
          <p:cNvPr id="2" name="Shape 0"/>
          <p:cNvSpPr/>
          <p:nvPr/>
        </p:nvSpPr>
        <p:spPr>
          <a:xfrm>
            <a:off x="6217920" y="0"/>
            <a:ext cx="3200400" cy="5143500"/>
          </a:xfrm>
          <a:prstGeom prst="rect">
            <a:avLst/>
          </a:prstGeom>
          <a:solidFill>
            <a:srgbClr val="111A2B"/>
          </a:solidFill>
          <a:ln w="12700">
            <a:solidFill>
              <a:srgbClr val="111A2B"/>
            </a:solidFill>
            <a:prstDash val="solid"/>
          </a:ln>
        </p:spPr>
      </p:sp>
      <p:sp>
        <p:nvSpPr>
          <p:cNvPr id="3" name="Shape 1"/>
          <p:cNvSpPr/>
          <p:nvPr/>
        </p:nvSpPr>
        <p:spPr>
          <a:xfrm>
            <a:off x="457200" y="34747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502920" y="347472"/>
            <a:ext cx="1554480" cy="201168"/>
          </a:xfrm>
          <a:prstGeom prst="rect">
            <a:avLst/>
          </a:prstGeom>
          <a:noFill/>
          <a:ln/>
        </p:spPr>
        <p:txBody>
          <a:bodyPr wrap="square" lIns="0" tIns="0" rIns="0" bIns="0" rtlCol="0" anchor="ctr"/>
          <a:lstStyle/>
          <a:p>
            <a:pPr marL="0" indent="0" algn="ctr">
              <a:buNone/>
            </a:pPr>
            <a:r>
              <a:rPr lang="en-US" sz="700" b="1" kern="0" spc="200" dirty="0">
                <a:solidFill>
                  <a:schemeClr val="bg1"/>
                </a:solidFill>
                <a:latin typeface="Arial" pitchFamily="34" charset="0"/>
                <a:ea typeface="Arial" pitchFamily="34" charset="-122"/>
                <a:cs typeface="Arial" pitchFamily="34" charset="-120"/>
              </a:rPr>
              <a:t>THE RESPONSE GAP</a:t>
            </a:r>
            <a:endParaRPr lang="en-US" sz="700" dirty="0">
              <a:solidFill>
                <a:schemeClr val="bg1"/>
              </a:solidFill>
            </a:endParaRPr>
          </a:p>
        </p:txBody>
      </p:sp>
      <p:sp>
        <p:nvSpPr>
          <p:cNvPr id="5" name="Text 3"/>
          <p:cNvSpPr/>
          <p:nvPr/>
        </p:nvSpPr>
        <p:spPr>
          <a:xfrm>
            <a:off x="457200" y="658368"/>
            <a:ext cx="566928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WHEN A CALL STAYS</a:t>
            </a:r>
            <a:endParaRPr lang="en-US" sz="4000" dirty="0"/>
          </a:p>
        </p:txBody>
      </p:sp>
      <p:sp>
        <p:nvSpPr>
          <p:cNvPr id="6" name="Text 4"/>
          <p:cNvSpPr/>
          <p:nvPr/>
        </p:nvSpPr>
        <p:spPr>
          <a:xfrm>
            <a:off x="457200" y="1389888"/>
            <a:ext cx="5669280" cy="777240"/>
          </a:xfrm>
          <a:prstGeom prst="rect">
            <a:avLst/>
          </a:prstGeom>
          <a:noFill/>
          <a:ln/>
        </p:spPr>
        <p:txBody>
          <a:bodyPr wrap="square" lIns="0" tIns="0" rIns="0" bIns="0" rtlCol="0" anchor="ctr"/>
          <a:lstStyle/>
          <a:p>
            <a:pPr marL="0" indent="0" algn="ctr">
              <a:buNone/>
            </a:pPr>
            <a:r>
              <a:rPr lang="en-US" sz="4000" b="1" dirty="0">
                <a:solidFill>
                  <a:srgbClr val="4FB3F0"/>
                </a:solidFill>
                <a:latin typeface="Arial" pitchFamily="34" charset="0"/>
                <a:ea typeface="Arial" pitchFamily="34" charset="-122"/>
                <a:cs typeface="Arial" pitchFamily="34" charset="-120"/>
              </a:rPr>
              <a:t>OPEN, LIVES ARE SAVED.</a:t>
            </a:r>
            <a:endParaRPr lang="en-US" sz="4000" dirty="0"/>
          </a:p>
        </p:txBody>
      </p:sp>
      <p:sp>
        <p:nvSpPr>
          <p:cNvPr id="7" name="Text 5"/>
          <p:cNvSpPr/>
          <p:nvPr/>
        </p:nvSpPr>
        <p:spPr>
          <a:xfrm>
            <a:off x="457200" y="2304288"/>
            <a:ext cx="5486400" cy="1371600"/>
          </a:xfrm>
          <a:prstGeom prst="rect">
            <a:avLst/>
          </a:prstGeom>
          <a:noFill/>
          <a:ln/>
        </p:spPr>
        <p:txBody>
          <a:bodyPr wrap="square" lIns="0" tIns="0" rIns="0" bIns="0" rtlCol="0" anchor="ctr"/>
          <a:lstStyle/>
          <a:p>
            <a:pPr marL="0" indent="0" algn="ctr">
              <a:buNone/>
            </a:pPr>
            <a:r>
              <a:rPr lang="en-US" sz="1300" dirty="0">
                <a:solidFill>
                  <a:srgbClr val="8FA3BE"/>
                </a:solidFill>
                <a:latin typeface="Arial" pitchFamily="34" charset="0"/>
                <a:ea typeface="Arial" pitchFamily="34" charset="-122"/>
                <a:cs typeface="Arial" pitchFamily="34" charset="-120"/>
              </a:rPr>
              <a:t>On November 4, a 20-year-old called 911 in Iberville Parish, Louisiana. A unit was dispatched. 43 minutes passed. The call was closed. No alert fired. No supervisor was notified. She did not survive. NexCort iQ Response Continuity System (RCS) was built so this never happens again.</a:t>
            </a:r>
            <a:endParaRPr lang="en-US" sz="1300" dirty="0"/>
          </a:p>
        </p:txBody>
      </p:sp>
      <p:sp>
        <p:nvSpPr>
          <p:cNvPr id="8" name="Shape 6"/>
          <p:cNvSpPr/>
          <p:nvPr/>
        </p:nvSpPr>
        <p:spPr>
          <a:xfrm>
            <a:off x="6446520" y="41148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9" name="Text 7"/>
          <p:cNvSpPr/>
          <p:nvPr/>
        </p:nvSpPr>
        <p:spPr>
          <a:xfrm>
            <a:off x="6556248" y="502920"/>
            <a:ext cx="2157984" cy="553212"/>
          </a:xfrm>
          <a:prstGeom prst="rect">
            <a:avLst/>
          </a:prstGeom>
          <a:noFill/>
          <a:ln/>
        </p:spPr>
        <p:txBody>
          <a:bodyPr wrap="square" lIns="0" tIns="0" rIns="0" bIns="0" rtlCol="0" anchor="b"/>
          <a:lstStyle/>
          <a:p>
            <a:pPr marL="0" indent="0" algn="ctr">
              <a:buNone/>
            </a:pPr>
            <a:r>
              <a:rPr lang="en-US" sz="3400" b="1" dirty="0">
                <a:solidFill>
                  <a:srgbClr val="C8102E"/>
                </a:solidFill>
                <a:latin typeface="Arial" pitchFamily="34" charset="0"/>
                <a:ea typeface="Arial" pitchFamily="34" charset="-122"/>
                <a:cs typeface="Arial" pitchFamily="34" charset="-120"/>
              </a:rPr>
              <a:t>43 MIN</a:t>
            </a:r>
            <a:endParaRPr lang="en-US" sz="3400" dirty="0"/>
          </a:p>
        </p:txBody>
      </p:sp>
      <p:sp>
        <p:nvSpPr>
          <p:cNvPr id="10" name="Text 8"/>
          <p:cNvSpPr/>
          <p:nvPr/>
        </p:nvSpPr>
        <p:spPr>
          <a:xfrm>
            <a:off x="6537960" y="101498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Wait time before help arrived</a:t>
            </a:r>
            <a:r>
              <a:rPr lang="en-US" sz="900" baseline="30000" dirty="0">
                <a:solidFill>
                  <a:srgbClr val="8FA3BE"/>
                </a:solidFill>
                <a:latin typeface="Arial" pitchFamily="34" charset="0"/>
                <a:ea typeface="Arial" pitchFamily="34" charset="-122"/>
                <a:cs typeface="Arial" pitchFamily="34" charset="-120"/>
              </a:rPr>
              <a:t> </a:t>
            </a:r>
            <a:endParaRPr lang="en-US" sz="900" dirty="0"/>
          </a:p>
        </p:txBody>
      </p:sp>
      <p:sp>
        <p:nvSpPr>
          <p:cNvPr id="11" name="Shape 9"/>
          <p:cNvSpPr/>
          <p:nvPr/>
        </p:nvSpPr>
        <p:spPr>
          <a:xfrm>
            <a:off x="6446520" y="160020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2" name="Text 10"/>
          <p:cNvSpPr/>
          <p:nvPr/>
        </p:nvSpPr>
        <p:spPr>
          <a:xfrm>
            <a:off x="6556248" y="1691640"/>
            <a:ext cx="2157984" cy="553212"/>
          </a:xfrm>
          <a:prstGeom prst="rect">
            <a:avLst/>
          </a:prstGeom>
          <a:noFill/>
          <a:ln/>
        </p:spPr>
        <p:txBody>
          <a:bodyPr wrap="square" lIns="0" tIns="0" rIns="0" bIns="0" rtlCol="0" anchor="b"/>
          <a:lstStyle/>
          <a:p>
            <a:pPr marL="0" indent="0" algn="ctr">
              <a:buNone/>
            </a:pPr>
            <a:r>
              <a:rPr lang="en-US" sz="3400" b="1" dirty="0">
                <a:solidFill>
                  <a:srgbClr val="4FB3F0"/>
                </a:solidFill>
                <a:latin typeface="Arial" pitchFamily="34" charset="0"/>
                <a:ea typeface="Arial" pitchFamily="34" charset="-122"/>
                <a:cs typeface="Arial" pitchFamily="34" charset="-120"/>
              </a:rPr>
              <a:t>&lt; 3 sec</a:t>
            </a:r>
            <a:endParaRPr lang="en-US" sz="3400" dirty="0"/>
          </a:p>
        </p:txBody>
      </p:sp>
      <p:sp>
        <p:nvSpPr>
          <p:cNvPr id="13" name="Text 11"/>
          <p:cNvSpPr/>
          <p:nvPr/>
        </p:nvSpPr>
        <p:spPr>
          <a:xfrm>
            <a:off x="6537960" y="220370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Alerts fired during the 43-minute wait</a:t>
            </a:r>
            <a:endParaRPr lang="en-US" sz="900" dirty="0"/>
          </a:p>
        </p:txBody>
      </p:sp>
      <p:sp>
        <p:nvSpPr>
          <p:cNvPr id="14" name="Shape 12"/>
          <p:cNvSpPr/>
          <p:nvPr/>
        </p:nvSpPr>
        <p:spPr>
          <a:xfrm>
            <a:off x="6446520" y="278892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5" name="Text 13"/>
          <p:cNvSpPr/>
          <p:nvPr/>
        </p:nvSpPr>
        <p:spPr>
          <a:xfrm>
            <a:off x="6556248" y="2880360"/>
            <a:ext cx="2157984" cy="553212"/>
          </a:xfrm>
          <a:prstGeom prst="rect">
            <a:avLst/>
          </a:prstGeom>
          <a:noFill/>
          <a:ln/>
        </p:spPr>
        <p:txBody>
          <a:bodyPr wrap="square" lIns="0" tIns="0" rIns="0" bIns="0" rtlCol="0" anchor="b"/>
          <a:lstStyle/>
          <a:p>
            <a:pPr marL="0" indent="0" algn="ctr">
              <a:buNone/>
            </a:pPr>
            <a:r>
              <a:rPr lang="en-US" sz="2400" b="1" dirty="0">
                <a:solidFill>
                  <a:srgbClr val="C8102E"/>
                </a:solidFill>
                <a:latin typeface="Arial" pitchFamily="34" charset="0"/>
                <a:ea typeface="Arial" pitchFamily="34" charset="-122"/>
                <a:cs typeface="Arial" pitchFamily="34" charset="-120"/>
              </a:rPr>
              <a:t>★ EXCLUSIVE</a:t>
            </a:r>
            <a:endParaRPr lang="en-US" sz="2400" dirty="0"/>
          </a:p>
        </p:txBody>
      </p:sp>
      <p:sp>
        <p:nvSpPr>
          <p:cNvPr id="16" name="Text 14"/>
          <p:cNvSpPr/>
          <p:nvPr/>
        </p:nvSpPr>
        <p:spPr>
          <a:xfrm>
            <a:off x="6537960" y="339242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No competitor has a call persistence system</a:t>
            </a:r>
            <a:endParaRPr lang="en-US" sz="900" dirty="0"/>
          </a:p>
        </p:txBody>
      </p:sp>
      <p:sp>
        <p:nvSpPr>
          <p:cNvPr id="17" name="Shape 15"/>
          <p:cNvSpPr/>
          <p:nvPr/>
        </p:nvSpPr>
        <p:spPr>
          <a:xfrm>
            <a:off x="6446520" y="3794760"/>
            <a:ext cx="2377440" cy="1005840"/>
          </a:xfrm>
          <a:prstGeom prst="rect">
            <a:avLst/>
          </a:prstGeom>
          <a:solidFill>
            <a:srgbClr val="0F1929"/>
          </a:solidFill>
          <a:ln w="12700">
            <a:solidFill>
              <a:srgbClr val="1B6FD8">
                <a:alpha val="40000"/>
              </a:srgbClr>
            </a:solidFill>
            <a:prstDash val="solid"/>
          </a:ln>
          <a:effectLst>
            <a:outerShdw blurRad="152400" dist="50800" dir="5400000" algn="bl" rotWithShape="0">
              <a:srgbClr val="000000">
                <a:alpha val="50000"/>
              </a:srgbClr>
            </a:outerShdw>
          </a:effectLst>
        </p:spPr>
      </p:sp>
      <p:sp>
        <p:nvSpPr>
          <p:cNvPr id="18" name="Text 16"/>
          <p:cNvSpPr/>
          <p:nvPr/>
        </p:nvSpPr>
        <p:spPr>
          <a:xfrm>
            <a:off x="6556248" y="3886200"/>
            <a:ext cx="2157984" cy="553212"/>
          </a:xfrm>
          <a:prstGeom prst="rect">
            <a:avLst/>
          </a:prstGeom>
          <a:noFill/>
          <a:ln/>
        </p:spPr>
        <p:txBody>
          <a:bodyPr wrap="square" lIns="0" tIns="0" rIns="0" bIns="0" rtlCol="0" anchor="b"/>
          <a:lstStyle/>
          <a:p>
            <a:pPr marL="0" indent="0" algn="ctr">
              <a:buNone/>
            </a:pPr>
            <a:r>
              <a:rPr lang="en-US" sz="3200" b="1" dirty="0">
                <a:solidFill>
                  <a:srgbClr val="8FA3BE"/>
                </a:solidFill>
                <a:latin typeface="Arial" pitchFamily="34" charset="0"/>
                <a:ea typeface="Arial" pitchFamily="34" charset="-122"/>
                <a:cs typeface="Arial" pitchFamily="34" charset="-120"/>
              </a:rPr>
              <a:t>6 PILLARS</a:t>
            </a:r>
            <a:endParaRPr lang="en-US" sz="3200" dirty="0"/>
          </a:p>
        </p:txBody>
      </p:sp>
      <p:sp>
        <p:nvSpPr>
          <p:cNvPr id="19" name="Text 17"/>
          <p:cNvSpPr/>
          <p:nvPr/>
        </p:nvSpPr>
        <p:spPr>
          <a:xfrm>
            <a:off x="6537960" y="4398264"/>
            <a:ext cx="2194560" cy="382219"/>
          </a:xfrm>
          <a:prstGeom prst="rect">
            <a:avLst/>
          </a:prstGeom>
          <a:noFill/>
          <a:ln/>
        </p:spPr>
        <p:txBody>
          <a:bodyPr wrap="square" lIns="0" tIns="0" rIns="0" bIns="0" rtlCol="0" anchor="t"/>
          <a:lstStyle/>
          <a:p>
            <a:pPr marL="0" indent="0" algn="ctr">
              <a:buNone/>
            </a:pPr>
            <a:r>
              <a:rPr lang="en-US" sz="900" dirty="0">
                <a:solidFill>
                  <a:srgbClr val="8FA3BE"/>
                </a:solidFill>
                <a:latin typeface="Arial" pitchFamily="34" charset="0"/>
                <a:ea typeface="Arial" pitchFamily="34" charset="-122"/>
                <a:cs typeface="Arial" pitchFamily="34" charset="-120"/>
              </a:rPr>
              <a:t>Of the RCS life-safety framework</a:t>
            </a:r>
            <a:endParaRPr lang="en-US" sz="900" dirty="0"/>
          </a:p>
        </p:txBody>
      </p:sp>
      <p:sp>
        <p:nvSpPr>
          <p:cNvPr id="20" name="Shape 18"/>
          <p:cNvSpPr/>
          <p:nvPr/>
        </p:nvSpPr>
        <p:spPr>
          <a:xfrm>
            <a:off x="457200" y="4434840"/>
            <a:ext cx="3200400" cy="384048"/>
          </a:xfrm>
          <a:prstGeom prst="rect">
            <a:avLst/>
          </a:prstGeom>
          <a:solidFill>
            <a:srgbClr val="C8102E"/>
          </a:solidFill>
          <a:ln w="12700">
            <a:solidFill>
              <a:srgbClr val="C8102E"/>
            </a:solidFill>
            <a:prstDash val="solid"/>
          </a:ln>
        </p:spPr>
      </p:sp>
      <p:sp>
        <p:nvSpPr>
          <p:cNvPr id="21" name="Text 19"/>
          <p:cNvSpPr/>
          <p:nvPr/>
        </p:nvSpPr>
        <p:spPr>
          <a:xfrm>
            <a:off x="457200" y="4434840"/>
            <a:ext cx="3200400" cy="38404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Arial" pitchFamily="34" charset="0"/>
                <a:ea typeface="Arial" pitchFamily="34" charset="-122"/>
                <a:cs typeface="Arial" pitchFamily="34" charset="-120"/>
              </a:rPr>
              <a:t>THE TECHNOLOGY HAS NOT KEPT UP</a:t>
            </a:r>
            <a:endParaRPr lang="en-US" sz="1000" dirty="0"/>
          </a:p>
        </p:txBody>
      </p:sp>
      <p:sp>
        <p:nvSpPr>
          <p:cNvPr id="23" name="Shape 0">
            <a:extLst>
              <a:ext uri="{FF2B5EF4-FFF2-40B4-BE49-F238E27FC236}">
                <a16:creationId xmlns:a16="http://schemas.microsoft.com/office/drawing/2014/main" id="{8427F27F-C015-3DA1-EB2F-B2AC074652C0}"/>
              </a:ext>
            </a:extLst>
          </p:cNvPr>
          <p:cNvSpPr/>
          <p:nvPr/>
        </p:nvSpPr>
        <p:spPr>
          <a:xfrm>
            <a:off x="0" y="5088636"/>
            <a:ext cx="9144000" cy="54864"/>
          </a:xfrm>
          <a:prstGeom prst="rect">
            <a:avLst/>
          </a:prstGeom>
          <a:solidFill>
            <a:schemeClr val="bg1"/>
          </a:solidFill>
          <a:ln w="12700">
            <a:noFill/>
            <a:prstDash val="solid"/>
          </a:ln>
        </p:spPr>
      </p:sp>
      <p:sp>
        <p:nvSpPr>
          <p:cNvPr id="24" name="Shape 0">
            <a:extLst>
              <a:ext uri="{FF2B5EF4-FFF2-40B4-BE49-F238E27FC236}">
                <a16:creationId xmlns:a16="http://schemas.microsoft.com/office/drawing/2014/main" id="{2CE4E22C-B36C-29E0-1FB6-AD9F6030BF35}"/>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5" name="Shape 0">
            <a:extLst>
              <a:ext uri="{FF2B5EF4-FFF2-40B4-BE49-F238E27FC236}">
                <a16:creationId xmlns:a16="http://schemas.microsoft.com/office/drawing/2014/main" id="{402DF60C-7197-F8EE-96E8-A26904ADDD92}"/>
              </a:ext>
            </a:extLst>
          </p:cNvPr>
          <p:cNvSpPr/>
          <p:nvPr/>
        </p:nvSpPr>
        <p:spPr>
          <a:xfrm rot="5400000">
            <a:off x="-2576323" y="2553462"/>
            <a:ext cx="5152644" cy="45719"/>
          </a:xfrm>
          <a:prstGeom prst="rect">
            <a:avLst/>
          </a:prstGeom>
          <a:solidFill>
            <a:srgbClr val="FF0000"/>
          </a:solidFill>
          <a:ln w="12700">
            <a:noFill/>
            <a:prstDash val="solid"/>
          </a:ln>
        </p:spPr>
      </p:sp>
      <p:sp>
        <p:nvSpPr>
          <p:cNvPr id="26" name="Shape 0">
            <a:extLst>
              <a:ext uri="{FF2B5EF4-FFF2-40B4-BE49-F238E27FC236}">
                <a16:creationId xmlns:a16="http://schemas.microsoft.com/office/drawing/2014/main" id="{426262F1-F06F-0A26-9A73-2CA8FE702F60}"/>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60A0F"/>
        </a:solidFill>
        <a:effectLst/>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0D1520"/>
          </a:solidFill>
          <a:ln w="12700">
            <a:solidFill>
              <a:srgbClr val="0D1520"/>
            </a:solidFill>
            <a:prstDash val="solid"/>
          </a:ln>
        </p:spPr>
      </p:sp>
      <p:sp>
        <p:nvSpPr>
          <p:cNvPr id="3" name="Shape 1"/>
          <p:cNvSpPr/>
          <p:nvPr/>
        </p:nvSpPr>
        <p:spPr>
          <a:xfrm>
            <a:off x="365760" y="34747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411480" y="347472"/>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DISPATCHER REALITY</a:t>
            </a:r>
            <a:endParaRPr lang="en-US" sz="700" dirty="0"/>
          </a:p>
        </p:txBody>
      </p:sp>
      <p:sp>
        <p:nvSpPr>
          <p:cNvPr id="5" name="Text 3"/>
          <p:cNvSpPr/>
          <p:nvPr/>
        </p:nvSpPr>
        <p:spPr>
          <a:xfrm>
            <a:off x="365760" y="658368"/>
            <a:ext cx="4114800" cy="109728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CALL</a:t>
            </a:r>
            <a:endParaRPr lang="en-US" sz="3200" dirty="0"/>
          </a:p>
        </p:txBody>
      </p:sp>
      <p:sp>
        <p:nvSpPr>
          <p:cNvPr id="6" name="Text 4"/>
          <p:cNvSpPr/>
          <p:nvPr/>
        </p:nvSpPr>
        <p:spPr>
          <a:xfrm>
            <a:off x="365760" y="1874520"/>
            <a:ext cx="4114800" cy="1325880"/>
          </a:xfrm>
          <a:prstGeom prst="rect">
            <a:avLst/>
          </a:prstGeom>
          <a:noFill/>
          <a:ln/>
        </p:spPr>
        <p:txBody>
          <a:bodyPr wrap="square" lIns="0" tIns="0" rIns="0" bIns="0" rtlCol="0" anchor="ctr"/>
          <a:lstStyle/>
          <a:p>
            <a:pPr marL="0" indent="0">
              <a:buNone/>
            </a:pPr>
            <a:r>
              <a:rPr lang="en-US" sz="3800" b="1" dirty="0">
                <a:solidFill>
                  <a:srgbClr val="C8102E"/>
                </a:solidFill>
                <a:latin typeface="Arial" pitchFamily="34" charset="0"/>
                <a:ea typeface="Arial" pitchFamily="34" charset="-122"/>
                <a:cs typeface="Arial" pitchFamily="34" charset="-120"/>
              </a:rPr>
              <a:t>IS NEVER TRULY</a:t>
            </a:r>
            <a:endParaRPr lang="en-US" sz="3800" dirty="0"/>
          </a:p>
          <a:p>
            <a:pPr marL="0" indent="0">
              <a:buNone/>
            </a:pPr>
            <a:r>
              <a:rPr lang="en-US" sz="3800" b="1" dirty="0">
                <a:solidFill>
                  <a:srgbClr val="C8102E"/>
                </a:solidFill>
                <a:latin typeface="Arial" pitchFamily="34" charset="0"/>
                <a:ea typeface="Arial" pitchFamily="34" charset="-122"/>
                <a:cs typeface="Arial" pitchFamily="34" charset="-120"/>
              </a:rPr>
              <a:t>OVER.</a:t>
            </a:r>
            <a:endParaRPr lang="en-US" sz="3800" dirty="0"/>
          </a:p>
        </p:txBody>
      </p:sp>
      <p:sp>
        <p:nvSpPr>
          <p:cNvPr id="7" name="Text 5"/>
          <p:cNvSpPr/>
          <p:nvPr/>
        </p:nvSpPr>
        <p:spPr>
          <a:xfrm>
            <a:off x="365760" y="3429000"/>
            <a:ext cx="4114800" cy="1005840"/>
          </a:xfrm>
          <a:prstGeom prst="rect">
            <a:avLst/>
          </a:prstGeom>
          <a:noFill/>
          <a:ln/>
        </p:spPr>
        <p:txBody>
          <a:bodyPr wrap="square" lIns="0" tIns="0" rIns="0" bIns="0" rtlCol="0" anchor="ctr"/>
          <a:lstStyle/>
          <a:p>
            <a:pPr marL="0" indent="0">
              <a:buNone/>
            </a:pPr>
            <a:r>
              <a:rPr lang="en-US" sz="1200" dirty="0">
                <a:solidFill>
                  <a:srgbClr val="8FA3BE"/>
                </a:solidFill>
                <a:latin typeface="Arial" pitchFamily="34" charset="0"/>
                <a:ea typeface="Arial" pitchFamily="34" charset="-122"/>
                <a:cs typeface="Arial" pitchFamily="34" charset="-120"/>
              </a:rPr>
              <a:t>NexCort iQ keeps every call protected from intake to on-scene arrival.</a:t>
            </a:r>
            <a:endParaRPr lang="en-US" sz="1200" dirty="0"/>
          </a:p>
          <a:p>
            <a:pPr marL="0" indent="0">
              <a:buNone/>
            </a:pPr>
            <a:r>
              <a:rPr lang="en-US" sz="1200" dirty="0">
                <a:solidFill>
                  <a:srgbClr val="8FA3BE"/>
                </a:solidFill>
                <a:latin typeface="Arial" pitchFamily="34" charset="0"/>
                <a:ea typeface="Arial" pitchFamily="34" charset="-122"/>
                <a:cs typeface="Arial" pitchFamily="34" charset="-120"/>
              </a:rPr>
              <a:t>AI handles transcription, translation, and monitoring —</a:t>
            </a:r>
            <a:endParaRPr lang="en-US" sz="1200" dirty="0"/>
          </a:p>
          <a:p>
            <a:pPr marL="0" indent="0">
              <a:buNone/>
            </a:pPr>
            <a:r>
              <a:rPr lang="en-US" sz="1200" dirty="0">
                <a:solidFill>
                  <a:srgbClr val="8FA3BE"/>
                </a:solidFill>
                <a:latin typeface="Arial" pitchFamily="34" charset="0"/>
                <a:ea typeface="Arial" pitchFamily="34" charset="-122"/>
                <a:cs typeface="Arial" pitchFamily="34" charset="-120"/>
              </a:rPr>
              <a:t>so dispatchers focus on the caller, not the software.</a:t>
            </a:r>
            <a:endParaRPr lang="en-US" sz="1200" dirty="0"/>
          </a:p>
        </p:txBody>
      </p:sp>
      <p:sp>
        <p:nvSpPr>
          <p:cNvPr id="8" name="Shape 6"/>
          <p:cNvSpPr/>
          <p:nvPr/>
        </p:nvSpPr>
        <p:spPr>
          <a:xfrm>
            <a:off x="4818886" y="560070"/>
            <a:ext cx="3749040" cy="868680"/>
          </a:xfrm>
          <a:prstGeom prst="rect">
            <a:avLst/>
          </a:prstGeom>
          <a:solidFill>
            <a:srgbClr val="0F1929"/>
          </a:solidFill>
          <a:ln w="50800">
            <a:solidFill>
              <a:srgbClr val="FF0000">
                <a:alpha val="60000"/>
              </a:srgbClr>
            </a:solidFill>
            <a:prstDash val="solid"/>
          </a:ln>
          <a:effectLst>
            <a:outerShdw blurRad="101600" dist="38100" dir="5400000" algn="bl" rotWithShape="0">
              <a:srgbClr val="000000">
                <a:alpha val="40000"/>
              </a:srgbClr>
            </a:outerShdw>
          </a:effectLst>
        </p:spPr>
      </p:sp>
      <p:sp>
        <p:nvSpPr>
          <p:cNvPr id="9" name="Text 7"/>
          <p:cNvSpPr/>
          <p:nvPr/>
        </p:nvSpPr>
        <p:spPr>
          <a:xfrm>
            <a:off x="5001766" y="560070"/>
            <a:ext cx="347472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Live Transcription</a:t>
            </a:r>
            <a:endParaRPr lang="en-US" sz="1300" dirty="0"/>
          </a:p>
        </p:txBody>
      </p:sp>
      <p:sp>
        <p:nvSpPr>
          <p:cNvPr id="10" name="Text 8"/>
          <p:cNvSpPr/>
          <p:nvPr/>
        </p:nvSpPr>
        <p:spPr>
          <a:xfrm>
            <a:off x="5001766" y="889254"/>
            <a:ext cx="3474720" cy="347472"/>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Every word captured in real time</a:t>
            </a:r>
            <a:endParaRPr lang="en-US" sz="1000" dirty="0"/>
          </a:p>
        </p:txBody>
      </p:sp>
      <p:sp>
        <p:nvSpPr>
          <p:cNvPr id="11" name="Shape 9"/>
          <p:cNvSpPr/>
          <p:nvPr/>
        </p:nvSpPr>
        <p:spPr>
          <a:xfrm>
            <a:off x="5029200" y="1527048"/>
            <a:ext cx="3749040" cy="868680"/>
          </a:xfrm>
          <a:prstGeom prst="rect">
            <a:avLst/>
          </a:prstGeom>
          <a:solidFill>
            <a:srgbClr val="0F1929"/>
          </a:solidFill>
          <a:ln w="50800">
            <a:solidFill>
              <a:schemeClr val="bg1"/>
            </a:solidFill>
            <a:prstDash val="solid"/>
          </a:ln>
          <a:effectLst>
            <a:outerShdw blurRad="101600" dist="38100" dir="5400000" algn="bl" rotWithShape="0">
              <a:srgbClr val="000000">
                <a:alpha val="40000"/>
              </a:srgbClr>
            </a:outerShdw>
          </a:effectLst>
        </p:spPr>
      </p:sp>
      <p:sp>
        <p:nvSpPr>
          <p:cNvPr id="12" name="Text 10"/>
          <p:cNvSpPr/>
          <p:nvPr/>
        </p:nvSpPr>
        <p:spPr>
          <a:xfrm>
            <a:off x="5166360" y="1581912"/>
            <a:ext cx="3474720" cy="292608"/>
          </a:xfrm>
          <a:prstGeom prst="rect">
            <a:avLst/>
          </a:prstGeom>
          <a:noFill/>
          <a:ln/>
        </p:spPr>
        <p:txBody>
          <a:bodyPr wrap="square" lIns="0" tIns="0" rIns="0" bIns="0" rtlCol="0" anchor="ctr"/>
          <a:lstStyle/>
          <a:p>
            <a:pPr marL="0" indent="0">
              <a:buNone/>
            </a:pPr>
            <a:r>
              <a:rPr lang="en-US" sz="1300" b="1" dirty="0">
                <a:solidFill>
                  <a:srgbClr val="FF0000"/>
                </a:solidFill>
                <a:latin typeface="Arial" pitchFamily="34" charset="0"/>
                <a:ea typeface="Arial" pitchFamily="34" charset="-122"/>
                <a:cs typeface="Arial" pitchFamily="34" charset="-120"/>
              </a:rPr>
              <a:t>Live Translation</a:t>
            </a:r>
            <a:endParaRPr lang="en-US" sz="1300" dirty="0">
              <a:solidFill>
                <a:srgbClr val="FF0000"/>
              </a:solidFill>
            </a:endParaRPr>
          </a:p>
        </p:txBody>
      </p:sp>
      <p:sp>
        <p:nvSpPr>
          <p:cNvPr id="13" name="Text 11"/>
          <p:cNvSpPr/>
          <p:nvPr/>
        </p:nvSpPr>
        <p:spPr>
          <a:xfrm>
            <a:off x="5166360" y="1911096"/>
            <a:ext cx="3474720" cy="347472"/>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40+ languages, zero delay</a:t>
            </a:r>
            <a:endParaRPr lang="en-US" sz="1000" dirty="0"/>
          </a:p>
        </p:txBody>
      </p:sp>
      <p:sp>
        <p:nvSpPr>
          <p:cNvPr id="14" name="Shape 12"/>
          <p:cNvSpPr/>
          <p:nvPr/>
        </p:nvSpPr>
        <p:spPr>
          <a:xfrm>
            <a:off x="5257800" y="2564892"/>
            <a:ext cx="3749040" cy="868680"/>
          </a:xfrm>
          <a:prstGeom prst="rect">
            <a:avLst/>
          </a:prstGeom>
          <a:solidFill>
            <a:srgbClr val="0F1929"/>
          </a:solidFill>
          <a:ln w="50800">
            <a:solidFill>
              <a:srgbClr val="FF0000"/>
            </a:solidFill>
            <a:prstDash val="solid"/>
          </a:ln>
          <a:effectLst>
            <a:outerShdw blurRad="101600" dist="38100" dir="5400000" algn="bl" rotWithShape="0">
              <a:srgbClr val="000000">
                <a:alpha val="40000"/>
              </a:srgbClr>
            </a:outerShdw>
          </a:effectLst>
        </p:spPr>
      </p:sp>
      <p:sp>
        <p:nvSpPr>
          <p:cNvPr id="15" name="Text 13"/>
          <p:cNvSpPr/>
          <p:nvPr/>
        </p:nvSpPr>
        <p:spPr>
          <a:xfrm>
            <a:off x="5394960" y="2619756"/>
            <a:ext cx="347472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AI Triage Summary</a:t>
            </a:r>
            <a:endParaRPr lang="en-US" sz="1300" dirty="0"/>
          </a:p>
        </p:txBody>
      </p:sp>
      <p:sp>
        <p:nvSpPr>
          <p:cNvPr id="16" name="Text 14"/>
          <p:cNvSpPr/>
          <p:nvPr/>
        </p:nvSpPr>
        <p:spPr>
          <a:xfrm>
            <a:off x="5394960" y="2948940"/>
            <a:ext cx="3474720" cy="347472"/>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Incident type, location, hazards extracted automatically</a:t>
            </a:r>
            <a:endParaRPr lang="en-US" sz="1000" dirty="0"/>
          </a:p>
        </p:txBody>
      </p:sp>
      <p:sp>
        <p:nvSpPr>
          <p:cNvPr id="17" name="Shape 15"/>
          <p:cNvSpPr/>
          <p:nvPr/>
        </p:nvSpPr>
        <p:spPr>
          <a:xfrm>
            <a:off x="4892040" y="3566160"/>
            <a:ext cx="3749040" cy="868680"/>
          </a:xfrm>
          <a:prstGeom prst="rect">
            <a:avLst/>
          </a:prstGeom>
          <a:solidFill>
            <a:srgbClr val="0F1929"/>
          </a:solidFill>
          <a:ln w="50800">
            <a:solidFill>
              <a:schemeClr val="bg1">
                <a:lumMod val="95000"/>
              </a:schemeClr>
            </a:solidFill>
            <a:prstDash val="solid"/>
          </a:ln>
          <a:effectLst>
            <a:outerShdw blurRad="101600" dist="38100" dir="5400000" algn="bl" rotWithShape="0">
              <a:srgbClr val="000000">
                <a:alpha val="40000"/>
              </a:srgbClr>
            </a:outerShdw>
          </a:effectLst>
        </p:spPr>
      </p:sp>
      <p:sp>
        <p:nvSpPr>
          <p:cNvPr id="18" name="Text 16"/>
          <p:cNvSpPr/>
          <p:nvPr/>
        </p:nvSpPr>
        <p:spPr>
          <a:xfrm>
            <a:off x="5029200" y="3621024"/>
            <a:ext cx="3474720" cy="292608"/>
          </a:xfrm>
          <a:prstGeom prst="rect">
            <a:avLst/>
          </a:prstGeom>
          <a:noFill/>
          <a:ln/>
        </p:spPr>
        <p:txBody>
          <a:bodyPr wrap="square" lIns="0" tIns="0" rIns="0" bIns="0" rtlCol="0" anchor="ctr"/>
          <a:lstStyle/>
          <a:p>
            <a:pPr marL="0" indent="0">
              <a:buNone/>
            </a:pPr>
            <a:r>
              <a:rPr lang="en-US" sz="1300" b="1" dirty="0">
                <a:solidFill>
                  <a:srgbClr val="FF0000"/>
                </a:solidFill>
                <a:latin typeface="Arial" pitchFamily="34" charset="0"/>
                <a:ea typeface="Arial" pitchFamily="34" charset="-122"/>
                <a:cs typeface="Arial" pitchFamily="34" charset="-120"/>
              </a:rPr>
              <a:t>Response Continuity (RCS)</a:t>
            </a:r>
            <a:endParaRPr lang="en-US" sz="1300" dirty="0">
              <a:solidFill>
                <a:srgbClr val="FF0000"/>
              </a:solidFill>
            </a:endParaRPr>
          </a:p>
        </p:txBody>
      </p:sp>
      <p:sp>
        <p:nvSpPr>
          <p:cNvPr id="19" name="Text 17"/>
          <p:cNvSpPr/>
          <p:nvPr/>
        </p:nvSpPr>
        <p:spPr>
          <a:xfrm>
            <a:off x="5029200" y="3950208"/>
            <a:ext cx="3474720" cy="347472"/>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No call closed until a unit is GPS-confirmed on scene</a:t>
            </a:r>
            <a:endParaRPr lang="en-US" sz="1000" dirty="0"/>
          </a:p>
        </p:txBody>
      </p:sp>
      <p:sp>
        <p:nvSpPr>
          <p:cNvPr id="20" name="Shape 0">
            <a:extLst>
              <a:ext uri="{FF2B5EF4-FFF2-40B4-BE49-F238E27FC236}">
                <a16:creationId xmlns:a16="http://schemas.microsoft.com/office/drawing/2014/main" id="{7B05565D-31FA-DA97-A65A-ADD3E574CC21}"/>
              </a:ext>
            </a:extLst>
          </p:cNvPr>
          <p:cNvSpPr/>
          <p:nvPr/>
        </p:nvSpPr>
        <p:spPr>
          <a:xfrm>
            <a:off x="0" y="5088636"/>
            <a:ext cx="9144000" cy="54864"/>
          </a:xfrm>
          <a:prstGeom prst="rect">
            <a:avLst/>
          </a:prstGeom>
          <a:solidFill>
            <a:schemeClr val="bg1"/>
          </a:solidFill>
          <a:ln w="12700">
            <a:noFill/>
            <a:prstDash val="solid"/>
          </a:ln>
        </p:spPr>
      </p:sp>
      <p:sp>
        <p:nvSpPr>
          <p:cNvPr id="21" name="Shape 0">
            <a:extLst>
              <a:ext uri="{FF2B5EF4-FFF2-40B4-BE49-F238E27FC236}">
                <a16:creationId xmlns:a16="http://schemas.microsoft.com/office/drawing/2014/main" id="{ABD3F09D-1566-F2C7-4226-DAEDB2518339}"/>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2" name="Shape 0">
            <a:extLst>
              <a:ext uri="{FF2B5EF4-FFF2-40B4-BE49-F238E27FC236}">
                <a16:creationId xmlns:a16="http://schemas.microsoft.com/office/drawing/2014/main" id="{B25101B4-8D3F-422B-EE9F-1DC25030E00B}"/>
              </a:ext>
            </a:extLst>
          </p:cNvPr>
          <p:cNvSpPr/>
          <p:nvPr/>
        </p:nvSpPr>
        <p:spPr>
          <a:xfrm rot="5400000">
            <a:off x="-2576323" y="2553462"/>
            <a:ext cx="5152644" cy="45719"/>
          </a:xfrm>
          <a:prstGeom prst="rect">
            <a:avLst/>
          </a:prstGeom>
          <a:solidFill>
            <a:srgbClr val="FF0000"/>
          </a:solidFill>
          <a:ln w="12700">
            <a:noFill/>
            <a:prstDash val="solid"/>
          </a:ln>
        </p:spPr>
      </p:sp>
      <p:sp>
        <p:nvSpPr>
          <p:cNvPr id="23" name="Shape 0">
            <a:extLst>
              <a:ext uri="{FF2B5EF4-FFF2-40B4-BE49-F238E27FC236}">
                <a16:creationId xmlns:a16="http://schemas.microsoft.com/office/drawing/2014/main" id="{F7ABBE17-A8CF-C69D-7527-3E73537BFF10}"/>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E18"/>
        </a:solidFill>
        <a:effectLst/>
      </p:bgPr>
    </p:bg>
    <p:spTree>
      <p:nvGrpSpPr>
        <p:cNvPr id="1" name=""/>
        <p:cNvGrpSpPr/>
        <p:nvPr/>
      </p:nvGrpSpPr>
      <p:grpSpPr>
        <a:xfrm>
          <a:off x="0" y="0"/>
          <a:ext cx="0" cy="0"/>
          <a:chOff x="0" y="0"/>
          <a:chExt cx="0" cy="0"/>
        </a:xfrm>
      </p:grpSpPr>
      <p:sp>
        <p:nvSpPr>
          <p:cNvPr id="3" name="Shape 1"/>
          <p:cNvSpPr/>
          <p:nvPr/>
        </p:nvSpPr>
        <p:spPr>
          <a:xfrm>
            <a:off x="457200" y="274320"/>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502920" y="274320"/>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OUR SOLUTION</a:t>
            </a:r>
            <a:endParaRPr lang="en-US" sz="700" dirty="0"/>
          </a:p>
        </p:txBody>
      </p:sp>
      <p:sp>
        <p:nvSpPr>
          <p:cNvPr id="5" name="Text 3"/>
          <p:cNvSpPr/>
          <p:nvPr/>
        </p:nvSpPr>
        <p:spPr>
          <a:xfrm>
            <a:off x="457200" y="594360"/>
            <a:ext cx="8229600" cy="475488"/>
          </a:xfrm>
          <a:prstGeom prst="rect">
            <a:avLst/>
          </a:prstGeom>
          <a:noFill/>
          <a:ln/>
        </p:spPr>
        <p:txBody>
          <a:bodyPr wrap="square" lIns="0" tIns="0" rIns="0" bIns="0" rtlCol="0" anchor="ctr"/>
          <a:lstStyle/>
          <a:p>
            <a:pPr marL="0" indent="0">
              <a:buNone/>
            </a:pPr>
            <a:r>
              <a:rPr lang="en-US" sz="1500" kern="0" spc="600" dirty="0">
                <a:solidFill>
                  <a:srgbClr val="8FA3BE"/>
                </a:solidFill>
                <a:latin typeface="Arial" pitchFamily="34" charset="0"/>
                <a:ea typeface="Arial" pitchFamily="34" charset="-122"/>
                <a:cs typeface="Arial" pitchFamily="34" charset="-120"/>
              </a:rPr>
              <a:t>INTRODUCING</a:t>
            </a:r>
            <a:endParaRPr lang="en-US" sz="1500" dirty="0"/>
          </a:p>
        </p:txBody>
      </p:sp>
      <p:sp>
        <p:nvSpPr>
          <p:cNvPr id="6" name="Text 4"/>
          <p:cNvSpPr/>
          <p:nvPr/>
        </p:nvSpPr>
        <p:spPr>
          <a:xfrm>
            <a:off x="457200" y="1005840"/>
            <a:ext cx="8229600" cy="868680"/>
          </a:xfrm>
          <a:prstGeom prst="rect">
            <a:avLst/>
          </a:prstGeom>
          <a:noFill/>
          <a:ln/>
        </p:spPr>
        <p:txBody>
          <a:bodyPr wrap="square" lIns="0" tIns="0" rIns="0" bIns="0" rtlCol="0" anchor="ctr"/>
          <a:lstStyle/>
          <a:p>
            <a:pPr marL="0" indent="0">
              <a:buNone/>
            </a:pPr>
            <a:r>
              <a:rPr lang="en-US" sz="5800" b="1" dirty="0">
                <a:solidFill>
                  <a:srgbClr val="FFFFFF"/>
                </a:solidFill>
                <a:latin typeface="Arial" pitchFamily="34" charset="0"/>
                <a:ea typeface="Arial" pitchFamily="34" charset="-122"/>
                <a:cs typeface="Arial" pitchFamily="34" charset="-120"/>
              </a:rPr>
              <a:t>NEXCORT IQ</a:t>
            </a:r>
            <a:endParaRPr lang="en-US" sz="5800" dirty="0"/>
          </a:p>
        </p:txBody>
      </p:sp>
      <p:sp>
        <p:nvSpPr>
          <p:cNvPr id="7" name="Text 5"/>
          <p:cNvSpPr/>
          <p:nvPr/>
        </p:nvSpPr>
        <p:spPr>
          <a:xfrm>
            <a:off x="457200" y="2011680"/>
            <a:ext cx="8229600" cy="914400"/>
          </a:xfrm>
          <a:prstGeom prst="rect">
            <a:avLst/>
          </a:prstGeom>
          <a:noFill/>
          <a:ln/>
        </p:spPr>
        <p:txBody>
          <a:bodyPr wrap="square" lIns="0" tIns="0" rIns="0" bIns="0" rtlCol="0" anchor="ctr"/>
          <a:lstStyle/>
          <a:p>
            <a:pPr marL="0" indent="0" algn="ctr">
              <a:buNone/>
            </a:pPr>
            <a:r>
              <a:rPr lang="en-US" sz="1400" dirty="0">
                <a:solidFill>
                  <a:srgbClr val="8FA3BE"/>
                </a:solidFill>
                <a:latin typeface="Arial" pitchFamily="34" charset="0"/>
                <a:ea typeface="Arial" pitchFamily="34" charset="-122"/>
                <a:cs typeface="Arial" pitchFamily="34" charset="-120"/>
              </a:rPr>
              <a:t>92 features across 14 operational domains — built for</a:t>
            </a:r>
            <a:endParaRPr lang="en-US" sz="1400" dirty="0"/>
          </a:p>
          <a:p>
            <a:pPr marL="0" indent="0" algn="ctr">
              <a:buNone/>
            </a:pPr>
            <a:r>
              <a:rPr lang="en-US" sz="1400" dirty="0">
                <a:solidFill>
                  <a:srgbClr val="8FA3BE"/>
                </a:solidFill>
                <a:latin typeface="Arial" pitchFamily="34" charset="0"/>
                <a:ea typeface="Arial" pitchFamily="34" charset="-122"/>
                <a:cs typeface="Arial" pitchFamily="34" charset="-120"/>
              </a:rPr>
              <a:t>911 dispatch centers, campus safety, venue operations, hospitals, transit authorities, and emergency management agencies</a:t>
            </a:r>
            <a:endParaRPr lang="en-US" sz="1400" dirty="0"/>
          </a:p>
        </p:txBody>
      </p:sp>
      <p:sp>
        <p:nvSpPr>
          <p:cNvPr id="8" name="Shape 6"/>
          <p:cNvSpPr/>
          <p:nvPr/>
        </p:nvSpPr>
        <p:spPr>
          <a:xfrm>
            <a:off x="411480" y="3154680"/>
            <a:ext cx="2697480" cy="1554480"/>
          </a:xfrm>
          <a:prstGeom prst="rect">
            <a:avLst/>
          </a:prstGeom>
          <a:solidFill>
            <a:srgbClr val="111A2B"/>
          </a:solidFill>
          <a:ln w="12700">
            <a:solidFill>
              <a:srgbClr val="C8102E">
                <a:alpha val="50000"/>
              </a:srgbClr>
            </a:solidFill>
            <a:prstDash val="solid"/>
          </a:ln>
          <a:effectLst>
            <a:outerShdw blurRad="127000" dist="38100" dir="5400000" algn="bl" rotWithShape="0">
              <a:srgbClr val="000000">
                <a:alpha val="45000"/>
              </a:srgbClr>
            </a:outerShdw>
          </a:effectLst>
        </p:spPr>
      </p:sp>
      <p:sp>
        <p:nvSpPr>
          <p:cNvPr id="9" name="Shape 7"/>
          <p:cNvSpPr/>
          <p:nvPr/>
        </p:nvSpPr>
        <p:spPr>
          <a:xfrm>
            <a:off x="411480" y="3154680"/>
            <a:ext cx="2697480" cy="54864"/>
          </a:xfrm>
          <a:prstGeom prst="rect">
            <a:avLst/>
          </a:prstGeom>
          <a:solidFill>
            <a:srgbClr val="C8102E"/>
          </a:solidFill>
          <a:ln w="12700">
            <a:solidFill>
              <a:srgbClr val="C8102E"/>
            </a:solidFill>
            <a:prstDash val="solid"/>
          </a:ln>
        </p:spPr>
      </p:sp>
      <p:sp>
        <p:nvSpPr>
          <p:cNvPr id="10" name="Text 8"/>
          <p:cNvSpPr/>
          <p:nvPr/>
        </p:nvSpPr>
        <p:spPr>
          <a:xfrm>
            <a:off x="576072" y="3291840"/>
            <a:ext cx="2377440" cy="411480"/>
          </a:xfrm>
          <a:prstGeom prst="rect">
            <a:avLst/>
          </a:prstGeom>
          <a:noFill/>
          <a:ln/>
        </p:spPr>
        <p:txBody>
          <a:bodyPr wrap="square" lIns="0" tIns="0" rIns="0" bIns="0" rtlCol="0" anchor="ctr"/>
          <a:lstStyle/>
          <a:p>
            <a:pPr marL="0" indent="0">
              <a:buNone/>
            </a:pPr>
            <a:r>
              <a:rPr lang="en-US" sz="2200" b="1" dirty="0">
                <a:solidFill>
                  <a:srgbClr val="C8102E"/>
                </a:solidFill>
                <a:latin typeface="Arial" pitchFamily="34" charset="0"/>
                <a:ea typeface="Arial" pitchFamily="34" charset="-122"/>
                <a:cs typeface="Arial" pitchFamily="34" charset="-120"/>
              </a:rPr>
              <a:t>HEAR</a:t>
            </a:r>
            <a:endParaRPr lang="en-US" sz="2200" dirty="0"/>
          </a:p>
        </p:txBody>
      </p:sp>
      <p:sp>
        <p:nvSpPr>
          <p:cNvPr id="11" name="Text 9"/>
          <p:cNvSpPr/>
          <p:nvPr/>
        </p:nvSpPr>
        <p:spPr>
          <a:xfrm>
            <a:off x="576072" y="3749040"/>
            <a:ext cx="2377440" cy="777240"/>
          </a:xfrm>
          <a:prstGeom prst="rect">
            <a:avLst/>
          </a:prstGeom>
          <a:noFill/>
          <a:ln/>
        </p:spPr>
        <p:txBody>
          <a:bodyPr wrap="square" lIns="0" tIns="0" rIns="0" bIns="0" rtlCol="0" anchor="ctr"/>
          <a:lstStyle/>
          <a:p>
            <a:pPr marL="0" indent="0">
              <a:buNone/>
            </a:pPr>
            <a:r>
              <a:rPr lang="en-US" sz="1050" dirty="0">
                <a:solidFill>
                  <a:srgbClr val="8FA3BE"/>
                </a:solidFill>
                <a:latin typeface="Arial" pitchFamily="34" charset="0"/>
                <a:ea typeface="Arial" pitchFamily="34" charset="-122"/>
                <a:cs typeface="Arial" pitchFamily="34" charset="-120"/>
              </a:rPr>
              <a:t>Real-time transcription &amp; translation in 40+ languages</a:t>
            </a:r>
            <a:endParaRPr lang="en-US" sz="1050" dirty="0"/>
          </a:p>
        </p:txBody>
      </p:sp>
      <p:sp>
        <p:nvSpPr>
          <p:cNvPr id="12" name="Shape 10"/>
          <p:cNvSpPr/>
          <p:nvPr/>
        </p:nvSpPr>
        <p:spPr>
          <a:xfrm>
            <a:off x="3319272" y="3154680"/>
            <a:ext cx="2697480" cy="1554480"/>
          </a:xfrm>
          <a:prstGeom prst="rect">
            <a:avLst/>
          </a:prstGeom>
          <a:solidFill>
            <a:srgbClr val="111A2B"/>
          </a:solidFill>
          <a:ln w="12700">
            <a:solidFill>
              <a:srgbClr val="4FB3F0">
                <a:alpha val="50000"/>
              </a:srgbClr>
            </a:solidFill>
            <a:prstDash val="solid"/>
          </a:ln>
          <a:effectLst>
            <a:outerShdw blurRad="127000" dist="38100" dir="5400000" algn="bl" rotWithShape="0">
              <a:srgbClr val="000000">
                <a:alpha val="45000"/>
              </a:srgbClr>
            </a:outerShdw>
          </a:effectLst>
        </p:spPr>
      </p:sp>
      <p:sp>
        <p:nvSpPr>
          <p:cNvPr id="13" name="Shape 11"/>
          <p:cNvSpPr/>
          <p:nvPr/>
        </p:nvSpPr>
        <p:spPr>
          <a:xfrm>
            <a:off x="3319272" y="3154680"/>
            <a:ext cx="2697480" cy="54864"/>
          </a:xfrm>
          <a:prstGeom prst="rect">
            <a:avLst/>
          </a:prstGeom>
          <a:solidFill>
            <a:srgbClr val="4FB3F0"/>
          </a:solidFill>
          <a:ln w="12700">
            <a:solidFill>
              <a:srgbClr val="4FB3F0"/>
            </a:solidFill>
            <a:prstDash val="solid"/>
          </a:ln>
        </p:spPr>
      </p:sp>
      <p:sp>
        <p:nvSpPr>
          <p:cNvPr id="14" name="Text 12"/>
          <p:cNvSpPr/>
          <p:nvPr/>
        </p:nvSpPr>
        <p:spPr>
          <a:xfrm>
            <a:off x="3483864" y="3291840"/>
            <a:ext cx="2377440" cy="411480"/>
          </a:xfrm>
          <a:prstGeom prst="rect">
            <a:avLst/>
          </a:prstGeom>
          <a:noFill/>
          <a:ln/>
        </p:spPr>
        <p:txBody>
          <a:bodyPr wrap="square" lIns="0" tIns="0" rIns="0" bIns="0" rtlCol="0" anchor="ctr"/>
          <a:lstStyle/>
          <a:p>
            <a:pPr marL="0" indent="0">
              <a:buNone/>
            </a:pPr>
            <a:r>
              <a:rPr lang="en-US" sz="2200" b="1" dirty="0">
                <a:solidFill>
                  <a:srgbClr val="4FB3F0"/>
                </a:solidFill>
                <a:latin typeface="Arial" pitchFamily="34" charset="0"/>
                <a:ea typeface="Arial" pitchFamily="34" charset="-122"/>
                <a:cs typeface="Arial" pitchFamily="34" charset="-120"/>
              </a:rPr>
              <a:t>UNDERSTAND</a:t>
            </a:r>
            <a:endParaRPr lang="en-US" sz="2200" dirty="0"/>
          </a:p>
        </p:txBody>
      </p:sp>
      <p:sp>
        <p:nvSpPr>
          <p:cNvPr id="15" name="Text 13"/>
          <p:cNvSpPr/>
          <p:nvPr/>
        </p:nvSpPr>
        <p:spPr>
          <a:xfrm>
            <a:off x="3483864" y="3749040"/>
            <a:ext cx="2377440" cy="777240"/>
          </a:xfrm>
          <a:prstGeom prst="rect">
            <a:avLst/>
          </a:prstGeom>
          <a:noFill/>
          <a:ln/>
        </p:spPr>
        <p:txBody>
          <a:bodyPr wrap="square" lIns="0" tIns="0" rIns="0" bIns="0" rtlCol="0" anchor="ctr"/>
          <a:lstStyle/>
          <a:p>
            <a:pPr marL="0" indent="0">
              <a:buNone/>
            </a:pPr>
            <a:r>
              <a:rPr lang="en-US" sz="1050" dirty="0">
                <a:solidFill>
                  <a:srgbClr val="8FA3BE"/>
                </a:solidFill>
                <a:latin typeface="Arial" pitchFamily="34" charset="0"/>
                <a:ea typeface="Arial" pitchFamily="34" charset="-122"/>
                <a:cs typeface="Arial" pitchFamily="34" charset="-120"/>
              </a:rPr>
              <a:t>AI-powered triage, extraction &amp; confidence scoring</a:t>
            </a:r>
            <a:endParaRPr lang="en-US" sz="1050" dirty="0"/>
          </a:p>
        </p:txBody>
      </p:sp>
      <p:sp>
        <p:nvSpPr>
          <p:cNvPr id="16" name="Shape 14"/>
          <p:cNvSpPr/>
          <p:nvPr/>
        </p:nvSpPr>
        <p:spPr>
          <a:xfrm>
            <a:off x="6227064" y="3154680"/>
            <a:ext cx="2697480" cy="1554480"/>
          </a:xfrm>
          <a:prstGeom prst="rect">
            <a:avLst/>
          </a:prstGeom>
          <a:solidFill>
            <a:srgbClr val="111A2B"/>
          </a:solidFill>
          <a:ln w="12700">
            <a:solidFill>
              <a:srgbClr val="1B6FD8">
                <a:alpha val="50000"/>
              </a:srgbClr>
            </a:solidFill>
            <a:prstDash val="solid"/>
          </a:ln>
          <a:effectLst>
            <a:outerShdw blurRad="127000" dist="38100" dir="5400000" algn="bl" rotWithShape="0">
              <a:srgbClr val="000000">
                <a:alpha val="45000"/>
              </a:srgbClr>
            </a:outerShdw>
          </a:effectLst>
        </p:spPr>
      </p:sp>
      <p:sp>
        <p:nvSpPr>
          <p:cNvPr id="17" name="Shape 15"/>
          <p:cNvSpPr/>
          <p:nvPr/>
        </p:nvSpPr>
        <p:spPr>
          <a:xfrm>
            <a:off x="6227064" y="3154680"/>
            <a:ext cx="2697480" cy="54864"/>
          </a:xfrm>
          <a:prstGeom prst="rect">
            <a:avLst/>
          </a:prstGeom>
          <a:solidFill>
            <a:srgbClr val="1B6FD8"/>
          </a:solidFill>
          <a:ln w="12700">
            <a:solidFill>
              <a:srgbClr val="1B6FD8"/>
            </a:solidFill>
            <a:prstDash val="solid"/>
          </a:ln>
        </p:spPr>
      </p:sp>
      <p:sp>
        <p:nvSpPr>
          <p:cNvPr id="18" name="Text 16"/>
          <p:cNvSpPr/>
          <p:nvPr/>
        </p:nvSpPr>
        <p:spPr>
          <a:xfrm>
            <a:off x="6391656" y="3291840"/>
            <a:ext cx="2377440" cy="411480"/>
          </a:xfrm>
          <a:prstGeom prst="rect">
            <a:avLst/>
          </a:prstGeom>
          <a:noFill/>
          <a:ln/>
        </p:spPr>
        <p:txBody>
          <a:bodyPr wrap="square" lIns="0" tIns="0" rIns="0" bIns="0" rtlCol="0" anchor="ctr"/>
          <a:lstStyle/>
          <a:p>
            <a:pPr marL="0" indent="0">
              <a:buNone/>
            </a:pPr>
            <a:r>
              <a:rPr lang="en-US" sz="2200" b="1" dirty="0">
                <a:solidFill>
                  <a:srgbClr val="1B6FD8"/>
                </a:solidFill>
                <a:latin typeface="Arial" pitchFamily="34" charset="0"/>
                <a:ea typeface="Arial" pitchFamily="34" charset="-122"/>
                <a:cs typeface="Arial" pitchFamily="34" charset="-120"/>
              </a:rPr>
              <a:t>PROTECT</a:t>
            </a:r>
            <a:endParaRPr lang="en-US" sz="2200" dirty="0"/>
          </a:p>
        </p:txBody>
      </p:sp>
      <p:sp>
        <p:nvSpPr>
          <p:cNvPr id="19" name="Text 17"/>
          <p:cNvSpPr/>
          <p:nvPr/>
        </p:nvSpPr>
        <p:spPr>
          <a:xfrm>
            <a:off x="6391656" y="3749040"/>
            <a:ext cx="2377440" cy="777240"/>
          </a:xfrm>
          <a:prstGeom prst="rect">
            <a:avLst/>
          </a:prstGeom>
          <a:noFill/>
          <a:ln/>
        </p:spPr>
        <p:txBody>
          <a:bodyPr wrap="square" lIns="0" tIns="0" rIns="0" bIns="0" rtlCol="0" anchor="ctr"/>
          <a:lstStyle/>
          <a:p>
            <a:pPr marL="0" indent="0">
              <a:buNone/>
            </a:pPr>
            <a:r>
              <a:rPr lang="en-US" sz="1050" dirty="0">
                <a:solidFill>
                  <a:srgbClr val="8FA3BE"/>
                </a:solidFill>
                <a:latin typeface="Arial" pitchFamily="34" charset="0"/>
                <a:ea typeface="Arial" pitchFamily="34" charset="-122"/>
                <a:cs typeface="Arial" pitchFamily="34" charset="-120"/>
              </a:rPr>
              <a:t>Supervisor dashboards, live video &amp; incident command</a:t>
            </a:r>
            <a:endParaRPr lang="en-US" sz="1050" dirty="0"/>
          </a:p>
        </p:txBody>
      </p:sp>
      <p:sp>
        <p:nvSpPr>
          <p:cNvPr id="20" name="Shape 0">
            <a:extLst>
              <a:ext uri="{FF2B5EF4-FFF2-40B4-BE49-F238E27FC236}">
                <a16:creationId xmlns:a16="http://schemas.microsoft.com/office/drawing/2014/main" id="{E961A783-98BB-9C01-A41C-08F4D12ACF7A}"/>
              </a:ext>
            </a:extLst>
          </p:cNvPr>
          <p:cNvSpPr/>
          <p:nvPr/>
        </p:nvSpPr>
        <p:spPr>
          <a:xfrm>
            <a:off x="0" y="5088636"/>
            <a:ext cx="9144000" cy="54864"/>
          </a:xfrm>
          <a:prstGeom prst="rect">
            <a:avLst/>
          </a:prstGeom>
          <a:solidFill>
            <a:schemeClr val="bg1"/>
          </a:solidFill>
          <a:ln w="12700">
            <a:noFill/>
            <a:prstDash val="solid"/>
          </a:ln>
        </p:spPr>
      </p:sp>
      <p:sp>
        <p:nvSpPr>
          <p:cNvPr id="21" name="Shape 0">
            <a:extLst>
              <a:ext uri="{FF2B5EF4-FFF2-40B4-BE49-F238E27FC236}">
                <a16:creationId xmlns:a16="http://schemas.microsoft.com/office/drawing/2014/main" id="{7DF6DA37-1AFB-D4F7-3286-302F21F0E885}"/>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2" name="Shape 0">
            <a:extLst>
              <a:ext uri="{FF2B5EF4-FFF2-40B4-BE49-F238E27FC236}">
                <a16:creationId xmlns:a16="http://schemas.microsoft.com/office/drawing/2014/main" id="{A06575F2-EEC1-7666-4112-682FC9679F80}"/>
              </a:ext>
            </a:extLst>
          </p:cNvPr>
          <p:cNvSpPr/>
          <p:nvPr/>
        </p:nvSpPr>
        <p:spPr>
          <a:xfrm rot="5400000">
            <a:off x="-2576323" y="2553462"/>
            <a:ext cx="5152644" cy="45719"/>
          </a:xfrm>
          <a:prstGeom prst="rect">
            <a:avLst/>
          </a:prstGeom>
          <a:solidFill>
            <a:srgbClr val="FF0000"/>
          </a:solidFill>
          <a:ln w="12700">
            <a:noFill/>
            <a:prstDash val="solid"/>
          </a:ln>
        </p:spPr>
      </p:sp>
      <p:sp>
        <p:nvSpPr>
          <p:cNvPr id="23" name="Shape 0">
            <a:extLst>
              <a:ext uri="{FF2B5EF4-FFF2-40B4-BE49-F238E27FC236}">
                <a16:creationId xmlns:a16="http://schemas.microsoft.com/office/drawing/2014/main" id="{5D9993FF-DFE1-4825-A1AD-EE1801988669}"/>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60A0F"/>
        </a:solidFill>
        <a:effectLst/>
      </p:bgPr>
    </p:bg>
    <p:spTree>
      <p:nvGrpSpPr>
        <p:cNvPr id="1" name=""/>
        <p:cNvGrpSpPr/>
        <p:nvPr/>
      </p:nvGrpSpPr>
      <p:grpSpPr>
        <a:xfrm>
          <a:off x="0" y="0"/>
          <a:ext cx="0" cy="0"/>
          <a:chOff x="0" y="0"/>
          <a:chExt cx="0" cy="0"/>
        </a:xfrm>
      </p:grpSpPr>
      <p:sp>
        <p:nvSpPr>
          <p:cNvPr id="2" name="Shape 0"/>
          <p:cNvSpPr/>
          <p:nvPr/>
        </p:nvSpPr>
        <p:spPr>
          <a:xfrm>
            <a:off x="457200" y="228600"/>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3" name="Text 1"/>
          <p:cNvSpPr/>
          <p:nvPr/>
        </p:nvSpPr>
        <p:spPr>
          <a:xfrm>
            <a:off x="502920" y="228600"/>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PLATFORM FEATURES</a:t>
            </a:r>
            <a:endParaRPr lang="en-US" sz="700" dirty="0"/>
          </a:p>
        </p:txBody>
      </p:sp>
      <p:sp>
        <p:nvSpPr>
          <p:cNvPr id="4" name="Text 2"/>
          <p:cNvSpPr/>
          <p:nvPr/>
        </p:nvSpPr>
        <p:spPr>
          <a:xfrm>
            <a:off x="109728" y="502920"/>
            <a:ext cx="8577072"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92 FEATURES · 14 DOMAINS · 5 VERTICALS</a:t>
            </a:r>
            <a:endParaRPr lang="en-US" sz="2800" dirty="0"/>
          </a:p>
        </p:txBody>
      </p:sp>
      <p:sp>
        <p:nvSpPr>
          <p:cNvPr id="5" name="Shape 3"/>
          <p:cNvSpPr/>
          <p:nvPr/>
        </p:nvSpPr>
        <p:spPr>
          <a:xfrm>
            <a:off x="384048" y="1298448"/>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6" name="Shape 4"/>
          <p:cNvSpPr/>
          <p:nvPr/>
        </p:nvSpPr>
        <p:spPr>
          <a:xfrm>
            <a:off x="548640" y="1481328"/>
            <a:ext cx="402336" cy="402336"/>
          </a:xfrm>
          <a:prstGeom prst="ellipse">
            <a:avLst/>
          </a:prstGeom>
          <a:solidFill>
            <a:srgbClr val="C8102E">
              <a:alpha val="20000"/>
            </a:srgbClr>
          </a:solidFill>
          <a:ln w="12700">
            <a:solidFill>
              <a:srgbClr val="C8102E">
                <a:alpha val="60000"/>
              </a:srgbClr>
            </a:solidFill>
            <a:prstDash val="solid"/>
          </a:ln>
        </p:spPr>
      </p:sp>
      <p:pic>
        <p:nvPicPr>
          <p:cNvPr id="7" name="Image 0" descr="preencoded.png"/>
          <p:cNvPicPr>
            <a:picLocks noChangeAspect="1"/>
          </p:cNvPicPr>
          <p:nvPr/>
        </p:nvPicPr>
        <p:blipFill>
          <a:blip r:embed="rId3"/>
          <a:stretch>
            <a:fillRect/>
          </a:stretch>
        </p:blipFill>
        <p:spPr>
          <a:xfrm>
            <a:off x="585216" y="1517904"/>
            <a:ext cx="329184" cy="329184"/>
          </a:xfrm>
          <a:prstGeom prst="rect">
            <a:avLst/>
          </a:prstGeom>
        </p:spPr>
      </p:pic>
      <p:sp>
        <p:nvSpPr>
          <p:cNvPr id="8" name="Text 5"/>
          <p:cNvSpPr/>
          <p:nvPr/>
        </p:nvSpPr>
        <p:spPr>
          <a:xfrm>
            <a:off x="104241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 Transcription</a:t>
            </a:r>
            <a:endParaRPr lang="en-US" sz="1200" dirty="0"/>
          </a:p>
        </p:txBody>
      </p:sp>
      <p:sp>
        <p:nvSpPr>
          <p:cNvPr id="9" name="Text 6"/>
          <p:cNvSpPr/>
          <p:nvPr/>
        </p:nvSpPr>
        <p:spPr>
          <a:xfrm>
            <a:off x="54864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Real-time speech-to-text with &lt; 2 sec latency</a:t>
            </a:r>
            <a:endParaRPr lang="en-US" sz="1000" dirty="0"/>
          </a:p>
        </p:txBody>
      </p:sp>
      <p:sp>
        <p:nvSpPr>
          <p:cNvPr id="10" name="Shape 7"/>
          <p:cNvSpPr/>
          <p:nvPr/>
        </p:nvSpPr>
        <p:spPr>
          <a:xfrm>
            <a:off x="3310128" y="1298448"/>
            <a:ext cx="2651760" cy="1554480"/>
          </a:xfrm>
          <a:prstGeom prst="rect">
            <a:avLst/>
          </a:prstGeom>
          <a:solidFill>
            <a:srgbClr val="111A2B"/>
          </a:solidFill>
          <a:ln w="12700">
            <a:solidFill>
              <a:srgbClr val="4FB3F0">
                <a:alpha val="38000"/>
              </a:srgbClr>
            </a:solidFill>
            <a:prstDash val="solid"/>
          </a:ln>
          <a:effectLst>
            <a:outerShdw blurRad="127000" dist="38100" dir="5400000" algn="bl" rotWithShape="0">
              <a:srgbClr val="000000">
                <a:alpha val="40000"/>
              </a:srgbClr>
            </a:outerShdw>
          </a:effectLst>
        </p:spPr>
      </p:sp>
      <p:sp>
        <p:nvSpPr>
          <p:cNvPr id="11" name="Shape 8"/>
          <p:cNvSpPr/>
          <p:nvPr/>
        </p:nvSpPr>
        <p:spPr>
          <a:xfrm>
            <a:off x="3474720" y="1481328"/>
            <a:ext cx="402336" cy="402336"/>
          </a:xfrm>
          <a:prstGeom prst="ellipse">
            <a:avLst/>
          </a:prstGeom>
          <a:solidFill>
            <a:srgbClr val="4FB3F0">
              <a:alpha val="20000"/>
            </a:srgbClr>
          </a:solidFill>
          <a:ln w="12700">
            <a:solidFill>
              <a:srgbClr val="4FB3F0">
                <a:alpha val="60000"/>
              </a:srgbClr>
            </a:solidFill>
            <a:prstDash val="solid"/>
          </a:ln>
        </p:spPr>
      </p:sp>
      <p:pic>
        <p:nvPicPr>
          <p:cNvPr id="12" name="Image 1" descr="preencoded.png"/>
          <p:cNvPicPr>
            <a:picLocks noChangeAspect="1"/>
          </p:cNvPicPr>
          <p:nvPr/>
        </p:nvPicPr>
        <p:blipFill>
          <a:blip r:embed="rId4"/>
          <a:stretch>
            <a:fillRect/>
          </a:stretch>
        </p:blipFill>
        <p:spPr>
          <a:xfrm>
            <a:off x="3511296" y="1517904"/>
            <a:ext cx="329184" cy="329184"/>
          </a:xfrm>
          <a:prstGeom prst="rect">
            <a:avLst/>
          </a:prstGeom>
        </p:spPr>
      </p:pic>
      <p:sp>
        <p:nvSpPr>
          <p:cNvPr id="13" name="Text 9"/>
          <p:cNvSpPr/>
          <p:nvPr/>
        </p:nvSpPr>
        <p:spPr>
          <a:xfrm>
            <a:off x="396849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 Translation</a:t>
            </a:r>
            <a:endParaRPr lang="en-US" sz="1200" dirty="0"/>
          </a:p>
        </p:txBody>
      </p:sp>
      <p:sp>
        <p:nvSpPr>
          <p:cNvPr id="14" name="Text 10"/>
          <p:cNvSpPr/>
          <p:nvPr/>
        </p:nvSpPr>
        <p:spPr>
          <a:xfrm>
            <a:off x="347472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40+ languages with auto-detection &amp; confidence</a:t>
            </a:r>
            <a:endParaRPr lang="en-US" sz="1000" dirty="0"/>
          </a:p>
        </p:txBody>
      </p:sp>
      <p:sp>
        <p:nvSpPr>
          <p:cNvPr id="15" name="Shape 11"/>
          <p:cNvSpPr/>
          <p:nvPr/>
        </p:nvSpPr>
        <p:spPr>
          <a:xfrm>
            <a:off x="6236208" y="1298448"/>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16" name="Shape 12"/>
          <p:cNvSpPr/>
          <p:nvPr/>
        </p:nvSpPr>
        <p:spPr>
          <a:xfrm>
            <a:off x="6400800" y="1481328"/>
            <a:ext cx="402336" cy="402336"/>
          </a:xfrm>
          <a:prstGeom prst="ellipse">
            <a:avLst/>
          </a:prstGeom>
          <a:solidFill>
            <a:srgbClr val="C8102E">
              <a:alpha val="20000"/>
            </a:srgbClr>
          </a:solidFill>
          <a:ln w="12700">
            <a:solidFill>
              <a:srgbClr val="C8102E">
                <a:alpha val="60000"/>
              </a:srgbClr>
            </a:solidFill>
            <a:prstDash val="solid"/>
          </a:ln>
        </p:spPr>
      </p:sp>
      <p:pic>
        <p:nvPicPr>
          <p:cNvPr id="17" name="Image 2" descr="preencoded.png"/>
          <p:cNvPicPr>
            <a:picLocks noChangeAspect="1"/>
          </p:cNvPicPr>
          <p:nvPr/>
        </p:nvPicPr>
        <p:blipFill>
          <a:blip r:embed="rId5"/>
          <a:stretch>
            <a:fillRect/>
          </a:stretch>
        </p:blipFill>
        <p:spPr>
          <a:xfrm>
            <a:off x="6437376" y="1517904"/>
            <a:ext cx="329184" cy="329184"/>
          </a:xfrm>
          <a:prstGeom prst="rect">
            <a:avLst/>
          </a:prstGeom>
        </p:spPr>
      </p:pic>
      <p:sp>
        <p:nvSpPr>
          <p:cNvPr id="18" name="Text 13"/>
          <p:cNvSpPr/>
          <p:nvPr/>
        </p:nvSpPr>
        <p:spPr>
          <a:xfrm>
            <a:off x="689457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AI Triage</a:t>
            </a:r>
            <a:endParaRPr lang="en-US" sz="1200" dirty="0"/>
          </a:p>
        </p:txBody>
      </p:sp>
      <p:sp>
        <p:nvSpPr>
          <p:cNvPr id="19" name="Text 14"/>
          <p:cNvSpPr/>
          <p:nvPr/>
        </p:nvSpPr>
        <p:spPr>
          <a:xfrm>
            <a:off x="640080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Incident type, hazards &amp; location extracted instantly</a:t>
            </a:r>
            <a:endParaRPr lang="en-US" sz="1000" dirty="0"/>
          </a:p>
        </p:txBody>
      </p:sp>
      <p:sp>
        <p:nvSpPr>
          <p:cNvPr id="20" name="Shape 15"/>
          <p:cNvSpPr/>
          <p:nvPr/>
        </p:nvSpPr>
        <p:spPr>
          <a:xfrm>
            <a:off x="384048" y="3090672"/>
            <a:ext cx="2651760" cy="1554480"/>
          </a:xfrm>
          <a:prstGeom prst="rect">
            <a:avLst/>
          </a:prstGeom>
          <a:solidFill>
            <a:srgbClr val="111A2B"/>
          </a:solidFill>
          <a:ln w="12700">
            <a:solidFill>
              <a:srgbClr val="1B6FD8">
                <a:alpha val="38000"/>
              </a:srgbClr>
            </a:solidFill>
            <a:prstDash val="solid"/>
          </a:ln>
          <a:effectLst>
            <a:outerShdw blurRad="127000" dist="38100" dir="5400000" algn="bl" rotWithShape="0">
              <a:srgbClr val="000000">
                <a:alpha val="40000"/>
              </a:srgbClr>
            </a:outerShdw>
          </a:effectLst>
        </p:spPr>
      </p:sp>
      <p:sp>
        <p:nvSpPr>
          <p:cNvPr id="21" name="Shape 16"/>
          <p:cNvSpPr/>
          <p:nvPr/>
        </p:nvSpPr>
        <p:spPr>
          <a:xfrm>
            <a:off x="548640" y="3273552"/>
            <a:ext cx="402336" cy="402336"/>
          </a:xfrm>
          <a:prstGeom prst="ellipse">
            <a:avLst/>
          </a:prstGeom>
          <a:solidFill>
            <a:srgbClr val="1B6FD8">
              <a:alpha val="20000"/>
            </a:srgbClr>
          </a:solidFill>
          <a:ln w="12700">
            <a:solidFill>
              <a:srgbClr val="1B6FD8">
                <a:alpha val="60000"/>
              </a:srgbClr>
            </a:solidFill>
            <a:prstDash val="solid"/>
          </a:ln>
        </p:spPr>
      </p:sp>
      <p:pic>
        <p:nvPicPr>
          <p:cNvPr id="22" name="Image 3" descr="preencoded.png"/>
          <p:cNvPicPr>
            <a:picLocks noChangeAspect="1"/>
          </p:cNvPicPr>
          <p:nvPr/>
        </p:nvPicPr>
        <p:blipFill>
          <a:blip r:embed="rId6"/>
          <a:stretch>
            <a:fillRect/>
          </a:stretch>
        </p:blipFill>
        <p:spPr>
          <a:xfrm>
            <a:off x="585216" y="3310128"/>
            <a:ext cx="329184" cy="329184"/>
          </a:xfrm>
          <a:prstGeom prst="rect">
            <a:avLst/>
          </a:prstGeom>
        </p:spPr>
      </p:pic>
      <p:sp>
        <p:nvSpPr>
          <p:cNvPr id="23" name="Text 17"/>
          <p:cNvSpPr/>
          <p:nvPr/>
        </p:nvSpPr>
        <p:spPr>
          <a:xfrm>
            <a:off x="104241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Response Continuity (RCS)</a:t>
            </a:r>
            <a:endParaRPr lang="en-US" sz="1200" dirty="0"/>
          </a:p>
        </p:txBody>
      </p:sp>
      <p:sp>
        <p:nvSpPr>
          <p:cNvPr id="24" name="Text 18"/>
          <p:cNvSpPr/>
          <p:nvPr/>
        </p:nvSpPr>
        <p:spPr>
          <a:xfrm>
            <a:off x="54864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 EXCLUSIVE — Call persistence, audio sentinel, closure gate</a:t>
            </a:r>
            <a:endParaRPr lang="en-US" sz="1000" dirty="0"/>
          </a:p>
        </p:txBody>
      </p:sp>
      <p:sp>
        <p:nvSpPr>
          <p:cNvPr id="25" name="Shape 19"/>
          <p:cNvSpPr/>
          <p:nvPr/>
        </p:nvSpPr>
        <p:spPr>
          <a:xfrm>
            <a:off x="3310128" y="3090672"/>
            <a:ext cx="2651760" cy="1554480"/>
          </a:xfrm>
          <a:prstGeom prst="rect">
            <a:avLst/>
          </a:prstGeom>
          <a:solidFill>
            <a:srgbClr val="111A2B"/>
          </a:solidFill>
          <a:ln w="12700">
            <a:solidFill>
              <a:srgbClr val="4FB3F0">
                <a:alpha val="38000"/>
              </a:srgbClr>
            </a:solidFill>
            <a:prstDash val="solid"/>
          </a:ln>
          <a:effectLst>
            <a:outerShdw blurRad="127000" dist="38100" dir="5400000" algn="bl" rotWithShape="0">
              <a:srgbClr val="000000">
                <a:alpha val="40000"/>
              </a:srgbClr>
            </a:outerShdw>
          </a:effectLst>
        </p:spPr>
      </p:sp>
      <p:sp>
        <p:nvSpPr>
          <p:cNvPr id="26" name="Shape 20"/>
          <p:cNvSpPr/>
          <p:nvPr/>
        </p:nvSpPr>
        <p:spPr>
          <a:xfrm>
            <a:off x="3474720" y="3273552"/>
            <a:ext cx="402336" cy="402336"/>
          </a:xfrm>
          <a:prstGeom prst="ellipse">
            <a:avLst/>
          </a:prstGeom>
          <a:solidFill>
            <a:srgbClr val="4FB3F0">
              <a:alpha val="20000"/>
            </a:srgbClr>
          </a:solidFill>
          <a:ln w="12700">
            <a:solidFill>
              <a:srgbClr val="4FB3F0">
                <a:alpha val="60000"/>
              </a:srgbClr>
            </a:solidFill>
            <a:prstDash val="solid"/>
          </a:ln>
        </p:spPr>
      </p:sp>
      <p:pic>
        <p:nvPicPr>
          <p:cNvPr id="27" name="Image 4" descr="preencoded.png"/>
          <p:cNvPicPr>
            <a:picLocks noChangeAspect="1"/>
          </p:cNvPicPr>
          <p:nvPr/>
        </p:nvPicPr>
        <p:blipFill>
          <a:blip r:embed="rId7"/>
          <a:stretch>
            <a:fillRect/>
          </a:stretch>
        </p:blipFill>
        <p:spPr>
          <a:xfrm>
            <a:off x="3511296" y="3310128"/>
            <a:ext cx="329184" cy="329184"/>
          </a:xfrm>
          <a:prstGeom prst="rect">
            <a:avLst/>
          </a:prstGeom>
        </p:spPr>
      </p:pic>
      <p:sp>
        <p:nvSpPr>
          <p:cNvPr id="28" name="Text 21"/>
          <p:cNvSpPr/>
          <p:nvPr/>
        </p:nvSpPr>
        <p:spPr>
          <a:xfrm>
            <a:off x="396849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Supervisor Dashboard</a:t>
            </a:r>
            <a:endParaRPr lang="en-US" sz="1200" dirty="0"/>
          </a:p>
        </p:txBody>
      </p:sp>
      <p:sp>
        <p:nvSpPr>
          <p:cNvPr id="29" name="Text 22"/>
          <p:cNvSpPr/>
          <p:nvPr/>
        </p:nvSpPr>
        <p:spPr>
          <a:xfrm>
            <a:off x="347472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Real-time call monitoring, shadow review &amp; QA tools</a:t>
            </a:r>
            <a:endParaRPr lang="en-US" sz="1000" dirty="0"/>
          </a:p>
        </p:txBody>
      </p:sp>
      <p:sp>
        <p:nvSpPr>
          <p:cNvPr id="30" name="Shape 23"/>
          <p:cNvSpPr/>
          <p:nvPr/>
        </p:nvSpPr>
        <p:spPr>
          <a:xfrm>
            <a:off x="6236208" y="3090672"/>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31" name="Shape 24"/>
          <p:cNvSpPr/>
          <p:nvPr/>
        </p:nvSpPr>
        <p:spPr>
          <a:xfrm>
            <a:off x="6400800" y="3273552"/>
            <a:ext cx="402336" cy="402336"/>
          </a:xfrm>
          <a:prstGeom prst="ellipse">
            <a:avLst/>
          </a:prstGeom>
          <a:solidFill>
            <a:srgbClr val="C8102E">
              <a:alpha val="20000"/>
            </a:srgbClr>
          </a:solidFill>
          <a:ln w="12700">
            <a:solidFill>
              <a:srgbClr val="C8102E">
                <a:alpha val="60000"/>
              </a:srgbClr>
            </a:solidFill>
            <a:prstDash val="solid"/>
          </a:ln>
        </p:spPr>
      </p:sp>
      <p:pic>
        <p:nvPicPr>
          <p:cNvPr id="32" name="Image 5" descr="preencoded.png"/>
          <p:cNvPicPr>
            <a:picLocks noChangeAspect="1"/>
          </p:cNvPicPr>
          <p:nvPr/>
        </p:nvPicPr>
        <p:blipFill>
          <a:blip r:embed="rId8"/>
          <a:stretch>
            <a:fillRect/>
          </a:stretch>
        </p:blipFill>
        <p:spPr>
          <a:xfrm>
            <a:off x="6437376" y="3310128"/>
            <a:ext cx="329184" cy="329184"/>
          </a:xfrm>
          <a:prstGeom prst="rect">
            <a:avLst/>
          </a:prstGeom>
        </p:spPr>
      </p:pic>
      <p:sp>
        <p:nvSpPr>
          <p:cNvPr id="33" name="Text 25"/>
          <p:cNvSpPr/>
          <p:nvPr/>
        </p:nvSpPr>
        <p:spPr>
          <a:xfrm>
            <a:off x="689457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Vertical Markets</a:t>
            </a:r>
            <a:endParaRPr lang="en-US" sz="1200" dirty="0"/>
          </a:p>
        </p:txBody>
      </p:sp>
      <p:sp>
        <p:nvSpPr>
          <p:cNvPr id="34" name="Text 26"/>
          <p:cNvSpPr/>
          <p:nvPr/>
        </p:nvSpPr>
        <p:spPr>
          <a:xfrm>
            <a:off x="640080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War rooms, runbooks, timelines &amp; post-incident review</a:t>
            </a:r>
            <a:endParaRPr lang="en-US" sz="1000" dirty="0"/>
          </a:p>
        </p:txBody>
      </p:sp>
      <p:sp>
        <p:nvSpPr>
          <p:cNvPr id="35" name="Shape 0">
            <a:extLst>
              <a:ext uri="{FF2B5EF4-FFF2-40B4-BE49-F238E27FC236}">
                <a16:creationId xmlns:a16="http://schemas.microsoft.com/office/drawing/2014/main" id="{1B4246E6-5F04-9D91-864C-BCF426BDC7AE}"/>
              </a:ext>
            </a:extLst>
          </p:cNvPr>
          <p:cNvSpPr/>
          <p:nvPr/>
        </p:nvSpPr>
        <p:spPr>
          <a:xfrm>
            <a:off x="0" y="5088636"/>
            <a:ext cx="9144000" cy="54864"/>
          </a:xfrm>
          <a:prstGeom prst="rect">
            <a:avLst/>
          </a:prstGeom>
          <a:solidFill>
            <a:schemeClr val="bg1"/>
          </a:solidFill>
          <a:ln w="12700">
            <a:noFill/>
            <a:prstDash val="solid"/>
          </a:ln>
        </p:spPr>
      </p:sp>
      <p:sp>
        <p:nvSpPr>
          <p:cNvPr id="36" name="Shape 0">
            <a:extLst>
              <a:ext uri="{FF2B5EF4-FFF2-40B4-BE49-F238E27FC236}">
                <a16:creationId xmlns:a16="http://schemas.microsoft.com/office/drawing/2014/main" id="{E73B8416-9C2E-AE2B-F2F5-AD0E7B3C58BB}"/>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37" name="Shape 0">
            <a:extLst>
              <a:ext uri="{FF2B5EF4-FFF2-40B4-BE49-F238E27FC236}">
                <a16:creationId xmlns:a16="http://schemas.microsoft.com/office/drawing/2014/main" id="{D21E8576-2E76-11EE-B5CE-0ED312395E48}"/>
              </a:ext>
            </a:extLst>
          </p:cNvPr>
          <p:cNvSpPr/>
          <p:nvPr/>
        </p:nvSpPr>
        <p:spPr>
          <a:xfrm rot="5400000">
            <a:off x="-2576323" y="2553462"/>
            <a:ext cx="5152644" cy="45719"/>
          </a:xfrm>
          <a:prstGeom prst="rect">
            <a:avLst/>
          </a:prstGeom>
          <a:solidFill>
            <a:srgbClr val="FF0000"/>
          </a:solidFill>
          <a:ln w="12700">
            <a:noFill/>
            <a:prstDash val="solid"/>
          </a:ln>
        </p:spPr>
      </p:sp>
      <p:sp>
        <p:nvSpPr>
          <p:cNvPr id="38" name="Shape 0">
            <a:extLst>
              <a:ext uri="{FF2B5EF4-FFF2-40B4-BE49-F238E27FC236}">
                <a16:creationId xmlns:a16="http://schemas.microsoft.com/office/drawing/2014/main" id="{A60DF053-DFED-F68C-80A6-DA3C7A1B108D}"/>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60A0F"/>
        </a:solidFill>
        <a:effectLst/>
      </p:bgPr>
    </p:bg>
    <p:spTree>
      <p:nvGrpSpPr>
        <p:cNvPr id="1" name=""/>
        <p:cNvGrpSpPr/>
        <p:nvPr/>
      </p:nvGrpSpPr>
      <p:grpSpPr>
        <a:xfrm>
          <a:off x="0" y="0"/>
          <a:ext cx="0" cy="0"/>
          <a:chOff x="0" y="0"/>
          <a:chExt cx="0" cy="0"/>
        </a:xfrm>
      </p:grpSpPr>
      <p:sp>
        <p:nvSpPr>
          <p:cNvPr id="2" name="Shape 0"/>
          <p:cNvSpPr/>
          <p:nvPr/>
        </p:nvSpPr>
        <p:spPr>
          <a:xfrm>
            <a:off x="457200" y="228600"/>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3" name="Text 1"/>
          <p:cNvSpPr/>
          <p:nvPr/>
        </p:nvSpPr>
        <p:spPr>
          <a:xfrm>
            <a:off x="502920" y="228600"/>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RESPONSE CONTINUITY SYSTEM</a:t>
            </a:r>
            <a:endParaRPr lang="en-US" sz="700" dirty="0"/>
          </a:p>
        </p:txBody>
      </p:sp>
      <p:sp>
        <p:nvSpPr>
          <p:cNvPr id="4" name="Text 2"/>
          <p:cNvSpPr/>
          <p:nvPr/>
        </p:nvSpPr>
        <p:spPr>
          <a:xfrm>
            <a:off x="201168" y="507492"/>
            <a:ext cx="8577072"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RC EXCLUSIVE — NO COMPETITOR HAS THIS</a:t>
            </a:r>
            <a:endParaRPr lang="en-US" sz="2800" dirty="0"/>
          </a:p>
        </p:txBody>
      </p:sp>
      <p:sp>
        <p:nvSpPr>
          <p:cNvPr id="5" name="Shape 3"/>
          <p:cNvSpPr/>
          <p:nvPr/>
        </p:nvSpPr>
        <p:spPr>
          <a:xfrm>
            <a:off x="384048" y="1298448"/>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6" name="Shape 4"/>
          <p:cNvSpPr/>
          <p:nvPr/>
        </p:nvSpPr>
        <p:spPr>
          <a:xfrm>
            <a:off x="548640" y="1481328"/>
            <a:ext cx="402336" cy="402336"/>
          </a:xfrm>
          <a:prstGeom prst="ellipse">
            <a:avLst/>
          </a:prstGeom>
          <a:solidFill>
            <a:srgbClr val="C8102E">
              <a:alpha val="20000"/>
            </a:srgbClr>
          </a:solidFill>
          <a:ln w="12700">
            <a:solidFill>
              <a:srgbClr val="C8102E">
                <a:alpha val="60000"/>
              </a:srgbClr>
            </a:solidFill>
            <a:prstDash val="solid"/>
          </a:ln>
        </p:spPr>
      </p:sp>
      <p:pic>
        <p:nvPicPr>
          <p:cNvPr id="7" name="Image 0" descr="preencoded.png"/>
          <p:cNvPicPr>
            <a:picLocks noChangeAspect="1"/>
          </p:cNvPicPr>
          <p:nvPr/>
        </p:nvPicPr>
        <p:blipFill>
          <a:blip r:embed="rId2"/>
          <a:stretch>
            <a:fillRect/>
          </a:stretch>
        </p:blipFill>
        <p:spPr>
          <a:xfrm>
            <a:off x="585216" y="1517904"/>
            <a:ext cx="329184" cy="329184"/>
          </a:xfrm>
          <a:prstGeom prst="rect">
            <a:avLst/>
          </a:prstGeom>
        </p:spPr>
      </p:pic>
      <p:sp>
        <p:nvSpPr>
          <p:cNvPr id="8" name="Text 5"/>
          <p:cNvSpPr/>
          <p:nvPr/>
        </p:nvSpPr>
        <p:spPr>
          <a:xfrm>
            <a:off x="104241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Call Persistence Lock</a:t>
            </a:r>
            <a:endParaRPr lang="en-US" sz="1200" dirty="0"/>
          </a:p>
        </p:txBody>
      </p:sp>
      <p:sp>
        <p:nvSpPr>
          <p:cNvPr id="9" name="Text 6"/>
          <p:cNvSpPr/>
          <p:nvPr/>
        </p:nvSpPr>
        <p:spPr>
          <a:xfrm>
            <a:off x="54864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Hard block — call cannot close without GPS unit arrival or supervisor override</a:t>
            </a:r>
            <a:endParaRPr lang="en-US" sz="1000" dirty="0"/>
          </a:p>
        </p:txBody>
      </p:sp>
      <p:sp>
        <p:nvSpPr>
          <p:cNvPr id="10" name="Shape 7"/>
          <p:cNvSpPr/>
          <p:nvPr/>
        </p:nvSpPr>
        <p:spPr>
          <a:xfrm>
            <a:off x="3310128" y="1298448"/>
            <a:ext cx="2651760" cy="1554480"/>
          </a:xfrm>
          <a:prstGeom prst="rect">
            <a:avLst/>
          </a:prstGeom>
          <a:solidFill>
            <a:srgbClr val="111A2B"/>
          </a:solidFill>
          <a:ln w="12700">
            <a:solidFill>
              <a:srgbClr val="4FB3F0">
                <a:alpha val="38000"/>
              </a:srgbClr>
            </a:solidFill>
            <a:prstDash val="solid"/>
          </a:ln>
          <a:effectLst>
            <a:outerShdw blurRad="127000" dist="38100" dir="5400000" algn="bl" rotWithShape="0">
              <a:srgbClr val="000000">
                <a:alpha val="40000"/>
              </a:srgbClr>
            </a:outerShdw>
          </a:effectLst>
        </p:spPr>
      </p:sp>
      <p:sp>
        <p:nvSpPr>
          <p:cNvPr id="11" name="Shape 8"/>
          <p:cNvSpPr/>
          <p:nvPr/>
        </p:nvSpPr>
        <p:spPr>
          <a:xfrm>
            <a:off x="3474720" y="1481328"/>
            <a:ext cx="402336" cy="402336"/>
          </a:xfrm>
          <a:prstGeom prst="ellipse">
            <a:avLst/>
          </a:prstGeom>
          <a:solidFill>
            <a:srgbClr val="4FB3F0">
              <a:alpha val="20000"/>
            </a:srgbClr>
          </a:solidFill>
          <a:ln w="12700">
            <a:solidFill>
              <a:srgbClr val="4FB3F0">
                <a:alpha val="60000"/>
              </a:srgbClr>
            </a:solidFill>
            <a:prstDash val="solid"/>
          </a:ln>
        </p:spPr>
      </p:sp>
      <p:pic>
        <p:nvPicPr>
          <p:cNvPr id="12" name="Image 1" descr="preencoded.png"/>
          <p:cNvPicPr>
            <a:picLocks noChangeAspect="1"/>
          </p:cNvPicPr>
          <p:nvPr/>
        </p:nvPicPr>
        <p:blipFill>
          <a:blip r:embed="rId3"/>
          <a:stretch>
            <a:fillRect/>
          </a:stretch>
        </p:blipFill>
        <p:spPr>
          <a:xfrm>
            <a:off x="3511296" y="1517904"/>
            <a:ext cx="329184" cy="329184"/>
          </a:xfrm>
          <a:prstGeom prst="rect">
            <a:avLst/>
          </a:prstGeom>
        </p:spPr>
      </p:pic>
      <p:sp>
        <p:nvSpPr>
          <p:cNvPr id="13" name="Text 9"/>
          <p:cNvSpPr/>
          <p:nvPr/>
        </p:nvSpPr>
        <p:spPr>
          <a:xfrm>
            <a:off x="396849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Silent Monitor Queue</a:t>
            </a:r>
            <a:endParaRPr lang="en-US" sz="1200" dirty="0"/>
          </a:p>
        </p:txBody>
      </p:sp>
      <p:sp>
        <p:nvSpPr>
          <p:cNvPr id="14" name="Text 10"/>
          <p:cNvSpPr/>
          <p:nvPr/>
        </p:nvSpPr>
        <p:spPr>
          <a:xfrm>
            <a:off x="347472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Live backgrounded calls with elapsed timer, audio status, unit tracking</a:t>
            </a:r>
            <a:endParaRPr lang="en-US" sz="1000" dirty="0"/>
          </a:p>
        </p:txBody>
      </p:sp>
      <p:sp>
        <p:nvSpPr>
          <p:cNvPr id="15" name="Shape 11"/>
          <p:cNvSpPr/>
          <p:nvPr/>
        </p:nvSpPr>
        <p:spPr>
          <a:xfrm>
            <a:off x="6236208" y="1298448"/>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16" name="Shape 12"/>
          <p:cNvSpPr/>
          <p:nvPr/>
        </p:nvSpPr>
        <p:spPr>
          <a:xfrm>
            <a:off x="6400800" y="1481328"/>
            <a:ext cx="402336" cy="402336"/>
          </a:xfrm>
          <a:prstGeom prst="ellipse">
            <a:avLst/>
          </a:prstGeom>
          <a:solidFill>
            <a:srgbClr val="C8102E">
              <a:alpha val="20000"/>
            </a:srgbClr>
          </a:solidFill>
          <a:ln w="12700">
            <a:solidFill>
              <a:srgbClr val="C8102E">
                <a:alpha val="60000"/>
              </a:srgbClr>
            </a:solidFill>
            <a:prstDash val="solid"/>
          </a:ln>
        </p:spPr>
      </p:sp>
      <p:pic>
        <p:nvPicPr>
          <p:cNvPr id="17" name="Image 2" descr="preencoded.png"/>
          <p:cNvPicPr>
            <a:picLocks noChangeAspect="1"/>
          </p:cNvPicPr>
          <p:nvPr/>
        </p:nvPicPr>
        <p:blipFill>
          <a:blip r:embed="rId4"/>
          <a:stretch>
            <a:fillRect/>
          </a:stretch>
        </p:blipFill>
        <p:spPr>
          <a:xfrm>
            <a:off x="6437376" y="1517904"/>
            <a:ext cx="329184" cy="329184"/>
          </a:xfrm>
          <a:prstGeom prst="rect">
            <a:avLst/>
          </a:prstGeom>
        </p:spPr>
      </p:pic>
      <p:sp>
        <p:nvSpPr>
          <p:cNvPr id="18" name="Text 13"/>
          <p:cNvSpPr/>
          <p:nvPr/>
        </p:nvSpPr>
        <p:spPr>
          <a:xfrm>
            <a:off x="6894576" y="1481328"/>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Audio Sentinel</a:t>
            </a:r>
            <a:endParaRPr lang="en-US" sz="1200" dirty="0"/>
          </a:p>
        </p:txBody>
      </p:sp>
      <p:sp>
        <p:nvSpPr>
          <p:cNvPr id="19" name="Text 14"/>
          <p:cNvSpPr/>
          <p:nvPr/>
        </p:nvSpPr>
        <p:spPr>
          <a:xfrm>
            <a:off x="6400800" y="1956816"/>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AI monitors caller audio — detects unresponsiveness, silence, distress</a:t>
            </a:r>
            <a:endParaRPr lang="en-US" sz="1000" dirty="0"/>
          </a:p>
        </p:txBody>
      </p:sp>
      <p:sp>
        <p:nvSpPr>
          <p:cNvPr id="20" name="Shape 15"/>
          <p:cNvSpPr/>
          <p:nvPr/>
        </p:nvSpPr>
        <p:spPr>
          <a:xfrm>
            <a:off x="384048" y="3090672"/>
            <a:ext cx="2651760" cy="1554480"/>
          </a:xfrm>
          <a:prstGeom prst="rect">
            <a:avLst/>
          </a:prstGeom>
          <a:solidFill>
            <a:srgbClr val="111A2B"/>
          </a:solidFill>
          <a:ln w="12700">
            <a:solidFill>
              <a:srgbClr val="1B6FD8">
                <a:alpha val="38000"/>
              </a:srgbClr>
            </a:solidFill>
            <a:prstDash val="solid"/>
          </a:ln>
          <a:effectLst>
            <a:outerShdw blurRad="127000" dist="38100" dir="5400000" algn="bl" rotWithShape="0">
              <a:srgbClr val="000000">
                <a:alpha val="40000"/>
              </a:srgbClr>
            </a:outerShdw>
          </a:effectLst>
        </p:spPr>
      </p:sp>
      <p:sp>
        <p:nvSpPr>
          <p:cNvPr id="21" name="Shape 16"/>
          <p:cNvSpPr/>
          <p:nvPr/>
        </p:nvSpPr>
        <p:spPr>
          <a:xfrm>
            <a:off x="548640" y="3273552"/>
            <a:ext cx="402336" cy="402336"/>
          </a:xfrm>
          <a:prstGeom prst="ellipse">
            <a:avLst/>
          </a:prstGeom>
          <a:solidFill>
            <a:srgbClr val="1B6FD8">
              <a:alpha val="20000"/>
            </a:srgbClr>
          </a:solidFill>
          <a:ln w="12700">
            <a:solidFill>
              <a:srgbClr val="1B6FD8">
                <a:alpha val="60000"/>
              </a:srgbClr>
            </a:solidFill>
            <a:prstDash val="solid"/>
          </a:ln>
        </p:spPr>
      </p:sp>
      <p:pic>
        <p:nvPicPr>
          <p:cNvPr id="22" name="Image 3" descr="preencoded.png"/>
          <p:cNvPicPr>
            <a:picLocks noChangeAspect="1"/>
          </p:cNvPicPr>
          <p:nvPr/>
        </p:nvPicPr>
        <p:blipFill>
          <a:blip r:embed="rId5"/>
          <a:stretch>
            <a:fillRect/>
          </a:stretch>
        </p:blipFill>
        <p:spPr>
          <a:xfrm>
            <a:off x="585216" y="3310128"/>
            <a:ext cx="329184" cy="329184"/>
          </a:xfrm>
          <a:prstGeom prst="rect">
            <a:avLst/>
          </a:prstGeom>
        </p:spPr>
      </p:pic>
      <p:sp>
        <p:nvSpPr>
          <p:cNvPr id="23" name="Text 17"/>
          <p:cNvSpPr/>
          <p:nvPr/>
        </p:nvSpPr>
        <p:spPr>
          <a:xfrm>
            <a:off x="104241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 Video (WebRTC)</a:t>
            </a:r>
            <a:endParaRPr lang="en-US" sz="1200" dirty="0"/>
          </a:p>
        </p:txBody>
      </p:sp>
      <p:sp>
        <p:nvSpPr>
          <p:cNvPr id="24" name="Text 18"/>
          <p:cNvSpPr/>
          <p:nvPr/>
        </p:nvSpPr>
        <p:spPr>
          <a:xfrm>
            <a:off x="54864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Secure KVS WebRTC caller video with audit trail</a:t>
            </a:r>
            <a:endParaRPr lang="en-US" sz="1000" dirty="0"/>
          </a:p>
        </p:txBody>
      </p:sp>
      <p:sp>
        <p:nvSpPr>
          <p:cNvPr id="25" name="Shape 19"/>
          <p:cNvSpPr/>
          <p:nvPr/>
        </p:nvSpPr>
        <p:spPr>
          <a:xfrm>
            <a:off x="3310128" y="3090672"/>
            <a:ext cx="2651760" cy="1554480"/>
          </a:xfrm>
          <a:prstGeom prst="rect">
            <a:avLst/>
          </a:prstGeom>
          <a:solidFill>
            <a:srgbClr val="111A2B"/>
          </a:solidFill>
          <a:ln w="12700">
            <a:solidFill>
              <a:srgbClr val="4FB3F0">
                <a:alpha val="38000"/>
              </a:srgbClr>
            </a:solidFill>
            <a:prstDash val="solid"/>
          </a:ln>
          <a:effectLst>
            <a:outerShdw blurRad="127000" dist="38100" dir="5400000" algn="bl" rotWithShape="0">
              <a:srgbClr val="000000">
                <a:alpha val="40000"/>
              </a:srgbClr>
            </a:outerShdw>
          </a:effectLst>
        </p:spPr>
      </p:sp>
      <p:sp>
        <p:nvSpPr>
          <p:cNvPr id="26" name="Shape 20"/>
          <p:cNvSpPr/>
          <p:nvPr/>
        </p:nvSpPr>
        <p:spPr>
          <a:xfrm>
            <a:off x="3474720" y="3273552"/>
            <a:ext cx="402336" cy="402336"/>
          </a:xfrm>
          <a:prstGeom prst="ellipse">
            <a:avLst/>
          </a:prstGeom>
          <a:solidFill>
            <a:srgbClr val="4FB3F0">
              <a:alpha val="20000"/>
            </a:srgbClr>
          </a:solidFill>
          <a:ln w="12700">
            <a:solidFill>
              <a:srgbClr val="4FB3F0">
                <a:alpha val="60000"/>
              </a:srgbClr>
            </a:solidFill>
            <a:prstDash val="solid"/>
          </a:ln>
        </p:spPr>
      </p:sp>
      <p:pic>
        <p:nvPicPr>
          <p:cNvPr id="27" name="Image 4" descr="preencoded.png"/>
          <p:cNvPicPr>
            <a:picLocks noChangeAspect="1"/>
          </p:cNvPicPr>
          <p:nvPr/>
        </p:nvPicPr>
        <p:blipFill>
          <a:blip r:embed="rId6"/>
          <a:stretch>
            <a:fillRect/>
          </a:stretch>
        </p:blipFill>
        <p:spPr>
          <a:xfrm>
            <a:off x="3511296" y="3310128"/>
            <a:ext cx="329184" cy="329184"/>
          </a:xfrm>
          <a:prstGeom prst="rect">
            <a:avLst/>
          </a:prstGeom>
        </p:spPr>
      </p:pic>
      <p:sp>
        <p:nvSpPr>
          <p:cNvPr id="28" name="Text 21"/>
          <p:cNvSpPr/>
          <p:nvPr/>
        </p:nvSpPr>
        <p:spPr>
          <a:xfrm>
            <a:off x="396849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Escalation Engine</a:t>
            </a:r>
            <a:endParaRPr lang="en-US" sz="1200" dirty="0"/>
          </a:p>
        </p:txBody>
      </p:sp>
      <p:sp>
        <p:nvSpPr>
          <p:cNvPr id="29" name="Text 22"/>
          <p:cNvSpPr/>
          <p:nvPr/>
        </p:nvSpPr>
        <p:spPr>
          <a:xfrm>
            <a:off x="347472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T+10/20/30/40 min auto-escalation to dispatcher, supervisor, command</a:t>
            </a:r>
            <a:endParaRPr lang="en-US" sz="1000" dirty="0"/>
          </a:p>
        </p:txBody>
      </p:sp>
      <p:sp>
        <p:nvSpPr>
          <p:cNvPr id="30" name="Shape 23"/>
          <p:cNvSpPr/>
          <p:nvPr/>
        </p:nvSpPr>
        <p:spPr>
          <a:xfrm>
            <a:off x="6236208" y="3090672"/>
            <a:ext cx="2651760" cy="1554480"/>
          </a:xfrm>
          <a:prstGeom prst="rect">
            <a:avLst/>
          </a:prstGeom>
          <a:solidFill>
            <a:srgbClr val="111A2B"/>
          </a:solidFill>
          <a:ln w="12700">
            <a:solidFill>
              <a:srgbClr val="C8102E">
                <a:alpha val="38000"/>
              </a:srgbClr>
            </a:solidFill>
            <a:prstDash val="solid"/>
          </a:ln>
          <a:effectLst>
            <a:outerShdw blurRad="127000" dist="38100" dir="5400000" algn="bl" rotWithShape="0">
              <a:srgbClr val="000000">
                <a:alpha val="40000"/>
              </a:srgbClr>
            </a:outerShdw>
          </a:effectLst>
        </p:spPr>
      </p:sp>
      <p:sp>
        <p:nvSpPr>
          <p:cNvPr id="31" name="Shape 24"/>
          <p:cNvSpPr/>
          <p:nvPr/>
        </p:nvSpPr>
        <p:spPr>
          <a:xfrm>
            <a:off x="6400800" y="3273552"/>
            <a:ext cx="402336" cy="402336"/>
          </a:xfrm>
          <a:prstGeom prst="ellipse">
            <a:avLst/>
          </a:prstGeom>
          <a:solidFill>
            <a:srgbClr val="C8102E">
              <a:alpha val="20000"/>
            </a:srgbClr>
          </a:solidFill>
          <a:ln w="12700">
            <a:solidFill>
              <a:srgbClr val="C8102E">
                <a:alpha val="60000"/>
              </a:srgbClr>
            </a:solidFill>
            <a:prstDash val="solid"/>
          </a:ln>
        </p:spPr>
      </p:sp>
      <p:pic>
        <p:nvPicPr>
          <p:cNvPr id="32" name="Image 5" descr="preencoded.png"/>
          <p:cNvPicPr>
            <a:picLocks noChangeAspect="1"/>
          </p:cNvPicPr>
          <p:nvPr/>
        </p:nvPicPr>
        <p:blipFill>
          <a:blip r:embed="rId7"/>
          <a:stretch>
            <a:fillRect/>
          </a:stretch>
        </p:blipFill>
        <p:spPr>
          <a:xfrm>
            <a:off x="6437376" y="3310128"/>
            <a:ext cx="329184" cy="329184"/>
          </a:xfrm>
          <a:prstGeom prst="rect">
            <a:avLst/>
          </a:prstGeom>
        </p:spPr>
      </p:pic>
      <p:sp>
        <p:nvSpPr>
          <p:cNvPr id="33" name="Text 25"/>
          <p:cNvSpPr/>
          <p:nvPr/>
        </p:nvSpPr>
        <p:spPr>
          <a:xfrm>
            <a:off x="6894576" y="3273552"/>
            <a:ext cx="190195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Incident Command</a:t>
            </a:r>
            <a:endParaRPr lang="en-US" sz="1200" dirty="0"/>
          </a:p>
        </p:txBody>
      </p:sp>
      <p:sp>
        <p:nvSpPr>
          <p:cNvPr id="34" name="Text 26"/>
          <p:cNvSpPr/>
          <p:nvPr/>
        </p:nvSpPr>
        <p:spPr>
          <a:xfrm>
            <a:off x="6400800" y="3749040"/>
            <a:ext cx="2377440" cy="749808"/>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War rooms, runbooks, timelines &amp; post-incident review</a:t>
            </a:r>
            <a:endParaRPr lang="en-US" sz="1000" dirty="0"/>
          </a:p>
        </p:txBody>
      </p:sp>
      <p:sp>
        <p:nvSpPr>
          <p:cNvPr id="35" name="Shape 0">
            <a:extLst>
              <a:ext uri="{FF2B5EF4-FFF2-40B4-BE49-F238E27FC236}">
                <a16:creationId xmlns:a16="http://schemas.microsoft.com/office/drawing/2014/main" id="{1B4246E6-5F04-9D91-864C-BCF426BDC7AE}"/>
              </a:ext>
            </a:extLst>
          </p:cNvPr>
          <p:cNvSpPr/>
          <p:nvPr/>
        </p:nvSpPr>
        <p:spPr>
          <a:xfrm>
            <a:off x="0" y="5088636"/>
            <a:ext cx="9144000" cy="54864"/>
          </a:xfrm>
          <a:prstGeom prst="rect">
            <a:avLst/>
          </a:prstGeom>
          <a:solidFill>
            <a:schemeClr val="bg1"/>
          </a:solidFill>
          <a:ln w="12700">
            <a:noFill/>
            <a:prstDash val="solid"/>
          </a:ln>
        </p:spPr>
      </p:sp>
      <p:sp>
        <p:nvSpPr>
          <p:cNvPr id="36" name="Shape 0">
            <a:extLst>
              <a:ext uri="{FF2B5EF4-FFF2-40B4-BE49-F238E27FC236}">
                <a16:creationId xmlns:a16="http://schemas.microsoft.com/office/drawing/2014/main" id="{E73B8416-9C2E-AE2B-F2F5-AD0E7B3C58BB}"/>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37" name="Shape 0">
            <a:extLst>
              <a:ext uri="{FF2B5EF4-FFF2-40B4-BE49-F238E27FC236}">
                <a16:creationId xmlns:a16="http://schemas.microsoft.com/office/drawing/2014/main" id="{D21E8576-2E76-11EE-B5CE-0ED312395E48}"/>
              </a:ext>
            </a:extLst>
          </p:cNvPr>
          <p:cNvSpPr/>
          <p:nvPr/>
        </p:nvSpPr>
        <p:spPr>
          <a:xfrm rot="5400000">
            <a:off x="-2576323" y="2553462"/>
            <a:ext cx="5152644" cy="45719"/>
          </a:xfrm>
          <a:prstGeom prst="rect">
            <a:avLst/>
          </a:prstGeom>
          <a:solidFill>
            <a:srgbClr val="FF0000"/>
          </a:solidFill>
          <a:ln w="12700">
            <a:noFill/>
            <a:prstDash val="solid"/>
          </a:ln>
        </p:spPr>
      </p:sp>
      <p:sp>
        <p:nvSpPr>
          <p:cNvPr id="38" name="Shape 0">
            <a:extLst>
              <a:ext uri="{FF2B5EF4-FFF2-40B4-BE49-F238E27FC236}">
                <a16:creationId xmlns:a16="http://schemas.microsoft.com/office/drawing/2014/main" id="{A60DF053-DFED-F68C-80A6-DA3C7A1B108D}"/>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520"/>
        </a:solidFill>
        <a:effectLst/>
      </p:bgPr>
    </p:bg>
    <p:spTree>
      <p:nvGrpSpPr>
        <p:cNvPr id="1" name=""/>
        <p:cNvGrpSpPr/>
        <p:nvPr/>
      </p:nvGrpSpPr>
      <p:grpSpPr>
        <a:xfrm>
          <a:off x="0" y="0"/>
          <a:ext cx="0" cy="0"/>
          <a:chOff x="0" y="0"/>
          <a:chExt cx="0" cy="0"/>
        </a:xfrm>
      </p:grpSpPr>
      <p:sp>
        <p:nvSpPr>
          <p:cNvPr id="2" name="Shape 0"/>
          <p:cNvSpPr/>
          <p:nvPr/>
        </p:nvSpPr>
        <p:spPr>
          <a:xfrm>
            <a:off x="45720" y="0"/>
            <a:ext cx="3840480" cy="5143500"/>
          </a:xfrm>
          <a:prstGeom prst="rect">
            <a:avLst/>
          </a:prstGeom>
          <a:solidFill>
            <a:srgbClr val="060A0F"/>
          </a:solidFill>
          <a:ln w="12700">
            <a:solidFill>
              <a:srgbClr val="060A0F"/>
            </a:solidFill>
            <a:prstDash val="solid"/>
          </a:ln>
        </p:spPr>
      </p:sp>
      <p:sp>
        <p:nvSpPr>
          <p:cNvPr id="3" name="Shape 1"/>
          <p:cNvSpPr/>
          <p:nvPr/>
        </p:nvSpPr>
        <p:spPr>
          <a:xfrm>
            <a:off x="384048" y="34747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429768" y="347472"/>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WHO IT'S FOR</a:t>
            </a:r>
            <a:endParaRPr lang="en-US" sz="700" dirty="0"/>
          </a:p>
        </p:txBody>
      </p:sp>
      <p:sp>
        <p:nvSpPr>
          <p:cNvPr id="5" name="Text 3"/>
          <p:cNvSpPr/>
          <p:nvPr/>
        </p:nvSpPr>
        <p:spPr>
          <a:xfrm>
            <a:off x="384048" y="658368"/>
            <a:ext cx="3200400" cy="12801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WE DON'T ASK AGENCIES TO CHANGE</a:t>
            </a:r>
            <a:endParaRPr lang="en-US" sz="2800" dirty="0"/>
          </a:p>
        </p:txBody>
      </p:sp>
      <p:sp>
        <p:nvSpPr>
          <p:cNvPr id="6" name="Text 4"/>
          <p:cNvSpPr/>
          <p:nvPr/>
        </p:nvSpPr>
        <p:spPr>
          <a:xfrm>
            <a:off x="365760" y="2178558"/>
            <a:ext cx="3200400" cy="685800"/>
          </a:xfrm>
          <a:prstGeom prst="rect">
            <a:avLst/>
          </a:prstGeom>
          <a:noFill/>
          <a:ln/>
        </p:spPr>
        <p:txBody>
          <a:bodyPr wrap="square" lIns="0" tIns="0" rIns="0" bIns="0" rtlCol="0" anchor="ctr"/>
          <a:lstStyle/>
          <a:p>
            <a:pPr marL="0" indent="0" algn="ctr">
              <a:buNone/>
            </a:pPr>
            <a:r>
              <a:rPr lang="en-US" sz="2800" b="1" dirty="0">
                <a:solidFill>
                  <a:srgbClr val="C8102E"/>
                </a:solidFill>
                <a:latin typeface="Arial" pitchFamily="34" charset="0"/>
                <a:ea typeface="Arial" pitchFamily="34" charset="-122"/>
                <a:cs typeface="Arial" pitchFamily="34" charset="-120"/>
              </a:rPr>
              <a:t>WE IMPROVE WHAT YOU HAVE</a:t>
            </a:r>
            <a:endParaRPr lang="en-US" sz="2800" dirty="0"/>
          </a:p>
        </p:txBody>
      </p:sp>
      <p:sp>
        <p:nvSpPr>
          <p:cNvPr id="7" name="Text 5"/>
          <p:cNvSpPr/>
          <p:nvPr/>
        </p:nvSpPr>
        <p:spPr>
          <a:xfrm>
            <a:off x="384048" y="2788920"/>
            <a:ext cx="3200400" cy="1188720"/>
          </a:xfrm>
          <a:prstGeom prst="rect">
            <a:avLst/>
          </a:prstGeom>
          <a:noFill/>
          <a:ln/>
        </p:spPr>
        <p:txBody>
          <a:bodyPr wrap="square" lIns="0" tIns="0" rIns="0" bIns="0" rtlCol="0" anchor="ctr"/>
          <a:lstStyle/>
          <a:p>
            <a:pPr marL="0" indent="0">
              <a:buNone/>
            </a:pPr>
            <a:r>
              <a:rPr lang="en-US" sz="1150" dirty="0">
                <a:solidFill>
                  <a:srgbClr val="8FA3BE"/>
                </a:solidFill>
                <a:latin typeface="Arial" pitchFamily="34" charset="0"/>
                <a:ea typeface="Arial" pitchFamily="34" charset="-122"/>
                <a:cs typeface="Arial" pitchFamily="34" charset="-120"/>
              </a:rPr>
              <a:t>NexCort iQ works alongside your existing CAD, telephony, and workflows across five vertical markets — without replacing anything your team relies on.</a:t>
            </a:r>
            <a:endParaRPr lang="en-US" sz="1150" dirty="0"/>
          </a:p>
        </p:txBody>
      </p:sp>
      <p:sp>
        <p:nvSpPr>
          <p:cNvPr id="8" name="Shape 6"/>
          <p:cNvSpPr/>
          <p:nvPr/>
        </p:nvSpPr>
        <p:spPr>
          <a:xfrm>
            <a:off x="4114800" y="347472"/>
            <a:ext cx="4663440" cy="932688"/>
          </a:xfrm>
          <a:prstGeom prst="rect">
            <a:avLst/>
          </a:prstGeom>
          <a:solidFill>
            <a:srgbClr val="0F1929"/>
          </a:solidFill>
          <a:ln w="12700">
            <a:solidFill>
              <a:srgbClr val="C8102E">
                <a:alpha val="45000"/>
              </a:srgbClr>
            </a:solidFill>
            <a:prstDash val="solid"/>
          </a:ln>
          <a:effectLst>
            <a:outerShdw blurRad="101600" dist="38100" dir="5400000" algn="bl" rotWithShape="0">
              <a:srgbClr val="000000">
                <a:alpha val="35000"/>
              </a:srgbClr>
            </a:outerShdw>
          </a:effectLst>
        </p:spPr>
      </p:sp>
      <p:sp>
        <p:nvSpPr>
          <p:cNvPr id="9" name="Shape 7"/>
          <p:cNvSpPr/>
          <p:nvPr/>
        </p:nvSpPr>
        <p:spPr>
          <a:xfrm>
            <a:off x="4114800" y="347472"/>
            <a:ext cx="54864" cy="932688"/>
          </a:xfrm>
          <a:prstGeom prst="rect">
            <a:avLst/>
          </a:prstGeom>
          <a:solidFill>
            <a:srgbClr val="C8102E"/>
          </a:solidFill>
          <a:ln w="12700">
            <a:solidFill>
              <a:srgbClr val="C8102E"/>
            </a:solidFill>
            <a:prstDash val="solid"/>
          </a:ln>
        </p:spPr>
      </p:sp>
      <p:sp>
        <p:nvSpPr>
          <p:cNvPr id="10" name="Text 8"/>
          <p:cNvSpPr/>
          <p:nvPr/>
        </p:nvSpPr>
        <p:spPr>
          <a:xfrm>
            <a:off x="4315968" y="438912"/>
            <a:ext cx="4297680" cy="292608"/>
          </a:xfrm>
          <a:prstGeom prst="rect">
            <a:avLst/>
          </a:prstGeom>
          <a:noFill/>
          <a:ln/>
        </p:spPr>
        <p:txBody>
          <a:bodyPr wrap="square" lIns="0" tIns="0" rIns="0" bIns="0" rtlCol="0" anchor="ctr"/>
          <a:lstStyle/>
          <a:p>
            <a:pPr marL="0" indent="0">
              <a:buNone/>
            </a:pPr>
            <a:r>
              <a:rPr lang="en-US" sz="1200" b="1" kern="0" spc="100" dirty="0">
                <a:solidFill>
                  <a:srgbClr val="C8102E"/>
                </a:solidFill>
                <a:latin typeface="Arial" pitchFamily="34" charset="0"/>
                <a:ea typeface="Arial" pitchFamily="34" charset="-122"/>
                <a:cs typeface="Arial" pitchFamily="34" charset="-120"/>
              </a:rPr>
              <a:t>DISPATCHER</a:t>
            </a:r>
            <a:endParaRPr lang="en-US" sz="1200" dirty="0"/>
          </a:p>
        </p:txBody>
      </p:sp>
      <p:sp>
        <p:nvSpPr>
          <p:cNvPr id="11" name="Text 9"/>
          <p:cNvSpPr/>
          <p:nvPr/>
        </p:nvSpPr>
        <p:spPr>
          <a:xfrm>
            <a:off x="4315968" y="768096"/>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Transcription, translation, AI triage summary, caller media request</a:t>
            </a:r>
            <a:endParaRPr lang="en-US" sz="1000" dirty="0"/>
          </a:p>
        </p:txBody>
      </p:sp>
      <p:sp>
        <p:nvSpPr>
          <p:cNvPr id="12" name="Shape 10"/>
          <p:cNvSpPr/>
          <p:nvPr/>
        </p:nvSpPr>
        <p:spPr>
          <a:xfrm>
            <a:off x="4114800" y="1463040"/>
            <a:ext cx="4663440" cy="932688"/>
          </a:xfrm>
          <a:prstGeom prst="rect">
            <a:avLst/>
          </a:prstGeom>
          <a:solidFill>
            <a:srgbClr val="0F1929"/>
          </a:solidFill>
          <a:ln w="12700">
            <a:solidFill>
              <a:srgbClr val="4FB3F0">
                <a:alpha val="45000"/>
              </a:srgbClr>
            </a:solidFill>
            <a:prstDash val="solid"/>
          </a:ln>
          <a:effectLst>
            <a:outerShdw blurRad="101600" dist="38100" dir="5400000" algn="bl" rotWithShape="0">
              <a:srgbClr val="000000">
                <a:alpha val="35000"/>
              </a:srgbClr>
            </a:outerShdw>
          </a:effectLst>
        </p:spPr>
      </p:sp>
      <p:sp>
        <p:nvSpPr>
          <p:cNvPr id="13" name="Shape 11"/>
          <p:cNvSpPr/>
          <p:nvPr/>
        </p:nvSpPr>
        <p:spPr>
          <a:xfrm>
            <a:off x="4114800" y="1463040"/>
            <a:ext cx="54864" cy="932688"/>
          </a:xfrm>
          <a:prstGeom prst="rect">
            <a:avLst/>
          </a:prstGeom>
          <a:solidFill>
            <a:srgbClr val="4FB3F0"/>
          </a:solidFill>
          <a:ln w="12700">
            <a:solidFill>
              <a:srgbClr val="4FB3F0"/>
            </a:solidFill>
            <a:prstDash val="solid"/>
          </a:ln>
        </p:spPr>
      </p:sp>
      <p:sp>
        <p:nvSpPr>
          <p:cNvPr id="14" name="Text 12"/>
          <p:cNvSpPr/>
          <p:nvPr/>
        </p:nvSpPr>
        <p:spPr>
          <a:xfrm>
            <a:off x="4315968" y="1554480"/>
            <a:ext cx="4297680" cy="292608"/>
          </a:xfrm>
          <a:prstGeom prst="rect">
            <a:avLst/>
          </a:prstGeom>
          <a:noFill/>
          <a:ln/>
        </p:spPr>
        <p:txBody>
          <a:bodyPr wrap="square" lIns="0" tIns="0" rIns="0" bIns="0" rtlCol="0" anchor="ctr"/>
          <a:lstStyle/>
          <a:p>
            <a:pPr marL="0" indent="0">
              <a:buNone/>
            </a:pPr>
            <a:r>
              <a:rPr lang="en-US" sz="1200" b="1" kern="0" spc="100" dirty="0">
                <a:solidFill>
                  <a:srgbClr val="4FB3F0"/>
                </a:solidFill>
                <a:latin typeface="Arial" pitchFamily="34" charset="0"/>
                <a:ea typeface="Arial" pitchFamily="34" charset="-122"/>
                <a:cs typeface="Arial" pitchFamily="34" charset="-120"/>
              </a:rPr>
              <a:t>SUPERVISOR</a:t>
            </a:r>
            <a:endParaRPr lang="en-US" sz="1200" dirty="0"/>
          </a:p>
        </p:txBody>
      </p:sp>
      <p:sp>
        <p:nvSpPr>
          <p:cNvPr id="15" name="Text 13"/>
          <p:cNvSpPr/>
          <p:nvPr/>
        </p:nvSpPr>
        <p:spPr>
          <a:xfrm>
            <a:off x="4315968" y="1883664"/>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Live call monitoring, QA scorecards, coaching notes, performance trends</a:t>
            </a:r>
            <a:endParaRPr lang="en-US" sz="1000" dirty="0"/>
          </a:p>
        </p:txBody>
      </p:sp>
      <p:sp>
        <p:nvSpPr>
          <p:cNvPr id="16" name="Shape 14"/>
          <p:cNvSpPr/>
          <p:nvPr/>
        </p:nvSpPr>
        <p:spPr>
          <a:xfrm>
            <a:off x="4114800" y="2578608"/>
            <a:ext cx="4663440" cy="932688"/>
          </a:xfrm>
          <a:prstGeom prst="rect">
            <a:avLst/>
          </a:prstGeom>
          <a:solidFill>
            <a:srgbClr val="0F1929"/>
          </a:solidFill>
          <a:ln w="12700">
            <a:solidFill>
              <a:srgbClr val="1B6FD8">
                <a:alpha val="45000"/>
              </a:srgbClr>
            </a:solidFill>
            <a:prstDash val="solid"/>
          </a:ln>
          <a:effectLst>
            <a:outerShdw blurRad="101600" dist="38100" dir="5400000" algn="bl" rotWithShape="0">
              <a:srgbClr val="000000">
                <a:alpha val="35000"/>
              </a:srgbClr>
            </a:outerShdw>
          </a:effectLst>
        </p:spPr>
      </p:sp>
      <p:sp>
        <p:nvSpPr>
          <p:cNvPr id="17" name="Shape 15"/>
          <p:cNvSpPr/>
          <p:nvPr/>
        </p:nvSpPr>
        <p:spPr>
          <a:xfrm>
            <a:off x="4114800" y="2578608"/>
            <a:ext cx="54864" cy="932688"/>
          </a:xfrm>
          <a:prstGeom prst="rect">
            <a:avLst/>
          </a:prstGeom>
          <a:solidFill>
            <a:srgbClr val="1B6FD8"/>
          </a:solidFill>
          <a:ln w="12700">
            <a:solidFill>
              <a:srgbClr val="1B6FD8"/>
            </a:solidFill>
            <a:prstDash val="solid"/>
          </a:ln>
        </p:spPr>
      </p:sp>
      <p:sp>
        <p:nvSpPr>
          <p:cNvPr id="18" name="Text 16"/>
          <p:cNvSpPr/>
          <p:nvPr/>
        </p:nvSpPr>
        <p:spPr>
          <a:xfrm>
            <a:off x="4315968" y="2670048"/>
            <a:ext cx="4297680" cy="292608"/>
          </a:xfrm>
          <a:prstGeom prst="rect">
            <a:avLst/>
          </a:prstGeom>
          <a:noFill/>
          <a:ln/>
        </p:spPr>
        <p:txBody>
          <a:bodyPr wrap="square" lIns="0" tIns="0" rIns="0" bIns="0" rtlCol="0" anchor="ctr"/>
          <a:lstStyle/>
          <a:p>
            <a:pPr marL="0" indent="0">
              <a:buNone/>
            </a:pPr>
            <a:r>
              <a:rPr lang="en-US" sz="1200" b="1" kern="0" spc="100" dirty="0">
                <a:solidFill>
                  <a:srgbClr val="1B6FD8"/>
                </a:solidFill>
                <a:latin typeface="Arial" pitchFamily="34" charset="0"/>
                <a:ea typeface="Arial" pitchFamily="34" charset="-122"/>
                <a:cs typeface="Arial" pitchFamily="34" charset="-120"/>
              </a:rPr>
              <a:t>CAMPUS SAFETY</a:t>
            </a:r>
            <a:endParaRPr lang="en-US" sz="1200" dirty="0"/>
          </a:p>
        </p:txBody>
      </p:sp>
      <p:sp>
        <p:nvSpPr>
          <p:cNvPr id="19" name="Text 17"/>
          <p:cNvSpPr/>
          <p:nvPr/>
        </p:nvSpPr>
        <p:spPr>
          <a:xfrm>
            <a:off x="4315968" y="2999232"/>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QR/NFC reporting, zone-based incidents, Clery Act documentation</a:t>
            </a:r>
            <a:endParaRPr lang="en-US" sz="1000" dirty="0"/>
          </a:p>
        </p:txBody>
      </p:sp>
      <p:sp>
        <p:nvSpPr>
          <p:cNvPr id="20" name="Shape 18"/>
          <p:cNvSpPr/>
          <p:nvPr/>
        </p:nvSpPr>
        <p:spPr>
          <a:xfrm>
            <a:off x="4114800" y="3694176"/>
            <a:ext cx="4663440" cy="932688"/>
          </a:xfrm>
          <a:prstGeom prst="rect">
            <a:avLst/>
          </a:prstGeom>
          <a:solidFill>
            <a:srgbClr val="0F1929"/>
          </a:solidFill>
          <a:ln w="12700">
            <a:solidFill>
              <a:srgbClr val="8FA3BE">
                <a:alpha val="45000"/>
              </a:srgbClr>
            </a:solidFill>
            <a:prstDash val="solid"/>
          </a:ln>
          <a:effectLst>
            <a:outerShdw blurRad="101600" dist="38100" dir="5400000" algn="bl" rotWithShape="0">
              <a:srgbClr val="000000">
                <a:alpha val="35000"/>
              </a:srgbClr>
            </a:outerShdw>
          </a:effectLst>
        </p:spPr>
      </p:sp>
      <p:sp>
        <p:nvSpPr>
          <p:cNvPr id="21" name="Shape 19"/>
          <p:cNvSpPr/>
          <p:nvPr/>
        </p:nvSpPr>
        <p:spPr>
          <a:xfrm>
            <a:off x="4114800" y="3694176"/>
            <a:ext cx="54864" cy="932688"/>
          </a:xfrm>
          <a:prstGeom prst="rect">
            <a:avLst/>
          </a:prstGeom>
          <a:solidFill>
            <a:srgbClr val="8FA3BE"/>
          </a:solidFill>
          <a:ln w="12700">
            <a:solidFill>
              <a:srgbClr val="8FA3BE"/>
            </a:solidFill>
            <a:prstDash val="solid"/>
          </a:ln>
        </p:spPr>
      </p:sp>
      <p:sp>
        <p:nvSpPr>
          <p:cNvPr id="22" name="Text 20"/>
          <p:cNvSpPr/>
          <p:nvPr/>
        </p:nvSpPr>
        <p:spPr>
          <a:xfrm>
            <a:off x="4315968" y="3785616"/>
            <a:ext cx="4297680" cy="292608"/>
          </a:xfrm>
          <a:prstGeom prst="rect">
            <a:avLst/>
          </a:prstGeom>
          <a:noFill/>
          <a:ln/>
        </p:spPr>
        <p:txBody>
          <a:bodyPr wrap="square" lIns="0" tIns="0" rIns="0" bIns="0" rtlCol="0" anchor="ctr"/>
          <a:lstStyle/>
          <a:p>
            <a:pPr marL="0" indent="0">
              <a:buNone/>
            </a:pPr>
            <a:r>
              <a:rPr lang="en-US" sz="1200" b="1" kern="0" spc="100" dirty="0">
                <a:solidFill>
                  <a:srgbClr val="8FA3BE"/>
                </a:solidFill>
                <a:latin typeface="Arial" pitchFamily="34" charset="0"/>
                <a:ea typeface="Arial" pitchFamily="34" charset="-122"/>
                <a:cs typeface="Arial" pitchFamily="34" charset="-120"/>
              </a:rPr>
              <a:t>VENUE &amp; HOSPITAL</a:t>
            </a:r>
            <a:endParaRPr lang="en-US" sz="1200" dirty="0"/>
          </a:p>
        </p:txBody>
      </p:sp>
      <p:sp>
        <p:nvSpPr>
          <p:cNvPr id="23" name="Text 21"/>
          <p:cNvSpPr/>
          <p:nvPr/>
        </p:nvSpPr>
        <p:spPr>
          <a:xfrm>
            <a:off x="4315968" y="4114800"/>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Fan-to-security reporting, pre-alert intake, MCI coordination, capacity routing</a:t>
            </a:r>
            <a:endParaRPr lang="en-US" sz="1000" dirty="0"/>
          </a:p>
        </p:txBody>
      </p:sp>
      <p:sp>
        <p:nvSpPr>
          <p:cNvPr id="24" name="Shape 0">
            <a:extLst>
              <a:ext uri="{FF2B5EF4-FFF2-40B4-BE49-F238E27FC236}">
                <a16:creationId xmlns:a16="http://schemas.microsoft.com/office/drawing/2014/main" id="{E41E107E-BB15-573B-809A-AB296A8B905C}"/>
              </a:ext>
            </a:extLst>
          </p:cNvPr>
          <p:cNvSpPr/>
          <p:nvPr/>
        </p:nvSpPr>
        <p:spPr>
          <a:xfrm>
            <a:off x="0" y="5088636"/>
            <a:ext cx="9144000" cy="54864"/>
          </a:xfrm>
          <a:prstGeom prst="rect">
            <a:avLst/>
          </a:prstGeom>
          <a:solidFill>
            <a:schemeClr val="bg1"/>
          </a:solidFill>
          <a:ln w="12700">
            <a:noFill/>
            <a:prstDash val="solid"/>
          </a:ln>
        </p:spPr>
      </p:sp>
      <p:sp>
        <p:nvSpPr>
          <p:cNvPr id="25" name="Shape 0">
            <a:extLst>
              <a:ext uri="{FF2B5EF4-FFF2-40B4-BE49-F238E27FC236}">
                <a16:creationId xmlns:a16="http://schemas.microsoft.com/office/drawing/2014/main" id="{7A908030-A44D-4FF2-D115-98984533542A}"/>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6" name="Shape 0">
            <a:extLst>
              <a:ext uri="{FF2B5EF4-FFF2-40B4-BE49-F238E27FC236}">
                <a16:creationId xmlns:a16="http://schemas.microsoft.com/office/drawing/2014/main" id="{422D6947-E0F8-57C3-BF96-2A68630A80BF}"/>
              </a:ext>
            </a:extLst>
          </p:cNvPr>
          <p:cNvSpPr/>
          <p:nvPr/>
        </p:nvSpPr>
        <p:spPr>
          <a:xfrm rot="5400000">
            <a:off x="-2576323" y="2553462"/>
            <a:ext cx="5152644" cy="45719"/>
          </a:xfrm>
          <a:prstGeom prst="rect">
            <a:avLst/>
          </a:prstGeom>
          <a:solidFill>
            <a:srgbClr val="FF0000"/>
          </a:solidFill>
          <a:ln w="12700">
            <a:noFill/>
            <a:prstDash val="solid"/>
          </a:ln>
        </p:spPr>
      </p:sp>
      <p:sp>
        <p:nvSpPr>
          <p:cNvPr id="27" name="Shape 0">
            <a:extLst>
              <a:ext uri="{FF2B5EF4-FFF2-40B4-BE49-F238E27FC236}">
                <a16:creationId xmlns:a16="http://schemas.microsoft.com/office/drawing/2014/main" id="{24327E7C-A44D-6944-40CF-CB459475FA61}"/>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D1520"/>
        </a:solidFill>
        <a:effectLst/>
      </p:bgPr>
    </p:bg>
    <p:spTree>
      <p:nvGrpSpPr>
        <p:cNvPr id="1" name=""/>
        <p:cNvGrpSpPr/>
        <p:nvPr/>
      </p:nvGrpSpPr>
      <p:grpSpPr>
        <a:xfrm>
          <a:off x="0" y="0"/>
          <a:ext cx="0" cy="0"/>
          <a:chOff x="0" y="0"/>
          <a:chExt cx="0" cy="0"/>
        </a:xfrm>
      </p:grpSpPr>
      <p:sp>
        <p:nvSpPr>
          <p:cNvPr id="2" name="Shape 0"/>
          <p:cNvSpPr/>
          <p:nvPr/>
        </p:nvSpPr>
        <p:spPr>
          <a:xfrm>
            <a:off x="45720" y="0"/>
            <a:ext cx="3840480" cy="5143500"/>
          </a:xfrm>
          <a:prstGeom prst="rect">
            <a:avLst/>
          </a:prstGeom>
          <a:solidFill>
            <a:srgbClr val="060A0F"/>
          </a:solidFill>
          <a:ln w="12700">
            <a:solidFill>
              <a:srgbClr val="060A0F"/>
            </a:solidFill>
            <a:prstDash val="solid"/>
          </a:ln>
        </p:spPr>
      </p:sp>
      <p:sp>
        <p:nvSpPr>
          <p:cNvPr id="3" name="Shape 1"/>
          <p:cNvSpPr/>
          <p:nvPr/>
        </p:nvSpPr>
        <p:spPr>
          <a:xfrm>
            <a:off x="384048" y="34747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429768" y="347472"/>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VERTICAL MARKETS</a:t>
            </a:r>
            <a:endParaRPr lang="en-US" sz="700" dirty="0"/>
          </a:p>
        </p:txBody>
      </p:sp>
      <p:sp>
        <p:nvSpPr>
          <p:cNvPr id="5" name="Text 3"/>
          <p:cNvSpPr/>
          <p:nvPr/>
        </p:nvSpPr>
        <p:spPr>
          <a:xfrm>
            <a:off x="384048" y="658368"/>
            <a:ext cx="3200400" cy="12801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ONE PLATFORM.</a:t>
            </a:r>
            <a:endParaRPr lang="en-US" sz="2800" dirty="0"/>
          </a:p>
        </p:txBody>
      </p:sp>
      <p:sp>
        <p:nvSpPr>
          <p:cNvPr id="6" name="Text 4"/>
          <p:cNvSpPr/>
          <p:nvPr/>
        </p:nvSpPr>
        <p:spPr>
          <a:xfrm>
            <a:off x="365760" y="2178558"/>
            <a:ext cx="3200400" cy="685800"/>
          </a:xfrm>
          <a:prstGeom prst="rect">
            <a:avLst/>
          </a:prstGeom>
          <a:noFill/>
          <a:ln/>
        </p:spPr>
        <p:txBody>
          <a:bodyPr wrap="square" lIns="0" tIns="0" rIns="0" bIns="0" rtlCol="0" anchor="ctr"/>
          <a:lstStyle/>
          <a:p>
            <a:pPr marL="0" indent="0" algn="ctr">
              <a:buNone/>
            </a:pPr>
            <a:r>
              <a:rPr lang="en-US" sz="2800" b="1" dirty="0">
                <a:solidFill>
                  <a:srgbClr val="C8102E"/>
                </a:solidFill>
                <a:latin typeface="Arial" pitchFamily="34" charset="0"/>
                <a:ea typeface="Arial" pitchFamily="34" charset="-122"/>
                <a:cs typeface="Arial" pitchFamily="34" charset="-120"/>
              </a:rPr>
              <a:t>FIVE MARKETS.</a:t>
            </a:r>
            <a:endParaRPr lang="en-US" sz="2800" dirty="0"/>
          </a:p>
        </p:txBody>
      </p:sp>
      <p:sp>
        <p:nvSpPr>
          <p:cNvPr id="7" name="Text 5"/>
          <p:cNvSpPr/>
          <p:nvPr/>
        </p:nvSpPr>
        <p:spPr>
          <a:xfrm>
            <a:off x="384048" y="2788920"/>
            <a:ext cx="3200400" cy="1188720"/>
          </a:xfrm>
          <a:prstGeom prst="rect">
            <a:avLst/>
          </a:prstGeom>
          <a:noFill/>
          <a:ln/>
        </p:spPr>
        <p:txBody>
          <a:bodyPr wrap="square" lIns="0" tIns="0" rIns="0" bIns="0" rtlCol="0" anchor="ctr"/>
          <a:lstStyle/>
          <a:p>
            <a:pPr marL="0" indent="0">
              <a:buNone/>
            </a:pPr>
            <a:r>
              <a:rPr lang="en-US" sz="1150" dirty="0">
                <a:solidFill>
                  <a:srgbClr val="8FA3BE"/>
                </a:solidFill>
                <a:latin typeface="Arial" pitchFamily="34" charset="0"/>
                <a:ea typeface="Arial" pitchFamily="34" charset="-122"/>
                <a:cs typeface="Arial" pitchFamily="34" charset="-120"/>
              </a:rPr>
              <a:t>NexCort iQ enhances your existing CAD system, telephony, and workflows — without replacing anything your team already relies on.</a:t>
            </a:r>
            <a:endParaRPr lang="en-US" sz="1150" dirty="0"/>
          </a:p>
        </p:txBody>
      </p:sp>
      <p:sp>
        <p:nvSpPr>
          <p:cNvPr id="8" name="Shape 6"/>
          <p:cNvSpPr/>
          <p:nvPr/>
        </p:nvSpPr>
        <p:spPr>
          <a:xfrm>
            <a:off x="4114800" y="347472"/>
            <a:ext cx="4663440" cy="932688"/>
          </a:xfrm>
          <a:prstGeom prst="rect">
            <a:avLst/>
          </a:prstGeom>
          <a:solidFill>
            <a:srgbClr val="0F1929"/>
          </a:solidFill>
          <a:ln w="12700">
            <a:solidFill>
              <a:srgbClr val="C8102E">
                <a:alpha val="45000"/>
              </a:srgbClr>
            </a:solidFill>
            <a:prstDash val="solid"/>
          </a:ln>
          <a:effectLst>
            <a:outerShdw blurRad="101600" dist="38100" dir="5400000" algn="bl" rotWithShape="0">
              <a:srgbClr val="000000">
                <a:alpha val="35000"/>
              </a:srgbClr>
            </a:outerShdw>
          </a:effectLst>
        </p:spPr>
      </p:sp>
      <p:sp>
        <p:nvSpPr>
          <p:cNvPr id="9" name="Shape 7"/>
          <p:cNvSpPr/>
          <p:nvPr/>
        </p:nvSpPr>
        <p:spPr>
          <a:xfrm>
            <a:off x="4114800" y="347472"/>
            <a:ext cx="54864" cy="932688"/>
          </a:xfrm>
          <a:prstGeom prst="rect">
            <a:avLst/>
          </a:prstGeom>
          <a:solidFill>
            <a:srgbClr val="C8102E"/>
          </a:solidFill>
          <a:ln w="12700">
            <a:solidFill>
              <a:srgbClr val="C8102E"/>
            </a:solidFill>
            <a:prstDash val="solid"/>
          </a:ln>
        </p:spPr>
      </p:sp>
      <p:sp>
        <p:nvSpPr>
          <p:cNvPr id="10" name="Text 8"/>
          <p:cNvSpPr/>
          <p:nvPr/>
        </p:nvSpPr>
        <p:spPr>
          <a:xfrm>
            <a:off x="4315968" y="438912"/>
            <a:ext cx="4297680" cy="292608"/>
          </a:xfrm>
          <a:prstGeom prst="rect">
            <a:avLst/>
          </a:prstGeom>
          <a:noFill/>
          <a:ln/>
        </p:spPr>
        <p:txBody>
          <a:bodyPr wrap="square" lIns="0" tIns="0" rIns="0" bIns="0" rtlCol="0" anchor="ctr"/>
          <a:lstStyle/>
          <a:p>
            <a:pPr marL="0" indent="0">
              <a:buNone/>
            </a:pPr>
            <a:r>
              <a:rPr lang="en-US" sz="1200" b="1" kern="0" spc="100" dirty="0">
                <a:solidFill>
                  <a:srgbClr val="C8102E"/>
                </a:solidFill>
                <a:latin typeface="Arial" pitchFamily="34" charset="0"/>
                <a:ea typeface="Arial" pitchFamily="34" charset="-122"/>
                <a:cs typeface="Arial" pitchFamily="34" charset="-120"/>
              </a:rPr>
              <a:t>RC 911</a:t>
            </a:r>
            <a:endParaRPr lang="en-US" sz="1200" dirty="0"/>
          </a:p>
        </p:txBody>
      </p:sp>
      <p:sp>
        <p:nvSpPr>
          <p:cNvPr id="11" name="Text 9"/>
          <p:cNvSpPr/>
          <p:nvPr/>
        </p:nvSpPr>
        <p:spPr>
          <a:xfrm>
            <a:off x="4315968" y="768096"/>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$2,800–$50,000 / mo · Seat-based · Essential → Command → Enterprise</a:t>
            </a:r>
            <a:endParaRPr lang="en-US" sz="1000" dirty="0"/>
          </a:p>
        </p:txBody>
      </p:sp>
      <p:sp>
        <p:nvSpPr>
          <p:cNvPr id="12" name="Shape 10"/>
          <p:cNvSpPr/>
          <p:nvPr/>
        </p:nvSpPr>
        <p:spPr>
          <a:xfrm>
            <a:off x="4114800" y="1463040"/>
            <a:ext cx="4663440" cy="932688"/>
          </a:xfrm>
          <a:prstGeom prst="rect">
            <a:avLst/>
          </a:prstGeom>
          <a:solidFill>
            <a:srgbClr val="0F1929"/>
          </a:solidFill>
          <a:ln w="12700">
            <a:solidFill>
              <a:srgbClr val="4FB3F0">
                <a:alpha val="45000"/>
              </a:srgbClr>
            </a:solidFill>
            <a:prstDash val="solid"/>
          </a:ln>
          <a:effectLst>
            <a:outerShdw blurRad="101600" dist="38100" dir="5400000" algn="bl" rotWithShape="0">
              <a:srgbClr val="000000">
                <a:alpha val="35000"/>
              </a:srgbClr>
            </a:outerShdw>
          </a:effectLst>
        </p:spPr>
      </p:sp>
      <p:sp>
        <p:nvSpPr>
          <p:cNvPr id="13" name="Shape 11"/>
          <p:cNvSpPr/>
          <p:nvPr/>
        </p:nvSpPr>
        <p:spPr>
          <a:xfrm>
            <a:off x="4114800" y="1463040"/>
            <a:ext cx="54864" cy="932688"/>
          </a:xfrm>
          <a:prstGeom prst="rect">
            <a:avLst/>
          </a:prstGeom>
          <a:solidFill>
            <a:srgbClr val="4FB3F0"/>
          </a:solidFill>
          <a:ln w="12700">
            <a:solidFill>
              <a:srgbClr val="4FB3F0"/>
            </a:solidFill>
            <a:prstDash val="solid"/>
          </a:ln>
        </p:spPr>
      </p:sp>
      <p:sp>
        <p:nvSpPr>
          <p:cNvPr id="14" name="Text 12"/>
          <p:cNvSpPr/>
          <p:nvPr/>
        </p:nvSpPr>
        <p:spPr>
          <a:xfrm>
            <a:off x="4315968" y="1554480"/>
            <a:ext cx="4297680" cy="292608"/>
          </a:xfrm>
          <a:prstGeom prst="rect">
            <a:avLst/>
          </a:prstGeom>
          <a:noFill/>
          <a:ln/>
        </p:spPr>
        <p:txBody>
          <a:bodyPr wrap="square" lIns="0" tIns="0" rIns="0" bIns="0" rtlCol="0" anchor="ctr"/>
          <a:lstStyle/>
          <a:p>
            <a:pPr marL="0" indent="0">
              <a:buNone/>
            </a:pPr>
            <a:r>
              <a:rPr lang="en-US" sz="1200" b="1" kern="0" spc="100" dirty="0">
                <a:solidFill>
                  <a:srgbClr val="4FB3F0"/>
                </a:solidFill>
                <a:latin typeface="Arial" pitchFamily="34" charset="0"/>
                <a:ea typeface="Arial" pitchFamily="34" charset="-122"/>
                <a:cs typeface="Arial" pitchFamily="34" charset="-120"/>
              </a:rPr>
              <a:t>RC CAMPUS</a:t>
            </a:r>
            <a:endParaRPr lang="en-US" sz="1200" dirty="0"/>
          </a:p>
        </p:txBody>
      </p:sp>
      <p:sp>
        <p:nvSpPr>
          <p:cNvPr id="15" name="Text 13"/>
          <p:cNvSpPr/>
          <p:nvPr/>
        </p:nvSpPr>
        <p:spPr>
          <a:xfrm>
            <a:off x="4315968" y="1883664"/>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$1.40 / enrolled student / yr · Min $15K · Clery Act built in</a:t>
            </a:r>
            <a:endParaRPr lang="en-US" sz="1000" dirty="0"/>
          </a:p>
        </p:txBody>
      </p:sp>
      <p:sp>
        <p:nvSpPr>
          <p:cNvPr id="16" name="Shape 14"/>
          <p:cNvSpPr/>
          <p:nvPr/>
        </p:nvSpPr>
        <p:spPr>
          <a:xfrm>
            <a:off x="4114800" y="2578608"/>
            <a:ext cx="4663440" cy="932688"/>
          </a:xfrm>
          <a:prstGeom prst="rect">
            <a:avLst/>
          </a:prstGeom>
          <a:solidFill>
            <a:srgbClr val="0F1929"/>
          </a:solidFill>
          <a:ln w="12700">
            <a:solidFill>
              <a:srgbClr val="1B6FD8">
                <a:alpha val="45000"/>
              </a:srgbClr>
            </a:solidFill>
            <a:prstDash val="solid"/>
          </a:ln>
          <a:effectLst>
            <a:outerShdw blurRad="101600" dist="38100" dir="5400000" algn="bl" rotWithShape="0">
              <a:srgbClr val="000000">
                <a:alpha val="35000"/>
              </a:srgbClr>
            </a:outerShdw>
          </a:effectLst>
        </p:spPr>
      </p:sp>
      <p:sp>
        <p:nvSpPr>
          <p:cNvPr id="17" name="Shape 15"/>
          <p:cNvSpPr/>
          <p:nvPr/>
        </p:nvSpPr>
        <p:spPr>
          <a:xfrm>
            <a:off x="4114800" y="2578608"/>
            <a:ext cx="54864" cy="932688"/>
          </a:xfrm>
          <a:prstGeom prst="rect">
            <a:avLst/>
          </a:prstGeom>
          <a:solidFill>
            <a:srgbClr val="1B6FD8"/>
          </a:solidFill>
          <a:ln w="12700">
            <a:solidFill>
              <a:srgbClr val="1B6FD8"/>
            </a:solidFill>
            <a:prstDash val="solid"/>
          </a:ln>
        </p:spPr>
      </p:sp>
      <p:sp>
        <p:nvSpPr>
          <p:cNvPr id="18" name="Text 16"/>
          <p:cNvSpPr/>
          <p:nvPr/>
        </p:nvSpPr>
        <p:spPr>
          <a:xfrm>
            <a:off x="4315968" y="2670048"/>
            <a:ext cx="4297680" cy="292608"/>
          </a:xfrm>
          <a:prstGeom prst="rect">
            <a:avLst/>
          </a:prstGeom>
          <a:noFill/>
          <a:ln/>
        </p:spPr>
        <p:txBody>
          <a:bodyPr wrap="square" lIns="0" tIns="0" rIns="0" bIns="0" rtlCol="0" anchor="ctr"/>
          <a:lstStyle/>
          <a:p>
            <a:pPr marL="0" indent="0">
              <a:buNone/>
            </a:pPr>
            <a:r>
              <a:rPr lang="en-US" sz="1200" b="1" kern="0" spc="100" dirty="0">
                <a:solidFill>
                  <a:srgbClr val="1B6FD8"/>
                </a:solidFill>
                <a:latin typeface="Arial" pitchFamily="34" charset="0"/>
                <a:ea typeface="Arial" pitchFamily="34" charset="-122"/>
                <a:cs typeface="Arial" pitchFamily="34" charset="-120"/>
              </a:rPr>
              <a:t>COMMAND STAFF</a:t>
            </a:r>
            <a:endParaRPr lang="en-US" sz="1200" dirty="0"/>
          </a:p>
        </p:txBody>
      </p:sp>
      <p:sp>
        <p:nvSpPr>
          <p:cNvPr id="19" name="Text 17"/>
          <p:cNvSpPr/>
          <p:nvPr/>
        </p:nvSpPr>
        <p:spPr>
          <a:xfrm>
            <a:off x="4315968" y="2999232"/>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War rooms, incident timelines, runbooks, post-incident review</a:t>
            </a:r>
            <a:endParaRPr lang="en-US" sz="1000" dirty="0"/>
          </a:p>
        </p:txBody>
      </p:sp>
      <p:sp>
        <p:nvSpPr>
          <p:cNvPr id="20" name="Shape 18"/>
          <p:cNvSpPr/>
          <p:nvPr/>
        </p:nvSpPr>
        <p:spPr>
          <a:xfrm>
            <a:off x="4114800" y="3694176"/>
            <a:ext cx="4663440" cy="932688"/>
          </a:xfrm>
          <a:prstGeom prst="rect">
            <a:avLst/>
          </a:prstGeom>
          <a:solidFill>
            <a:srgbClr val="0F1929"/>
          </a:solidFill>
          <a:ln w="12700">
            <a:solidFill>
              <a:srgbClr val="8FA3BE">
                <a:alpha val="45000"/>
              </a:srgbClr>
            </a:solidFill>
            <a:prstDash val="solid"/>
          </a:ln>
          <a:effectLst>
            <a:outerShdw blurRad="101600" dist="38100" dir="5400000" algn="bl" rotWithShape="0">
              <a:srgbClr val="000000">
                <a:alpha val="35000"/>
              </a:srgbClr>
            </a:outerShdw>
          </a:effectLst>
        </p:spPr>
      </p:sp>
      <p:sp>
        <p:nvSpPr>
          <p:cNvPr id="21" name="Shape 19"/>
          <p:cNvSpPr/>
          <p:nvPr/>
        </p:nvSpPr>
        <p:spPr>
          <a:xfrm>
            <a:off x="4114800" y="3694176"/>
            <a:ext cx="54864" cy="932688"/>
          </a:xfrm>
          <a:prstGeom prst="rect">
            <a:avLst/>
          </a:prstGeom>
          <a:solidFill>
            <a:srgbClr val="8FA3BE"/>
          </a:solidFill>
          <a:ln w="12700">
            <a:solidFill>
              <a:srgbClr val="8FA3BE"/>
            </a:solidFill>
            <a:prstDash val="solid"/>
          </a:ln>
        </p:spPr>
      </p:sp>
      <p:sp>
        <p:nvSpPr>
          <p:cNvPr id="22" name="Text 20"/>
          <p:cNvSpPr/>
          <p:nvPr/>
        </p:nvSpPr>
        <p:spPr>
          <a:xfrm>
            <a:off x="4315968" y="3785616"/>
            <a:ext cx="4297680" cy="292608"/>
          </a:xfrm>
          <a:prstGeom prst="rect">
            <a:avLst/>
          </a:prstGeom>
          <a:noFill/>
          <a:ln/>
        </p:spPr>
        <p:txBody>
          <a:bodyPr wrap="square" lIns="0" tIns="0" rIns="0" bIns="0" rtlCol="0" anchor="ctr"/>
          <a:lstStyle/>
          <a:p>
            <a:pPr marL="0" indent="0">
              <a:buNone/>
            </a:pPr>
            <a:r>
              <a:rPr lang="en-US" sz="1200" b="1" kern="0" spc="100" dirty="0">
                <a:solidFill>
                  <a:srgbClr val="8FA3BE"/>
                </a:solidFill>
                <a:latin typeface="Arial" pitchFamily="34" charset="0"/>
                <a:ea typeface="Arial" pitchFamily="34" charset="-122"/>
                <a:cs typeface="Arial" pitchFamily="34" charset="-120"/>
              </a:rPr>
              <a:t>AGENCY IT / ADMIN</a:t>
            </a:r>
            <a:endParaRPr lang="en-US" sz="1200" dirty="0"/>
          </a:p>
        </p:txBody>
      </p:sp>
      <p:sp>
        <p:nvSpPr>
          <p:cNvPr id="23" name="Text 21"/>
          <p:cNvSpPr/>
          <p:nvPr/>
        </p:nvSpPr>
        <p:spPr>
          <a:xfrm>
            <a:off x="4315968" y="4114800"/>
            <a:ext cx="4297680" cy="420624"/>
          </a:xfrm>
          <a:prstGeom prst="rect">
            <a:avLst/>
          </a:prstGeom>
          <a:noFill/>
          <a:ln/>
        </p:spPr>
        <p:txBody>
          <a:bodyPr wrap="square" lIns="0" tIns="0" rIns="0" bIns="0" rtlCol="0" anchor="ctr"/>
          <a:lstStyle/>
          <a:p>
            <a:pPr marL="0" indent="0">
              <a:buNone/>
            </a:pPr>
            <a:r>
              <a:rPr lang="en-US" sz="1000" dirty="0">
                <a:solidFill>
                  <a:srgbClr val="8FA3BE"/>
                </a:solidFill>
                <a:latin typeface="Arial" pitchFamily="34" charset="0"/>
                <a:ea typeface="Arial" pitchFamily="34" charset="-122"/>
                <a:cs typeface="Arial" pitchFamily="34" charset="-120"/>
              </a:rPr>
              <a:t>RBAC, tenant isolation, audit logs, integrations, API key management</a:t>
            </a:r>
            <a:endParaRPr lang="en-US" sz="1000" dirty="0"/>
          </a:p>
        </p:txBody>
      </p:sp>
      <p:sp>
        <p:nvSpPr>
          <p:cNvPr id="24" name="Shape 0">
            <a:extLst>
              <a:ext uri="{FF2B5EF4-FFF2-40B4-BE49-F238E27FC236}">
                <a16:creationId xmlns:a16="http://schemas.microsoft.com/office/drawing/2014/main" id="{E41E107E-BB15-573B-809A-AB296A8B905C}"/>
              </a:ext>
            </a:extLst>
          </p:cNvPr>
          <p:cNvSpPr/>
          <p:nvPr/>
        </p:nvSpPr>
        <p:spPr>
          <a:xfrm>
            <a:off x="0" y="5088636"/>
            <a:ext cx="9144000" cy="54864"/>
          </a:xfrm>
          <a:prstGeom prst="rect">
            <a:avLst/>
          </a:prstGeom>
          <a:solidFill>
            <a:schemeClr val="bg1"/>
          </a:solidFill>
          <a:ln w="12700">
            <a:noFill/>
            <a:prstDash val="solid"/>
          </a:ln>
        </p:spPr>
      </p:sp>
      <p:sp>
        <p:nvSpPr>
          <p:cNvPr id="25" name="Shape 0">
            <a:extLst>
              <a:ext uri="{FF2B5EF4-FFF2-40B4-BE49-F238E27FC236}">
                <a16:creationId xmlns:a16="http://schemas.microsoft.com/office/drawing/2014/main" id="{7A908030-A44D-4FF2-D115-98984533542A}"/>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6" name="Shape 0">
            <a:extLst>
              <a:ext uri="{FF2B5EF4-FFF2-40B4-BE49-F238E27FC236}">
                <a16:creationId xmlns:a16="http://schemas.microsoft.com/office/drawing/2014/main" id="{422D6947-E0F8-57C3-BF96-2A68630A80BF}"/>
              </a:ext>
            </a:extLst>
          </p:cNvPr>
          <p:cNvSpPr/>
          <p:nvPr/>
        </p:nvSpPr>
        <p:spPr>
          <a:xfrm rot="5400000">
            <a:off x="-2576323" y="2553462"/>
            <a:ext cx="5152644" cy="45719"/>
          </a:xfrm>
          <a:prstGeom prst="rect">
            <a:avLst/>
          </a:prstGeom>
          <a:solidFill>
            <a:srgbClr val="FF0000"/>
          </a:solidFill>
          <a:ln w="12700">
            <a:noFill/>
            <a:prstDash val="solid"/>
          </a:ln>
        </p:spPr>
      </p:sp>
      <p:sp>
        <p:nvSpPr>
          <p:cNvPr id="27" name="Shape 0">
            <a:extLst>
              <a:ext uri="{FF2B5EF4-FFF2-40B4-BE49-F238E27FC236}">
                <a16:creationId xmlns:a16="http://schemas.microsoft.com/office/drawing/2014/main" id="{24327E7C-A44D-6944-40CF-CB459475FA61}"/>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60A0F"/>
        </a:solidFill>
        <a:effectLst/>
      </p:bgPr>
    </p:bg>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64703BA5-7932-9EBF-0BED-8740E7A9BBE5}"/>
              </a:ext>
            </a:extLst>
          </p:cNvPr>
          <p:cNvSpPr/>
          <p:nvPr/>
        </p:nvSpPr>
        <p:spPr>
          <a:xfrm>
            <a:off x="0" y="5088636"/>
            <a:ext cx="9144000" cy="54864"/>
          </a:xfrm>
          <a:prstGeom prst="rect">
            <a:avLst/>
          </a:prstGeom>
          <a:solidFill>
            <a:schemeClr val="bg1"/>
          </a:solidFill>
          <a:ln w="12700">
            <a:noFill/>
            <a:prstDash val="solid"/>
          </a:ln>
        </p:spPr>
      </p:sp>
      <p:sp>
        <p:nvSpPr>
          <p:cNvPr id="2" name="Shape 0"/>
          <p:cNvSpPr/>
          <p:nvPr/>
        </p:nvSpPr>
        <p:spPr>
          <a:xfrm>
            <a:off x="3127248" y="1371600"/>
            <a:ext cx="2743200" cy="2743200"/>
          </a:xfrm>
          <a:prstGeom prst="rect">
            <a:avLst/>
          </a:prstGeom>
          <a:solidFill>
            <a:srgbClr val="C8102E">
              <a:alpha val="4000"/>
            </a:srgbClr>
          </a:solidFill>
          <a:ln w="12700">
            <a:noFill/>
            <a:prstDash val="solid"/>
          </a:ln>
        </p:spPr>
      </p:sp>
      <p:sp>
        <p:nvSpPr>
          <p:cNvPr id="3" name="Shape 1"/>
          <p:cNvSpPr/>
          <p:nvPr/>
        </p:nvSpPr>
        <p:spPr>
          <a:xfrm>
            <a:off x="2304288" y="3831336"/>
            <a:ext cx="1645920" cy="374904"/>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2350008" y="3931920"/>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SECURITY &amp; COMPLIANCE</a:t>
            </a:r>
            <a:endParaRPr lang="en-US" sz="700" dirty="0"/>
          </a:p>
        </p:txBody>
      </p:sp>
      <p:sp>
        <p:nvSpPr>
          <p:cNvPr id="5" name="Text 3"/>
          <p:cNvSpPr/>
          <p:nvPr/>
        </p:nvSpPr>
        <p:spPr>
          <a:xfrm>
            <a:off x="342897" y="379476"/>
            <a:ext cx="5029200" cy="141732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MISSION-CRITICAL</a:t>
            </a:r>
            <a:endParaRPr lang="en-US" sz="3800" dirty="0"/>
          </a:p>
          <a:p>
            <a:pPr marL="0" indent="0">
              <a:buNone/>
            </a:pPr>
            <a:r>
              <a:rPr lang="en-US" sz="3800" b="1" dirty="0">
                <a:solidFill>
                  <a:srgbClr val="FFFFFF"/>
                </a:solidFill>
                <a:latin typeface="Arial" pitchFamily="34" charset="0"/>
                <a:ea typeface="Arial" pitchFamily="34" charset="-122"/>
                <a:cs typeface="Arial" pitchFamily="34" charset="-120"/>
              </a:rPr>
              <a:t>SECURITY.</a:t>
            </a:r>
            <a:endParaRPr lang="en-US" sz="3800" dirty="0"/>
          </a:p>
        </p:txBody>
      </p:sp>
      <p:sp>
        <p:nvSpPr>
          <p:cNvPr id="6" name="Text 4"/>
          <p:cNvSpPr/>
          <p:nvPr/>
        </p:nvSpPr>
        <p:spPr>
          <a:xfrm>
            <a:off x="342897" y="1842516"/>
            <a:ext cx="5029200" cy="621792"/>
          </a:xfrm>
          <a:prstGeom prst="rect">
            <a:avLst/>
          </a:prstGeom>
          <a:noFill/>
          <a:ln/>
        </p:spPr>
        <p:txBody>
          <a:bodyPr wrap="square" lIns="0" tIns="0" rIns="0" bIns="0" rtlCol="0" anchor="ctr"/>
          <a:lstStyle/>
          <a:p>
            <a:pPr marL="0" indent="0">
              <a:buNone/>
            </a:pPr>
            <a:r>
              <a:rPr lang="en-US" sz="3800" b="1" dirty="0">
                <a:solidFill>
                  <a:srgbClr val="C8102E"/>
                </a:solidFill>
                <a:latin typeface="Arial" pitchFamily="34" charset="0"/>
                <a:ea typeface="Arial" pitchFamily="34" charset="-122"/>
                <a:cs typeface="Arial" pitchFamily="34" charset="-120"/>
              </a:rPr>
              <a:t>BY DESIGN.</a:t>
            </a:r>
            <a:endParaRPr lang="en-US" sz="3800" dirty="0"/>
          </a:p>
        </p:txBody>
      </p:sp>
      <p:sp>
        <p:nvSpPr>
          <p:cNvPr id="7" name="Text 5"/>
          <p:cNvSpPr/>
          <p:nvPr/>
        </p:nvSpPr>
        <p:spPr>
          <a:xfrm>
            <a:off x="342897" y="2500884"/>
            <a:ext cx="5029200" cy="868680"/>
          </a:xfrm>
          <a:prstGeom prst="rect">
            <a:avLst/>
          </a:prstGeom>
          <a:noFill/>
          <a:ln/>
        </p:spPr>
        <p:txBody>
          <a:bodyPr wrap="square" lIns="0" tIns="0" rIns="0" bIns="0" rtlCol="0" anchor="ctr"/>
          <a:lstStyle/>
          <a:p>
            <a:pPr marL="0" indent="0">
              <a:buNone/>
            </a:pPr>
            <a:r>
              <a:rPr lang="en-US" sz="1200" dirty="0">
                <a:solidFill>
                  <a:srgbClr val="8FA3BE"/>
                </a:solidFill>
                <a:latin typeface="Arial" pitchFamily="34" charset="0"/>
                <a:ea typeface="Arial" pitchFamily="34" charset="-122"/>
                <a:cs typeface="Arial" pitchFamily="34" charset="-120"/>
              </a:rPr>
              <a:t>Public safety data is among the most sensitive in existence.</a:t>
            </a:r>
            <a:endParaRPr lang="en-US" sz="1200" dirty="0"/>
          </a:p>
          <a:p>
            <a:pPr marL="0" indent="0">
              <a:buNone/>
            </a:pPr>
            <a:r>
              <a:rPr lang="en-US" sz="1200" dirty="0">
                <a:solidFill>
                  <a:srgbClr val="8FA3BE"/>
                </a:solidFill>
                <a:latin typeface="Arial" pitchFamily="34" charset="0"/>
                <a:ea typeface="Arial" pitchFamily="34" charset="-122"/>
                <a:cs typeface="Arial" pitchFamily="34" charset="-120"/>
              </a:rPr>
              <a:t>NexCort iQ is built with CJIS-aware principles from day one.</a:t>
            </a:r>
            <a:endParaRPr lang="en-US" sz="1200" dirty="0"/>
          </a:p>
        </p:txBody>
      </p:sp>
      <p:sp>
        <p:nvSpPr>
          <p:cNvPr id="8" name="Shape 6"/>
          <p:cNvSpPr/>
          <p:nvPr/>
        </p:nvSpPr>
        <p:spPr>
          <a:xfrm>
            <a:off x="5760720" y="457200"/>
            <a:ext cx="3017520" cy="1207008"/>
          </a:xfrm>
          <a:prstGeom prst="rect">
            <a:avLst/>
          </a:prstGeom>
          <a:solidFill>
            <a:srgbClr val="0F1929"/>
          </a:solidFill>
          <a:ln w="12700">
            <a:solidFill>
              <a:srgbClr val="1B6FD8">
                <a:alpha val="35000"/>
              </a:srgbClr>
            </a:solidFill>
            <a:prstDash val="solid"/>
          </a:ln>
          <a:effectLst>
            <a:outerShdw blurRad="127000" dist="38100" dir="5400000" algn="bl" rotWithShape="0">
              <a:srgbClr val="000000">
                <a:alpha val="40000"/>
              </a:srgbClr>
            </a:outerShdw>
          </a:effectLst>
        </p:spPr>
      </p:sp>
      <p:pic>
        <p:nvPicPr>
          <p:cNvPr id="9" name="Image 0" descr="preencoded.png"/>
          <p:cNvPicPr>
            <a:picLocks noChangeAspect="1"/>
          </p:cNvPicPr>
          <p:nvPr/>
        </p:nvPicPr>
        <p:blipFill>
          <a:blip r:embed="rId3"/>
          <a:stretch>
            <a:fillRect/>
          </a:stretch>
        </p:blipFill>
        <p:spPr>
          <a:xfrm>
            <a:off x="5943600" y="713232"/>
            <a:ext cx="402336" cy="402336"/>
          </a:xfrm>
          <a:prstGeom prst="rect">
            <a:avLst/>
          </a:prstGeom>
        </p:spPr>
      </p:pic>
      <p:sp>
        <p:nvSpPr>
          <p:cNvPr id="10" name="Text 7"/>
          <p:cNvSpPr/>
          <p:nvPr/>
        </p:nvSpPr>
        <p:spPr>
          <a:xfrm>
            <a:off x="6446520" y="621792"/>
            <a:ext cx="21945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CJIS-Aware Design</a:t>
            </a:r>
            <a:endParaRPr lang="en-US" sz="1200" dirty="0"/>
          </a:p>
        </p:txBody>
      </p:sp>
      <p:sp>
        <p:nvSpPr>
          <p:cNvPr id="11" name="Text 8"/>
          <p:cNvSpPr/>
          <p:nvPr/>
        </p:nvSpPr>
        <p:spPr>
          <a:xfrm>
            <a:off x="6446520" y="987552"/>
            <a:ext cx="2194560" cy="530352"/>
          </a:xfrm>
          <a:prstGeom prst="rect">
            <a:avLst/>
          </a:prstGeom>
          <a:noFill/>
          <a:ln/>
        </p:spPr>
        <p:txBody>
          <a:bodyPr wrap="square" lIns="0" tIns="0" rIns="0" bIns="0" rtlCol="0" anchor="ctr"/>
          <a:lstStyle/>
          <a:p>
            <a:pPr marL="0" indent="0">
              <a:buNone/>
            </a:pPr>
            <a:r>
              <a:rPr lang="en-US" sz="950" dirty="0">
                <a:solidFill>
                  <a:srgbClr val="8FA3BE"/>
                </a:solidFill>
                <a:latin typeface="Arial" pitchFamily="34" charset="0"/>
                <a:ea typeface="Arial" pitchFamily="34" charset="-122"/>
                <a:cs typeface="Arial" pitchFamily="34" charset="-120"/>
              </a:rPr>
              <a:t>Architecture and access controls aligned to CJIS Security Policy</a:t>
            </a:r>
            <a:endParaRPr lang="en-US" sz="950" dirty="0"/>
          </a:p>
        </p:txBody>
      </p:sp>
      <p:sp>
        <p:nvSpPr>
          <p:cNvPr id="12" name="Shape 9"/>
          <p:cNvSpPr/>
          <p:nvPr/>
        </p:nvSpPr>
        <p:spPr>
          <a:xfrm>
            <a:off x="5760720" y="1938528"/>
            <a:ext cx="3017520" cy="1207008"/>
          </a:xfrm>
          <a:prstGeom prst="rect">
            <a:avLst/>
          </a:prstGeom>
          <a:solidFill>
            <a:srgbClr val="0F1929"/>
          </a:solidFill>
          <a:ln w="12700">
            <a:solidFill>
              <a:srgbClr val="1B6FD8">
                <a:alpha val="35000"/>
              </a:srgbClr>
            </a:solidFill>
            <a:prstDash val="solid"/>
          </a:ln>
          <a:effectLst>
            <a:outerShdw blurRad="127000" dist="38100" dir="5400000" algn="bl" rotWithShape="0">
              <a:srgbClr val="000000">
                <a:alpha val="40000"/>
              </a:srgbClr>
            </a:outerShdw>
          </a:effectLst>
        </p:spPr>
      </p:sp>
      <p:pic>
        <p:nvPicPr>
          <p:cNvPr id="13" name="Image 1" descr="preencoded.png"/>
          <p:cNvPicPr>
            <a:picLocks noChangeAspect="1"/>
          </p:cNvPicPr>
          <p:nvPr/>
        </p:nvPicPr>
        <p:blipFill>
          <a:blip r:embed="rId4"/>
          <a:stretch>
            <a:fillRect/>
          </a:stretch>
        </p:blipFill>
        <p:spPr>
          <a:xfrm>
            <a:off x="5943600" y="2194560"/>
            <a:ext cx="402336" cy="402336"/>
          </a:xfrm>
          <a:prstGeom prst="rect">
            <a:avLst/>
          </a:prstGeom>
        </p:spPr>
      </p:pic>
      <p:sp>
        <p:nvSpPr>
          <p:cNvPr id="14" name="Text 10"/>
          <p:cNvSpPr/>
          <p:nvPr/>
        </p:nvSpPr>
        <p:spPr>
          <a:xfrm>
            <a:off x="6446520" y="2103120"/>
            <a:ext cx="21945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Tenant Isolation</a:t>
            </a:r>
            <a:endParaRPr lang="en-US" sz="1200" dirty="0"/>
          </a:p>
        </p:txBody>
      </p:sp>
      <p:sp>
        <p:nvSpPr>
          <p:cNvPr id="15" name="Text 11"/>
          <p:cNvSpPr/>
          <p:nvPr/>
        </p:nvSpPr>
        <p:spPr>
          <a:xfrm>
            <a:off x="6446520" y="2468880"/>
            <a:ext cx="2194560" cy="530352"/>
          </a:xfrm>
          <a:prstGeom prst="rect">
            <a:avLst/>
          </a:prstGeom>
          <a:noFill/>
          <a:ln/>
        </p:spPr>
        <p:txBody>
          <a:bodyPr wrap="square" lIns="0" tIns="0" rIns="0" bIns="0" rtlCol="0" anchor="ctr"/>
          <a:lstStyle/>
          <a:p>
            <a:pPr marL="0" indent="0">
              <a:buNone/>
            </a:pPr>
            <a:r>
              <a:rPr lang="en-US" sz="950" dirty="0">
                <a:solidFill>
                  <a:srgbClr val="8FA3BE"/>
                </a:solidFill>
                <a:latin typeface="Arial" pitchFamily="34" charset="0"/>
                <a:ea typeface="Arial" pitchFamily="34" charset="-122"/>
                <a:cs typeface="Arial" pitchFamily="34" charset="-120"/>
              </a:rPr>
              <a:t>Zero cross-agency data exposure — enforced at every API route</a:t>
            </a:r>
            <a:endParaRPr lang="en-US" sz="950" dirty="0"/>
          </a:p>
        </p:txBody>
      </p:sp>
      <p:sp>
        <p:nvSpPr>
          <p:cNvPr id="16" name="Shape 12"/>
          <p:cNvSpPr/>
          <p:nvPr/>
        </p:nvSpPr>
        <p:spPr>
          <a:xfrm>
            <a:off x="5760720" y="3419856"/>
            <a:ext cx="3017520" cy="1207008"/>
          </a:xfrm>
          <a:prstGeom prst="rect">
            <a:avLst/>
          </a:prstGeom>
          <a:solidFill>
            <a:srgbClr val="0F1929"/>
          </a:solidFill>
          <a:ln w="12700">
            <a:solidFill>
              <a:srgbClr val="1B6FD8">
                <a:alpha val="35000"/>
              </a:srgbClr>
            </a:solidFill>
            <a:prstDash val="solid"/>
          </a:ln>
          <a:effectLst>
            <a:outerShdw blurRad="127000" dist="38100" dir="5400000" algn="bl" rotWithShape="0">
              <a:srgbClr val="000000">
                <a:alpha val="40000"/>
              </a:srgbClr>
            </a:outerShdw>
          </a:effectLst>
        </p:spPr>
      </p:sp>
      <p:pic>
        <p:nvPicPr>
          <p:cNvPr id="17" name="Image 2" descr="preencoded.png"/>
          <p:cNvPicPr>
            <a:picLocks noChangeAspect="1"/>
          </p:cNvPicPr>
          <p:nvPr/>
        </p:nvPicPr>
        <p:blipFill>
          <a:blip r:embed="rId5"/>
          <a:stretch>
            <a:fillRect/>
          </a:stretch>
        </p:blipFill>
        <p:spPr>
          <a:xfrm>
            <a:off x="5943600" y="3675888"/>
            <a:ext cx="402336" cy="402336"/>
          </a:xfrm>
          <a:prstGeom prst="rect">
            <a:avLst/>
          </a:prstGeom>
        </p:spPr>
      </p:pic>
      <p:sp>
        <p:nvSpPr>
          <p:cNvPr id="18" name="Text 13"/>
          <p:cNvSpPr/>
          <p:nvPr/>
        </p:nvSpPr>
        <p:spPr>
          <a:xfrm>
            <a:off x="6446520" y="3584448"/>
            <a:ext cx="21945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Deception Shield + Audit Trail</a:t>
            </a:r>
            <a:endParaRPr lang="en-US" sz="1200" dirty="0"/>
          </a:p>
        </p:txBody>
      </p:sp>
      <p:sp>
        <p:nvSpPr>
          <p:cNvPr id="19" name="Text 14"/>
          <p:cNvSpPr/>
          <p:nvPr/>
        </p:nvSpPr>
        <p:spPr>
          <a:xfrm>
            <a:off x="6446520" y="3950208"/>
            <a:ext cx="2194560" cy="530352"/>
          </a:xfrm>
          <a:prstGeom prst="rect">
            <a:avLst/>
          </a:prstGeom>
          <a:noFill/>
          <a:ln/>
        </p:spPr>
        <p:txBody>
          <a:bodyPr wrap="square" lIns="0" tIns="0" rIns="0" bIns="0" rtlCol="0" anchor="ctr"/>
          <a:lstStyle/>
          <a:p>
            <a:pPr marL="0" indent="0">
              <a:buNone/>
            </a:pPr>
            <a:r>
              <a:rPr lang="en-US" sz="950" dirty="0">
                <a:solidFill>
                  <a:srgbClr val="8FA3BE"/>
                </a:solidFill>
                <a:latin typeface="Arial" pitchFamily="34" charset="0"/>
                <a:ea typeface="Arial" pitchFamily="34" charset="-122"/>
                <a:cs typeface="Arial" pitchFamily="34" charset="-120"/>
              </a:rPr>
              <a:t>Honeypot-based threat detection + immutable action logs with agency, user, and timestamp</a:t>
            </a:r>
            <a:endParaRPr lang="en-US" sz="950" dirty="0"/>
          </a:p>
        </p:txBody>
      </p:sp>
      <p:sp>
        <p:nvSpPr>
          <p:cNvPr id="20" name="Shape 0">
            <a:extLst>
              <a:ext uri="{FF2B5EF4-FFF2-40B4-BE49-F238E27FC236}">
                <a16:creationId xmlns:a16="http://schemas.microsoft.com/office/drawing/2014/main" id="{57D7819C-D2FA-9706-CCC9-4A45A7745B80}"/>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2" name="Shape 0">
            <a:extLst>
              <a:ext uri="{FF2B5EF4-FFF2-40B4-BE49-F238E27FC236}">
                <a16:creationId xmlns:a16="http://schemas.microsoft.com/office/drawing/2014/main" id="{5EE5D422-4B0D-48B1-C7F4-9FABE4F8CBD9}"/>
              </a:ext>
            </a:extLst>
          </p:cNvPr>
          <p:cNvSpPr/>
          <p:nvPr/>
        </p:nvSpPr>
        <p:spPr>
          <a:xfrm rot="5400000">
            <a:off x="-2576323" y="2553462"/>
            <a:ext cx="5152644" cy="45719"/>
          </a:xfrm>
          <a:prstGeom prst="rect">
            <a:avLst/>
          </a:prstGeom>
          <a:solidFill>
            <a:srgbClr val="FF0000"/>
          </a:solidFill>
          <a:ln w="12700">
            <a:noFill/>
            <a:prstDash val="solid"/>
          </a:ln>
        </p:spPr>
      </p:sp>
      <p:sp>
        <p:nvSpPr>
          <p:cNvPr id="23" name="Shape 0">
            <a:extLst>
              <a:ext uri="{FF2B5EF4-FFF2-40B4-BE49-F238E27FC236}">
                <a16:creationId xmlns:a16="http://schemas.microsoft.com/office/drawing/2014/main" id="{650B238F-DC30-7709-8769-741BFA7A28ED}"/>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0E18"/>
        </a:solidFill>
        <a:effectLst/>
      </p:bgPr>
    </p:bg>
    <p:spTree>
      <p:nvGrpSpPr>
        <p:cNvPr id="1" name=""/>
        <p:cNvGrpSpPr/>
        <p:nvPr/>
      </p:nvGrpSpPr>
      <p:grpSpPr>
        <a:xfrm>
          <a:off x="0" y="0"/>
          <a:ext cx="0" cy="0"/>
          <a:chOff x="0" y="0"/>
          <a:chExt cx="0" cy="0"/>
        </a:xfrm>
      </p:grpSpPr>
      <p:sp>
        <p:nvSpPr>
          <p:cNvPr id="3" name="Shape 1"/>
          <p:cNvSpPr/>
          <p:nvPr/>
        </p:nvSpPr>
        <p:spPr>
          <a:xfrm>
            <a:off x="457200" y="256032"/>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502920" y="256032"/>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DEPLOYMENT</a:t>
            </a:r>
            <a:endParaRPr lang="en-US" sz="700" dirty="0"/>
          </a:p>
        </p:txBody>
      </p:sp>
      <p:sp>
        <p:nvSpPr>
          <p:cNvPr id="5" name="Text 3"/>
          <p:cNvSpPr/>
          <p:nvPr/>
        </p:nvSpPr>
        <p:spPr>
          <a:xfrm>
            <a:off x="457200" y="548640"/>
            <a:ext cx="8229600" cy="12801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GLOBAL DELIVERY.</a:t>
            </a:r>
            <a:endParaRPr lang="en-US" sz="4400" dirty="0"/>
          </a:p>
          <a:p>
            <a:pPr marL="0" indent="0">
              <a:buNone/>
            </a:pPr>
            <a:r>
              <a:rPr lang="en-US" sz="4400" b="1" dirty="0">
                <a:solidFill>
                  <a:srgbClr val="FFFFFF"/>
                </a:solidFill>
                <a:latin typeface="Arial" pitchFamily="34" charset="0"/>
                <a:ea typeface="Arial" pitchFamily="34" charset="-122"/>
                <a:cs typeface="Arial" pitchFamily="34" charset="-120"/>
              </a:rPr>
              <a:t>LOCAL IMPACT.</a:t>
            </a:r>
            <a:endParaRPr lang="en-US" sz="4400" dirty="0"/>
          </a:p>
        </p:txBody>
      </p:sp>
      <p:sp>
        <p:nvSpPr>
          <p:cNvPr id="6" name="Text 4"/>
          <p:cNvSpPr/>
          <p:nvPr/>
        </p:nvSpPr>
        <p:spPr>
          <a:xfrm>
            <a:off x="457200" y="1965960"/>
            <a:ext cx="8229600" cy="914400"/>
          </a:xfrm>
          <a:prstGeom prst="rect">
            <a:avLst/>
          </a:prstGeom>
          <a:noFill/>
          <a:ln/>
        </p:spPr>
        <p:txBody>
          <a:bodyPr wrap="square" lIns="0" tIns="0" rIns="0" bIns="0" rtlCol="0" anchor="ctr"/>
          <a:lstStyle/>
          <a:p>
            <a:pPr marL="0" indent="0" algn="r">
              <a:buNone/>
            </a:pPr>
            <a:r>
              <a:rPr lang="en-US" sz="1300" dirty="0">
                <a:solidFill>
                  <a:srgbClr val="8FA3BE"/>
                </a:solidFill>
                <a:latin typeface="Arial" pitchFamily="34" charset="0"/>
                <a:ea typeface="Arial" pitchFamily="34" charset="-122"/>
                <a:cs typeface="Arial" pitchFamily="34" charset="-120"/>
              </a:rPr>
              <a:t>Deployed on AWS with multi-region capability, 99.9% SLA,</a:t>
            </a:r>
            <a:endParaRPr lang="en-US" sz="1300" dirty="0"/>
          </a:p>
          <a:p>
            <a:pPr marL="0" indent="0" algn="r">
              <a:buNone/>
            </a:pPr>
            <a:r>
              <a:rPr lang="en-US" sz="1300" dirty="0">
                <a:solidFill>
                  <a:srgbClr val="8FA3BE"/>
                </a:solidFill>
                <a:latin typeface="Arial" pitchFamily="34" charset="0"/>
                <a:ea typeface="Arial" pitchFamily="34" charset="-122"/>
                <a:cs typeface="Arial" pitchFamily="34" charset="-120"/>
              </a:rPr>
              <a:t>and a rollback-tested deployment pipeline. Every agency gets their own</a:t>
            </a:r>
            <a:endParaRPr lang="en-US" sz="1300" dirty="0"/>
          </a:p>
          <a:p>
            <a:pPr marL="0" indent="0" algn="r">
              <a:buNone/>
            </a:pPr>
            <a:r>
              <a:rPr lang="en-US" sz="1300" dirty="0">
                <a:solidFill>
                  <a:srgbClr val="8FA3BE"/>
                </a:solidFill>
                <a:latin typeface="Arial" pitchFamily="34" charset="0"/>
                <a:ea typeface="Arial" pitchFamily="34" charset="-122"/>
                <a:cs typeface="Arial" pitchFamily="34" charset="-120"/>
              </a:rPr>
              <a:t>isolated environment — no shared data, no shared risk.</a:t>
            </a:r>
            <a:endParaRPr lang="en-US" sz="1300" dirty="0"/>
          </a:p>
        </p:txBody>
      </p:sp>
      <p:sp>
        <p:nvSpPr>
          <p:cNvPr id="7" name="Shape 5"/>
          <p:cNvSpPr/>
          <p:nvPr/>
        </p:nvSpPr>
        <p:spPr>
          <a:xfrm>
            <a:off x="2258568" y="3401568"/>
            <a:ext cx="256032" cy="0"/>
          </a:xfrm>
          <a:prstGeom prst="line">
            <a:avLst/>
          </a:prstGeom>
          <a:noFill/>
          <a:ln w="12700">
            <a:solidFill>
              <a:srgbClr val="5B7A9C"/>
            </a:solidFill>
            <a:prstDash val="solid"/>
          </a:ln>
        </p:spPr>
      </p:sp>
      <p:sp>
        <p:nvSpPr>
          <p:cNvPr id="8" name="Shape 6"/>
          <p:cNvSpPr/>
          <p:nvPr/>
        </p:nvSpPr>
        <p:spPr>
          <a:xfrm>
            <a:off x="384048" y="3090672"/>
            <a:ext cx="1828800" cy="1664208"/>
          </a:xfrm>
          <a:prstGeom prst="rect">
            <a:avLst/>
          </a:prstGeom>
          <a:solidFill>
            <a:srgbClr val="0F1929"/>
          </a:solidFill>
          <a:ln w="12700">
            <a:solidFill>
              <a:srgbClr val="C8102E">
                <a:alpha val="50000"/>
              </a:srgbClr>
            </a:solidFill>
            <a:prstDash val="solid"/>
          </a:ln>
          <a:effectLst>
            <a:outerShdw blurRad="101600" dist="38100" dir="5400000" algn="bl" rotWithShape="0">
              <a:srgbClr val="000000">
                <a:alpha val="38000"/>
              </a:srgbClr>
            </a:outerShdw>
          </a:effectLst>
        </p:spPr>
      </p:sp>
      <p:sp>
        <p:nvSpPr>
          <p:cNvPr id="9" name="Shape 7"/>
          <p:cNvSpPr/>
          <p:nvPr/>
        </p:nvSpPr>
        <p:spPr>
          <a:xfrm>
            <a:off x="384048" y="3090672"/>
            <a:ext cx="1828800" cy="54864"/>
          </a:xfrm>
          <a:prstGeom prst="rect">
            <a:avLst/>
          </a:prstGeom>
          <a:solidFill>
            <a:srgbClr val="C8102E"/>
          </a:solidFill>
          <a:ln w="12700">
            <a:solidFill>
              <a:srgbClr val="C8102E"/>
            </a:solidFill>
            <a:prstDash val="solid"/>
          </a:ln>
        </p:spPr>
      </p:sp>
      <p:sp>
        <p:nvSpPr>
          <p:cNvPr id="10" name="Text 8"/>
          <p:cNvSpPr/>
          <p:nvPr/>
        </p:nvSpPr>
        <p:spPr>
          <a:xfrm>
            <a:off x="475488" y="3200400"/>
            <a:ext cx="1645920" cy="365760"/>
          </a:xfrm>
          <a:prstGeom prst="rect">
            <a:avLst/>
          </a:prstGeom>
          <a:noFill/>
          <a:ln/>
        </p:spPr>
        <p:txBody>
          <a:bodyPr wrap="square" lIns="0" tIns="0" rIns="0" bIns="0" rtlCol="0" anchor="ctr"/>
          <a:lstStyle/>
          <a:p>
            <a:pPr marL="0" indent="0" algn="ctr">
              <a:buNone/>
            </a:pPr>
            <a:r>
              <a:rPr lang="en-US" sz="1100" b="1" kern="0" spc="100" dirty="0">
                <a:solidFill>
                  <a:srgbClr val="C8102E"/>
                </a:solidFill>
                <a:latin typeface="Arial" pitchFamily="34" charset="0"/>
                <a:ea typeface="Arial" pitchFamily="34" charset="-122"/>
                <a:cs typeface="Arial" pitchFamily="34" charset="-120"/>
              </a:rPr>
              <a:t>ESSENTIAL</a:t>
            </a:r>
            <a:endParaRPr lang="en-US" sz="1100" dirty="0"/>
          </a:p>
        </p:txBody>
      </p:sp>
      <p:sp>
        <p:nvSpPr>
          <p:cNvPr id="11" name="Text 9"/>
          <p:cNvSpPr/>
          <p:nvPr/>
        </p:nvSpPr>
        <p:spPr>
          <a:xfrm>
            <a:off x="475488" y="3639312"/>
            <a:ext cx="1645920" cy="914400"/>
          </a:xfrm>
          <a:prstGeom prst="rect">
            <a:avLst/>
          </a:prstGeom>
          <a:noFill/>
          <a:ln/>
        </p:spPr>
        <p:txBody>
          <a:bodyPr wrap="square" lIns="0" tIns="0" rIns="0" bIns="0" rtlCol="0" anchor="ctr"/>
          <a:lstStyle/>
          <a:p>
            <a:pPr marL="0" indent="0" algn="ctr">
              <a:buNone/>
            </a:pPr>
            <a:r>
              <a:rPr lang="en-US" sz="1000" dirty="0">
                <a:solidFill>
                  <a:srgbClr val="8FA3BE"/>
                </a:solidFill>
                <a:latin typeface="Arial" pitchFamily="34" charset="0"/>
                <a:ea typeface="Arial" pitchFamily="34" charset="-122"/>
                <a:cs typeface="Arial" pitchFamily="34" charset="-120"/>
              </a:rPr>
              <a:t>Up to 10 seats ·</a:t>
            </a:r>
            <a:endParaRPr lang="en-US" sz="1000" dirty="0"/>
          </a:p>
          <a:p>
            <a:pPr marL="0" indent="0" algn="ctr">
              <a:buNone/>
            </a:pPr>
            <a:r>
              <a:rPr lang="en-US" sz="1000" dirty="0">
                <a:solidFill>
                  <a:srgbClr val="8FA3BE"/>
                </a:solidFill>
                <a:latin typeface="Arial" pitchFamily="34" charset="0"/>
                <a:ea typeface="Arial" pitchFamily="34" charset="-122"/>
                <a:cs typeface="Arial" pitchFamily="34" charset="-120"/>
              </a:rPr>
              <a:t>from $2,800 / mo</a:t>
            </a:r>
            <a:endParaRPr lang="en-US" sz="1000" dirty="0"/>
          </a:p>
        </p:txBody>
      </p:sp>
      <p:sp>
        <p:nvSpPr>
          <p:cNvPr id="12" name="Shape 10"/>
          <p:cNvSpPr/>
          <p:nvPr/>
        </p:nvSpPr>
        <p:spPr>
          <a:xfrm>
            <a:off x="4434840" y="3401568"/>
            <a:ext cx="256032" cy="0"/>
          </a:xfrm>
          <a:prstGeom prst="line">
            <a:avLst/>
          </a:prstGeom>
          <a:noFill/>
          <a:ln w="12700">
            <a:solidFill>
              <a:srgbClr val="5B7A9C"/>
            </a:solidFill>
            <a:prstDash val="solid"/>
          </a:ln>
        </p:spPr>
      </p:sp>
      <p:sp>
        <p:nvSpPr>
          <p:cNvPr id="13" name="Shape 11"/>
          <p:cNvSpPr/>
          <p:nvPr/>
        </p:nvSpPr>
        <p:spPr>
          <a:xfrm>
            <a:off x="2560320" y="3090672"/>
            <a:ext cx="1828800" cy="1664208"/>
          </a:xfrm>
          <a:prstGeom prst="rect">
            <a:avLst/>
          </a:prstGeom>
          <a:solidFill>
            <a:srgbClr val="0F1929"/>
          </a:solidFill>
          <a:ln w="12700">
            <a:solidFill>
              <a:srgbClr val="4FB3F0">
                <a:alpha val="50000"/>
              </a:srgbClr>
            </a:solidFill>
            <a:prstDash val="solid"/>
          </a:ln>
          <a:effectLst>
            <a:outerShdw blurRad="101600" dist="38100" dir="5400000" algn="bl" rotWithShape="0">
              <a:srgbClr val="000000">
                <a:alpha val="38000"/>
              </a:srgbClr>
            </a:outerShdw>
          </a:effectLst>
        </p:spPr>
      </p:sp>
      <p:sp>
        <p:nvSpPr>
          <p:cNvPr id="14" name="Shape 12"/>
          <p:cNvSpPr/>
          <p:nvPr/>
        </p:nvSpPr>
        <p:spPr>
          <a:xfrm>
            <a:off x="2560320" y="3090672"/>
            <a:ext cx="1828800" cy="54864"/>
          </a:xfrm>
          <a:prstGeom prst="rect">
            <a:avLst/>
          </a:prstGeom>
          <a:solidFill>
            <a:srgbClr val="4FB3F0"/>
          </a:solidFill>
          <a:ln w="12700">
            <a:solidFill>
              <a:srgbClr val="4FB3F0"/>
            </a:solidFill>
            <a:prstDash val="solid"/>
          </a:ln>
        </p:spPr>
      </p:sp>
      <p:sp>
        <p:nvSpPr>
          <p:cNvPr id="15" name="Text 13"/>
          <p:cNvSpPr/>
          <p:nvPr/>
        </p:nvSpPr>
        <p:spPr>
          <a:xfrm>
            <a:off x="2651760" y="3200400"/>
            <a:ext cx="1645920" cy="365760"/>
          </a:xfrm>
          <a:prstGeom prst="rect">
            <a:avLst/>
          </a:prstGeom>
          <a:noFill/>
          <a:ln/>
        </p:spPr>
        <p:txBody>
          <a:bodyPr wrap="square" lIns="0" tIns="0" rIns="0" bIns="0" rtlCol="0" anchor="ctr"/>
          <a:lstStyle/>
          <a:p>
            <a:pPr marL="0" indent="0" algn="ctr">
              <a:buNone/>
            </a:pPr>
            <a:r>
              <a:rPr lang="en-US" sz="1100" b="1" kern="0" spc="100" dirty="0">
                <a:solidFill>
                  <a:srgbClr val="4FB3F0"/>
                </a:solidFill>
                <a:latin typeface="Arial" pitchFamily="34" charset="0"/>
                <a:ea typeface="Arial" pitchFamily="34" charset="-122"/>
                <a:cs typeface="Arial" pitchFamily="34" charset="-120"/>
              </a:rPr>
              <a:t>COMMAND</a:t>
            </a:r>
            <a:endParaRPr lang="en-US" sz="1100" dirty="0"/>
          </a:p>
        </p:txBody>
      </p:sp>
      <p:sp>
        <p:nvSpPr>
          <p:cNvPr id="16" name="Text 14"/>
          <p:cNvSpPr/>
          <p:nvPr/>
        </p:nvSpPr>
        <p:spPr>
          <a:xfrm>
            <a:off x="2651760" y="3639312"/>
            <a:ext cx="1645920" cy="914400"/>
          </a:xfrm>
          <a:prstGeom prst="rect">
            <a:avLst/>
          </a:prstGeom>
          <a:noFill/>
          <a:ln/>
        </p:spPr>
        <p:txBody>
          <a:bodyPr wrap="square" lIns="0" tIns="0" rIns="0" bIns="0" rtlCol="0" anchor="ctr"/>
          <a:lstStyle/>
          <a:p>
            <a:pPr marL="0" indent="0" algn="ctr">
              <a:buNone/>
            </a:pPr>
            <a:r>
              <a:rPr lang="en-US" sz="1000" dirty="0">
                <a:solidFill>
                  <a:srgbClr val="8FA3BE"/>
                </a:solidFill>
                <a:latin typeface="Arial" pitchFamily="34" charset="0"/>
                <a:ea typeface="Arial" pitchFamily="34" charset="-122"/>
                <a:cs typeface="Arial" pitchFamily="34" charset="-120"/>
              </a:rPr>
              <a:t>Up to 25 seats ·</a:t>
            </a:r>
            <a:endParaRPr lang="en-US" sz="1000" dirty="0"/>
          </a:p>
          <a:p>
            <a:pPr marL="0" indent="0" algn="ctr">
              <a:buNone/>
            </a:pPr>
            <a:r>
              <a:rPr lang="en-US" sz="1000" dirty="0">
                <a:solidFill>
                  <a:srgbClr val="8FA3BE"/>
                </a:solidFill>
                <a:latin typeface="Arial" pitchFamily="34" charset="0"/>
                <a:ea typeface="Arial" pitchFamily="34" charset="-122"/>
                <a:cs typeface="Arial" pitchFamily="34" charset="-120"/>
              </a:rPr>
              <a:t>from $8,500 / mo</a:t>
            </a:r>
            <a:endParaRPr lang="en-US" sz="1000" dirty="0"/>
          </a:p>
        </p:txBody>
      </p:sp>
      <p:sp>
        <p:nvSpPr>
          <p:cNvPr id="17" name="Shape 15"/>
          <p:cNvSpPr/>
          <p:nvPr/>
        </p:nvSpPr>
        <p:spPr>
          <a:xfrm>
            <a:off x="6611112" y="3401568"/>
            <a:ext cx="256032" cy="0"/>
          </a:xfrm>
          <a:prstGeom prst="line">
            <a:avLst/>
          </a:prstGeom>
          <a:noFill/>
          <a:ln w="12700">
            <a:solidFill>
              <a:srgbClr val="5B7A9C"/>
            </a:solidFill>
            <a:prstDash val="solid"/>
          </a:ln>
        </p:spPr>
      </p:sp>
      <p:sp>
        <p:nvSpPr>
          <p:cNvPr id="18" name="Shape 16"/>
          <p:cNvSpPr/>
          <p:nvPr/>
        </p:nvSpPr>
        <p:spPr>
          <a:xfrm>
            <a:off x="4736592" y="3090672"/>
            <a:ext cx="1828800" cy="1664208"/>
          </a:xfrm>
          <a:prstGeom prst="rect">
            <a:avLst/>
          </a:prstGeom>
          <a:solidFill>
            <a:srgbClr val="0F1929"/>
          </a:solidFill>
          <a:ln w="12700">
            <a:solidFill>
              <a:srgbClr val="1B6FD8">
                <a:alpha val="50000"/>
              </a:srgbClr>
            </a:solidFill>
            <a:prstDash val="solid"/>
          </a:ln>
          <a:effectLst>
            <a:outerShdw blurRad="101600" dist="38100" dir="5400000" algn="bl" rotWithShape="0">
              <a:srgbClr val="000000">
                <a:alpha val="38000"/>
              </a:srgbClr>
            </a:outerShdw>
          </a:effectLst>
        </p:spPr>
      </p:sp>
      <p:sp>
        <p:nvSpPr>
          <p:cNvPr id="19" name="Shape 17"/>
          <p:cNvSpPr/>
          <p:nvPr/>
        </p:nvSpPr>
        <p:spPr>
          <a:xfrm>
            <a:off x="4736592" y="3090672"/>
            <a:ext cx="1828800" cy="54864"/>
          </a:xfrm>
          <a:prstGeom prst="rect">
            <a:avLst/>
          </a:prstGeom>
          <a:solidFill>
            <a:srgbClr val="1B6FD8"/>
          </a:solidFill>
          <a:ln w="12700">
            <a:solidFill>
              <a:srgbClr val="1B6FD8"/>
            </a:solidFill>
            <a:prstDash val="solid"/>
          </a:ln>
        </p:spPr>
      </p:sp>
      <p:sp>
        <p:nvSpPr>
          <p:cNvPr id="20" name="Text 18"/>
          <p:cNvSpPr/>
          <p:nvPr/>
        </p:nvSpPr>
        <p:spPr>
          <a:xfrm>
            <a:off x="4828032" y="3200400"/>
            <a:ext cx="1645920" cy="365760"/>
          </a:xfrm>
          <a:prstGeom prst="rect">
            <a:avLst/>
          </a:prstGeom>
          <a:noFill/>
          <a:ln/>
        </p:spPr>
        <p:txBody>
          <a:bodyPr wrap="square" lIns="0" tIns="0" rIns="0" bIns="0" rtlCol="0" anchor="ctr"/>
          <a:lstStyle/>
          <a:p>
            <a:pPr marL="0" indent="0" algn="ctr">
              <a:buNone/>
            </a:pPr>
            <a:r>
              <a:rPr lang="en-US" sz="1100" b="1" kern="0" spc="100" dirty="0">
                <a:solidFill>
                  <a:srgbClr val="1B6FD8"/>
                </a:solidFill>
                <a:latin typeface="Arial" pitchFamily="34" charset="0"/>
                <a:ea typeface="Arial" pitchFamily="34" charset="-122"/>
                <a:cs typeface="Arial" pitchFamily="34" charset="-120"/>
              </a:rPr>
              <a:t>COMMAND</a:t>
            </a:r>
            <a:endParaRPr lang="en-US" sz="1100" dirty="0"/>
          </a:p>
        </p:txBody>
      </p:sp>
      <p:sp>
        <p:nvSpPr>
          <p:cNvPr id="21" name="Text 19"/>
          <p:cNvSpPr/>
          <p:nvPr/>
        </p:nvSpPr>
        <p:spPr>
          <a:xfrm>
            <a:off x="4828032" y="3639312"/>
            <a:ext cx="1645920" cy="914400"/>
          </a:xfrm>
          <a:prstGeom prst="rect">
            <a:avLst/>
          </a:prstGeom>
          <a:noFill/>
          <a:ln/>
        </p:spPr>
        <p:txBody>
          <a:bodyPr wrap="square" lIns="0" tIns="0" rIns="0" bIns="0" rtlCol="0" anchor="ctr"/>
          <a:lstStyle/>
          <a:p>
            <a:pPr marL="0" indent="0" algn="ctr">
              <a:buNone/>
            </a:pPr>
            <a:r>
              <a:rPr lang="en-US" sz="1000" dirty="0">
                <a:solidFill>
                  <a:srgbClr val="8FA3BE"/>
                </a:solidFill>
                <a:latin typeface="Arial" pitchFamily="34" charset="0"/>
                <a:ea typeface="Arial" pitchFamily="34" charset="-122"/>
                <a:cs typeface="Arial" pitchFamily="34" charset="-120"/>
              </a:rPr>
              <a:t>Up to 75 seats ·</a:t>
            </a:r>
            <a:endParaRPr lang="en-US" sz="1000" dirty="0"/>
          </a:p>
          <a:p>
            <a:pPr marL="0" indent="0" algn="ctr">
              <a:buNone/>
            </a:pPr>
            <a:r>
              <a:rPr lang="en-US" sz="1000" dirty="0">
                <a:solidFill>
                  <a:srgbClr val="8FA3BE"/>
                </a:solidFill>
                <a:latin typeface="Arial" pitchFamily="34" charset="0"/>
                <a:ea typeface="Arial" pitchFamily="34" charset="-122"/>
                <a:cs typeface="Arial" pitchFamily="34" charset="-120"/>
              </a:rPr>
              <a:t>from $14,500 / mo</a:t>
            </a:r>
            <a:endParaRPr lang="en-US" sz="1000" dirty="0"/>
          </a:p>
        </p:txBody>
      </p:sp>
      <p:sp>
        <p:nvSpPr>
          <p:cNvPr id="22" name="Shape 20"/>
          <p:cNvSpPr/>
          <p:nvPr/>
        </p:nvSpPr>
        <p:spPr>
          <a:xfrm>
            <a:off x="6912864" y="3090672"/>
            <a:ext cx="1828800" cy="1664208"/>
          </a:xfrm>
          <a:prstGeom prst="rect">
            <a:avLst/>
          </a:prstGeom>
          <a:solidFill>
            <a:srgbClr val="0F1929"/>
          </a:solidFill>
          <a:ln w="12700">
            <a:solidFill>
              <a:srgbClr val="8FA3BE">
                <a:alpha val="50000"/>
              </a:srgbClr>
            </a:solidFill>
            <a:prstDash val="solid"/>
          </a:ln>
          <a:effectLst>
            <a:outerShdw blurRad="101600" dist="38100" dir="5400000" algn="bl" rotWithShape="0">
              <a:srgbClr val="000000">
                <a:alpha val="38000"/>
              </a:srgbClr>
            </a:outerShdw>
          </a:effectLst>
        </p:spPr>
      </p:sp>
      <p:sp>
        <p:nvSpPr>
          <p:cNvPr id="23" name="Shape 21"/>
          <p:cNvSpPr/>
          <p:nvPr/>
        </p:nvSpPr>
        <p:spPr>
          <a:xfrm>
            <a:off x="6912864" y="3090672"/>
            <a:ext cx="1828800" cy="54864"/>
          </a:xfrm>
          <a:prstGeom prst="rect">
            <a:avLst/>
          </a:prstGeom>
          <a:solidFill>
            <a:srgbClr val="8FA3BE"/>
          </a:solidFill>
          <a:ln w="12700">
            <a:solidFill>
              <a:srgbClr val="8FA3BE"/>
            </a:solidFill>
            <a:prstDash val="solid"/>
          </a:ln>
        </p:spPr>
      </p:sp>
      <p:sp>
        <p:nvSpPr>
          <p:cNvPr id="24" name="Text 22"/>
          <p:cNvSpPr/>
          <p:nvPr/>
        </p:nvSpPr>
        <p:spPr>
          <a:xfrm>
            <a:off x="7004304" y="3200400"/>
            <a:ext cx="1645920" cy="365760"/>
          </a:xfrm>
          <a:prstGeom prst="rect">
            <a:avLst/>
          </a:prstGeom>
          <a:noFill/>
          <a:ln/>
        </p:spPr>
        <p:txBody>
          <a:bodyPr wrap="square" lIns="0" tIns="0" rIns="0" bIns="0" rtlCol="0" anchor="ctr"/>
          <a:lstStyle/>
          <a:p>
            <a:pPr marL="0" indent="0" algn="ctr">
              <a:buNone/>
            </a:pPr>
            <a:r>
              <a:rPr lang="en-US" sz="1100" b="1" kern="0" spc="100" dirty="0">
                <a:solidFill>
                  <a:srgbClr val="8FA3BE"/>
                </a:solidFill>
                <a:latin typeface="Arial" pitchFamily="34" charset="0"/>
                <a:ea typeface="Arial" pitchFamily="34" charset="-122"/>
                <a:cs typeface="Arial" pitchFamily="34" charset="-120"/>
              </a:rPr>
              <a:t>ENTERPRISE</a:t>
            </a:r>
            <a:endParaRPr lang="en-US" sz="1100" dirty="0"/>
          </a:p>
        </p:txBody>
      </p:sp>
      <p:sp>
        <p:nvSpPr>
          <p:cNvPr id="25" name="Text 23"/>
          <p:cNvSpPr/>
          <p:nvPr/>
        </p:nvSpPr>
        <p:spPr>
          <a:xfrm>
            <a:off x="7004304" y="3639312"/>
            <a:ext cx="1645920" cy="914400"/>
          </a:xfrm>
          <a:prstGeom prst="rect">
            <a:avLst/>
          </a:prstGeom>
          <a:noFill/>
          <a:ln/>
        </p:spPr>
        <p:txBody>
          <a:bodyPr wrap="square" lIns="0" tIns="0" rIns="0" bIns="0" rtlCol="0" anchor="ctr"/>
          <a:lstStyle/>
          <a:p>
            <a:pPr marL="0" indent="0" algn="ctr">
              <a:buNone/>
            </a:pPr>
            <a:r>
              <a:rPr lang="en-US" sz="1000" dirty="0">
                <a:solidFill>
                  <a:srgbClr val="8FA3BE"/>
                </a:solidFill>
                <a:latin typeface="Arial" pitchFamily="34" charset="0"/>
                <a:ea typeface="Arial" pitchFamily="34" charset="-122"/>
                <a:cs typeface="Arial" pitchFamily="34" charset="-120"/>
              </a:rPr>
              <a:t>50–500+ seats ·</a:t>
            </a:r>
            <a:endParaRPr lang="en-US" sz="1000" dirty="0"/>
          </a:p>
          <a:p>
            <a:pPr marL="0" indent="0" algn="ctr">
              <a:buNone/>
            </a:pPr>
            <a:r>
              <a:rPr lang="en-US" sz="1000" dirty="0">
                <a:solidFill>
                  <a:srgbClr val="8FA3BE"/>
                </a:solidFill>
                <a:latin typeface="Arial" pitchFamily="34" charset="0"/>
                <a:ea typeface="Arial" pitchFamily="34" charset="-122"/>
                <a:cs typeface="Arial" pitchFamily="34" charset="-120"/>
              </a:rPr>
              <a:t>from $60K / mo</a:t>
            </a:r>
            <a:endParaRPr lang="en-US" sz="1000" dirty="0"/>
          </a:p>
        </p:txBody>
      </p:sp>
      <p:sp>
        <p:nvSpPr>
          <p:cNvPr id="28" name="Shape 0">
            <a:extLst>
              <a:ext uri="{FF2B5EF4-FFF2-40B4-BE49-F238E27FC236}">
                <a16:creationId xmlns:a16="http://schemas.microsoft.com/office/drawing/2014/main" id="{22AE0CE8-3144-6BC0-B7F5-7F1E8744F154}"/>
              </a:ext>
            </a:extLst>
          </p:cNvPr>
          <p:cNvSpPr/>
          <p:nvPr/>
        </p:nvSpPr>
        <p:spPr>
          <a:xfrm>
            <a:off x="0" y="5088636"/>
            <a:ext cx="9144000" cy="54864"/>
          </a:xfrm>
          <a:prstGeom prst="rect">
            <a:avLst/>
          </a:prstGeom>
          <a:solidFill>
            <a:schemeClr val="bg1"/>
          </a:solidFill>
          <a:ln w="12700">
            <a:noFill/>
            <a:prstDash val="solid"/>
          </a:ln>
        </p:spPr>
      </p:sp>
      <p:sp>
        <p:nvSpPr>
          <p:cNvPr id="29" name="Shape 0">
            <a:extLst>
              <a:ext uri="{FF2B5EF4-FFF2-40B4-BE49-F238E27FC236}">
                <a16:creationId xmlns:a16="http://schemas.microsoft.com/office/drawing/2014/main" id="{8C3D7E5C-502E-DE41-0906-1CD9F4F07C5C}"/>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30" name="Shape 0">
            <a:extLst>
              <a:ext uri="{FF2B5EF4-FFF2-40B4-BE49-F238E27FC236}">
                <a16:creationId xmlns:a16="http://schemas.microsoft.com/office/drawing/2014/main" id="{E52EC251-6B9D-EE55-E116-BFDDA9A7E130}"/>
              </a:ext>
            </a:extLst>
          </p:cNvPr>
          <p:cNvSpPr/>
          <p:nvPr/>
        </p:nvSpPr>
        <p:spPr>
          <a:xfrm rot="5400000">
            <a:off x="-2576323" y="2553462"/>
            <a:ext cx="5152644" cy="45719"/>
          </a:xfrm>
          <a:prstGeom prst="rect">
            <a:avLst/>
          </a:prstGeom>
          <a:solidFill>
            <a:srgbClr val="FF0000"/>
          </a:solidFill>
          <a:ln w="12700">
            <a:noFill/>
            <a:prstDash val="solid"/>
          </a:ln>
        </p:spPr>
      </p:sp>
      <p:sp>
        <p:nvSpPr>
          <p:cNvPr id="31" name="Shape 0">
            <a:extLst>
              <a:ext uri="{FF2B5EF4-FFF2-40B4-BE49-F238E27FC236}">
                <a16:creationId xmlns:a16="http://schemas.microsoft.com/office/drawing/2014/main" id="{00F3A52C-94DB-BB7E-3C61-805ADE4A6C91}"/>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60A0F"/>
        </a:solidFill>
        <a:effectLst/>
      </p:bgPr>
    </p:bg>
    <p:spTree>
      <p:nvGrpSpPr>
        <p:cNvPr id="1" name=""/>
        <p:cNvGrpSpPr/>
        <p:nvPr/>
      </p:nvGrpSpPr>
      <p:grpSpPr>
        <a:xfrm>
          <a:off x="0" y="0"/>
          <a:ext cx="0" cy="0"/>
          <a:chOff x="0" y="0"/>
          <a:chExt cx="0" cy="0"/>
        </a:xfrm>
      </p:grpSpPr>
      <p:sp>
        <p:nvSpPr>
          <p:cNvPr id="2" name="Shape 0"/>
          <p:cNvSpPr/>
          <p:nvPr/>
        </p:nvSpPr>
        <p:spPr>
          <a:xfrm>
            <a:off x="-914400" y="457200"/>
            <a:ext cx="4572000" cy="3657600"/>
          </a:xfrm>
          <a:prstGeom prst="rect">
            <a:avLst/>
          </a:prstGeom>
          <a:solidFill>
            <a:srgbClr val="C8102E">
              <a:alpha val="6000"/>
            </a:srgbClr>
          </a:solidFill>
          <a:ln w="12700">
            <a:solidFill>
              <a:srgbClr val="C8102E">
                <a:alpha val="0"/>
              </a:srgbClr>
            </a:solidFill>
            <a:prstDash val="solid"/>
          </a:ln>
        </p:spPr>
      </p:sp>
      <p:sp>
        <p:nvSpPr>
          <p:cNvPr id="3" name="Shape 1"/>
          <p:cNvSpPr/>
          <p:nvPr/>
        </p:nvSpPr>
        <p:spPr>
          <a:xfrm>
            <a:off x="2743200" y="354328"/>
            <a:ext cx="1645920" cy="201168"/>
          </a:xfrm>
          <a:prstGeom prst="roundRect">
            <a:avLst>
              <a:gd name="adj" fmla="val 18182"/>
            </a:avLst>
          </a:prstGeom>
          <a:solidFill>
            <a:srgbClr val="C8102E">
              <a:alpha val="22000"/>
            </a:srgbClr>
          </a:solidFill>
          <a:ln w="12700">
            <a:solidFill>
              <a:srgbClr val="C8102E">
                <a:alpha val="70000"/>
              </a:srgbClr>
            </a:solidFill>
            <a:prstDash val="solid"/>
          </a:ln>
        </p:spPr>
      </p:sp>
      <p:sp>
        <p:nvSpPr>
          <p:cNvPr id="4" name="Text 2"/>
          <p:cNvSpPr/>
          <p:nvPr/>
        </p:nvSpPr>
        <p:spPr>
          <a:xfrm>
            <a:off x="2834640" y="365760"/>
            <a:ext cx="1554480" cy="201168"/>
          </a:xfrm>
          <a:prstGeom prst="rect">
            <a:avLst/>
          </a:prstGeom>
          <a:noFill/>
          <a:ln/>
        </p:spPr>
        <p:txBody>
          <a:bodyPr wrap="square" lIns="0" tIns="0" rIns="0" bIns="0" rtlCol="0" anchor="ctr"/>
          <a:lstStyle/>
          <a:p>
            <a:pPr marL="0" indent="0" algn="ctr">
              <a:buNone/>
            </a:pPr>
            <a:r>
              <a:rPr lang="en-US" sz="700" b="1" kern="0" spc="200" dirty="0">
                <a:solidFill>
                  <a:srgbClr val="C8102E"/>
                </a:solidFill>
                <a:latin typeface="Arial" pitchFamily="34" charset="0"/>
                <a:ea typeface="Arial" pitchFamily="34" charset="-122"/>
                <a:cs typeface="Arial" pitchFamily="34" charset="-120"/>
              </a:rPr>
              <a:t>PILOT OFFER</a:t>
            </a:r>
            <a:endParaRPr lang="en-US" sz="700" dirty="0"/>
          </a:p>
        </p:txBody>
      </p:sp>
      <p:sp>
        <p:nvSpPr>
          <p:cNvPr id="5" name="Text 3"/>
          <p:cNvSpPr/>
          <p:nvPr/>
        </p:nvSpPr>
        <p:spPr>
          <a:xfrm>
            <a:off x="457200" y="566928"/>
            <a:ext cx="4572000" cy="141732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NEXT PILOT:</a:t>
            </a:r>
            <a:endParaRPr lang="en-US" sz="3800" dirty="0"/>
          </a:p>
        </p:txBody>
      </p:sp>
      <p:sp>
        <p:nvSpPr>
          <p:cNvPr id="6" name="Text 4"/>
          <p:cNvSpPr/>
          <p:nvPr/>
        </p:nvSpPr>
        <p:spPr>
          <a:xfrm>
            <a:off x="457200" y="2029968"/>
            <a:ext cx="4572000" cy="685800"/>
          </a:xfrm>
          <a:prstGeom prst="rect">
            <a:avLst/>
          </a:prstGeom>
          <a:noFill/>
          <a:ln/>
        </p:spPr>
        <p:txBody>
          <a:bodyPr wrap="square" lIns="0" tIns="0" rIns="0" bIns="0" rtlCol="0" anchor="ctr"/>
          <a:lstStyle/>
          <a:p>
            <a:pPr marL="0" indent="0">
              <a:buNone/>
            </a:pPr>
            <a:r>
              <a:rPr lang="en-US" sz="3400" b="1" dirty="0">
                <a:solidFill>
                  <a:srgbClr val="C8102E"/>
                </a:solidFill>
                <a:latin typeface="Arial" pitchFamily="34" charset="0"/>
                <a:ea typeface="Arial" pitchFamily="34" charset="-122"/>
                <a:cs typeface="Arial" pitchFamily="34" charset="-120"/>
              </a:rPr>
              <a:t>Q3 2026</a:t>
            </a:r>
            <a:endParaRPr lang="en-US" sz="3400" dirty="0"/>
          </a:p>
        </p:txBody>
      </p:sp>
      <p:pic>
        <p:nvPicPr>
          <p:cNvPr id="8" name="Image 0" descr="preencoded.png"/>
          <p:cNvPicPr>
            <a:picLocks noChangeAspect="1"/>
          </p:cNvPicPr>
          <p:nvPr/>
        </p:nvPicPr>
        <p:blipFill>
          <a:blip r:embed="rId3"/>
          <a:stretch>
            <a:fillRect/>
          </a:stretch>
        </p:blipFill>
        <p:spPr>
          <a:xfrm>
            <a:off x="5029200" y="457200"/>
            <a:ext cx="256032" cy="256032"/>
          </a:xfrm>
          <a:prstGeom prst="rect">
            <a:avLst/>
          </a:prstGeom>
        </p:spPr>
      </p:pic>
      <p:sp>
        <p:nvSpPr>
          <p:cNvPr id="9" name="Text 6"/>
          <p:cNvSpPr/>
          <p:nvPr/>
        </p:nvSpPr>
        <p:spPr>
          <a:xfrm>
            <a:off x="5394960" y="438912"/>
            <a:ext cx="3383280" cy="5029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90-day structured pilot · Full platform access · Paid engagement</a:t>
            </a:r>
            <a:endParaRPr lang="en-US" sz="1100" dirty="0"/>
          </a:p>
        </p:txBody>
      </p:sp>
      <p:pic>
        <p:nvPicPr>
          <p:cNvPr id="10" name="Image 1" descr="preencoded.png"/>
          <p:cNvPicPr>
            <a:picLocks noChangeAspect="1"/>
          </p:cNvPicPr>
          <p:nvPr/>
        </p:nvPicPr>
        <p:blipFill>
          <a:blip r:embed="rId3"/>
          <a:stretch>
            <a:fillRect/>
          </a:stretch>
        </p:blipFill>
        <p:spPr>
          <a:xfrm>
            <a:off x="5029200" y="1353312"/>
            <a:ext cx="256032" cy="256032"/>
          </a:xfrm>
          <a:prstGeom prst="rect">
            <a:avLst/>
          </a:prstGeom>
        </p:spPr>
      </p:pic>
      <p:sp>
        <p:nvSpPr>
          <p:cNvPr id="11" name="Text 7"/>
          <p:cNvSpPr/>
          <p:nvPr/>
        </p:nvSpPr>
        <p:spPr>
          <a:xfrm>
            <a:off x="5394960" y="1335024"/>
            <a:ext cx="3383280" cy="5029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RCS deployed from day one — call persistence, audio sentinel, closure gate</a:t>
            </a:r>
            <a:endParaRPr lang="en-US" sz="1100" dirty="0"/>
          </a:p>
        </p:txBody>
      </p:sp>
      <p:pic>
        <p:nvPicPr>
          <p:cNvPr id="12" name="Image 2" descr="preencoded.png"/>
          <p:cNvPicPr>
            <a:picLocks noChangeAspect="1"/>
          </p:cNvPicPr>
          <p:nvPr/>
        </p:nvPicPr>
        <p:blipFill>
          <a:blip r:embed="rId3"/>
          <a:stretch>
            <a:fillRect/>
          </a:stretch>
        </p:blipFill>
        <p:spPr>
          <a:xfrm>
            <a:off x="5029200" y="2249424"/>
            <a:ext cx="256032" cy="256032"/>
          </a:xfrm>
          <a:prstGeom prst="rect">
            <a:avLst/>
          </a:prstGeom>
        </p:spPr>
      </p:pic>
      <p:sp>
        <p:nvSpPr>
          <p:cNvPr id="13" name="Text 8"/>
          <p:cNvSpPr/>
          <p:nvPr/>
        </p:nvSpPr>
        <p:spPr>
          <a:xfrm>
            <a:off x="5394960" y="2231136"/>
            <a:ext cx="3383280" cy="5029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CAD read-only or mock adapter · QR/NFC codes · Dispatcher training</a:t>
            </a:r>
            <a:endParaRPr lang="en-US" sz="1100" dirty="0"/>
          </a:p>
        </p:txBody>
      </p:sp>
      <p:pic>
        <p:nvPicPr>
          <p:cNvPr id="14" name="Image 3" descr="preencoded.png"/>
          <p:cNvPicPr>
            <a:picLocks noChangeAspect="1"/>
          </p:cNvPicPr>
          <p:nvPr/>
        </p:nvPicPr>
        <p:blipFill>
          <a:blip r:embed="rId3"/>
          <a:stretch>
            <a:fillRect/>
          </a:stretch>
        </p:blipFill>
        <p:spPr>
          <a:xfrm>
            <a:off x="5029200" y="3145536"/>
            <a:ext cx="256032" cy="256032"/>
          </a:xfrm>
          <a:prstGeom prst="rect">
            <a:avLst/>
          </a:prstGeom>
        </p:spPr>
      </p:pic>
      <p:sp>
        <p:nvSpPr>
          <p:cNvPr id="15" name="Text 9"/>
          <p:cNvSpPr/>
          <p:nvPr/>
        </p:nvSpPr>
        <p:spPr>
          <a:xfrm>
            <a:off x="5394960" y="3127248"/>
            <a:ext cx="3383280" cy="5029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Full audit trail and CJIS-aware security validation before go-live</a:t>
            </a:r>
            <a:endParaRPr lang="en-US" sz="1100" dirty="0"/>
          </a:p>
        </p:txBody>
      </p:sp>
      <p:pic>
        <p:nvPicPr>
          <p:cNvPr id="16" name="Image 4" descr="preencoded.png"/>
          <p:cNvPicPr>
            <a:picLocks noChangeAspect="1"/>
          </p:cNvPicPr>
          <p:nvPr/>
        </p:nvPicPr>
        <p:blipFill>
          <a:blip r:embed="rId3"/>
          <a:stretch>
            <a:fillRect/>
          </a:stretch>
        </p:blipFill>
        <p:spPr>
          <a:xfrm>
            <a:off x="5029200" y="4041648"/>
            <a:ext cx="256032" cy="256032"/>
          </a:xfrm>
          <a:prstGeom prst="rect">
            <a:avLst/>
          </a:prstGeom>
        </p:spPr>
      </p:pic>
      <p:sp>
        <p:nvSpPr>
          <p:cNvPr id="17" name="Text 10"/>
          <p:cNvSpPr/>
          <p:nvPr/>
        </p:nvSpPr>
        <p:spPr>
          <a:xfrm>
            <a:off x="5394960" y="4023360"/>
            <a:ext cx="3383280" cy="5029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Pilot pricing: $25K–$100K depending on agency size and scope</a:t>
            </a:r>
            <a:endParaRPr lang="en-US" sz="1100" dirty="0"/>
          </a:p>
        </p:txBody>
      </p:sp>
      <p:sp>
        <p:nvSpPr>
          <p:cNvPr id="18" name="Shape 0">
            <a:extLst>
              <a:ext uri="{FF2B5EF4-FFF2-40B4-BE49-F238E27FC236}">
                <a16:creationId xmlns:a16="http://schemas.microsoft.com/office/drawing/2014/main" id="{230B24C4-92F7-914A-ADDF-8992CED03CD6}"/>
              </a:ext>
            </a:extLst>
          </p:cNvPr>
          <p:cNvSpPr/>
          <p:nvPr/>
        </p:nvSpPr>
        <p:spPr>
          <a:xfrm>
            <a:off x="0" y="5088636"/>
            <a:ext cx="9144000" cy="54864"/>
          </a:xfrm>
          <a:prstGeom prst="rect">
            <a:avLst/>
          </a:prstGeom>
          <a:solidFill>
            <a:schemeClr val="bg1"/>
          </a:solidFill>
          <a:ln w="12700">
            <a:noFill/>
            <a:prstDash val="solid"/>
          </a:ln>
        </p:spPr>
      </p:sp>
      <p:sp>
        <p:nvSpPr>
          <p:cNvPr id="19" name="Shape 0">
            <a:extLst>
              <a:ext uri="{FF2B5EF4-FFF2-40B4-BE49-F238E27FC236}">
                <a16:creationId xmlns:a16="http://schemas.microsoft.com/office/drawing/2014/main" id="{109300B6-EAD8-9CA9-1400-5986BB2AB209}"/>
              </a:ext>
            </a:extLst>
          </p:cNvPr>
          <p:cNvSpPr/>
          <p:nvPr/>
        </p:nvSpPr>
        <p:spPr>
          <a:xfrm>
            <a:off x="-16002" y="-9145"/>
            <a:ext cx="9166860" cy="45719"/>
          </a:xfrm>
          <a:prstGeom prst="rect">
            <a:avLst/>
          </a:prstGeom>
          <a:gradFill flip="none" rotWithShape="1">
            <a:gsLst>
              <a:gs pos="0">
                <a:srgbClr val="002060"/>
              </a:gs>
              <a:gs pos="49000">
                <a:schemeClr val="bg1"/>
              </a:gs>
              <a:gs pos="100000">
                <a:srgbClr val="FF0000"/>
              </a:gs>
            </a:gsLst>
            <a:path path="circle">
              <a:fillToRect l="100000" t="100000"/>
            </a:path>
            <a:tileRect r="-100000" b="-100000"/>
          </a:gradFill>
          <a:ln w="12700">
            <a:noFill/>
            <a:prstDash val="solid"/>
          </a:ln>
        </p:spPr>
      </p:sp>
      <p:sp>
        <p:nvSpPr>
          <p:cNvPr id="20" name="Shape 0">
            <a:extLst>
              <a:ext uri="{FF2B5EF4-FFF2-40B4-BE49-F238E27FC236}">
                <a16:creationId xmlns:a16="http://schemas.microsoft.com/office/drawing/2014/main" id="{7057612F-8A23-7719-3008-E8DD66FA81AD}"/>
              </a:ext>
            </a:extLst>
          </p:cNvPr>
          <p:cNvSpPr/>
          <p:nvPr/>
        </p:nvSpPr>
        <p:spPr>
          <a:xfrm rot="5400000">
            <a:off x="-2576323" y="2553462"/>
            <a:ext cx="5152644" cy="45719"/>
          </a:xfrm>
          <a:prstGeom prst="rect">
            <a:avLst/>
          </a:prstGeom>
          <a:solidFill>
            <a:srgbClr val="FF0000"/>
          </a:solidFill>
          <a:ln w="12700">
            <a:noFill/>
            <a:prstDash val="solid"/>
          </a:ln>
        </p:spPr>
      </p:sp>
      <p:sp>
        <p:nvSpPr>
          <p:cNvPr id="21" name="Shape 0">
            <a:extLst>
              <a:ext uri="{FF2B5EF4-FFF2-40B4-BE49-F238E27FC236}">
                <a16:creationId xmlns:a16="http://schemas.microsoft.com/office/drawing/2014/main" id="{156A517B-3167-8876-D5DF-093CFCE64474}"/>
              </a:ext>
            </a:extLst>
          </p:cNvPr>
          <p:cNvSpPr/>
          <p:nvPr/>
        </p:nvSpPr>
        <p:spPr>
          <a:xfrm rot="5400000">
            <a:off x="6563104" y="2544318"/>
            <a:ext cx="5152645" cy="82296"/>
          </a:xfrm>
          <a:prstGeom prst="rect">
            <a:avLst/>
          </a:prstGeom>
          <a:solidFill>
            <a:srgbClr val="002060"/>
          </a:solidFill>
          <a:ln w="12700">
            <a:no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chemeClr val="tx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A05F0124-7EEE-DD0D-1278-35454FADAAA2}"/>
              </a:ext>
            </a:extLst>
          </p:cNvPr>
          <p:cNvPicPr>
            <a:picLocks noChangeAspect="1"/>
          </p:cNvPicPr>
          <p:nvPr/>
        </p:nvPicPr>
        <p:blipFill>
          <a:blip r:embed="rId3"/>
          <a:stretch>
            <a:fillRect/>
          </a:stretch>
        </p:blipFill>
        <p:spPr>
          <a:xfrm>
            <a:off x="3184398" y="64012"/>
            <a:ext cx="2994659" cy="1371596"/>
          </a:xfrm>
          <a:prstGeom prst="rect">
            <a:avLst/>
          </a:prstGeom>
        </p:spPr>
      </p:pic>
      <p:sp>
        <p:nvSpPr>
          <p:cNvPr id="2" name="Shape 0"/>
          <p:cNvSpPr/>
          <p:nvPr/>
        </p:nvSpPr>
        <p:spPr>
          <a:xfrm>
            <a:off x="0" y="0"/>
            <a:ext cx="0" cy="5143500"/>
          </a:xfrm>
          <a:prstGeom prst="line">
            <a:avLst/>
          </a:prstGeom>
          <a:noFill/>
          <a:ln w="6350">
            <a:solidFill>
              <a:srgbClr val="141E2C"/>
            </a:solidFill>
            <a:prstDash val="solid"/>
          </a:ln>
        </p:spPr>
      </p:sp>
      <p:sp>
        <p:nvSpPr>
          <p:cNvPr id="3" name="Shape 1"/>
          <p:cNvSpPr/>
          <p:nvPr/>
        </p:nvSpPr>
        <p:spPr>
          <a:xfrm>
            <a:off x="914400" y="0"/>
            <a:ext cx="0" cy="5143500"/>
          </a:xfrm>
          <a:prstGeom prst="line">
            <a:avLst/>
          </a:prstGeom>
          <a:noFill/>
          <a:ln w="6350">
            <a:solidFill>
              <a:srgbClr val="141E2C"/>
            </a:solidFill>
            <a:prstDash val="solid"/>
          </a:ln>
        </p:spPr>
      </p:sp>
      <p:sp>
        <p:nvSpPr>
          <p:cNvPr id="4" name="Shape 2"/>
          <p:cNvSpPr/>
          <p:nvPr/>
        </p:nvSpPr>
        <p:spPr>
          <a:xfrm>
            <a:off x="1828800" y="0"/>
            <a:ext cx="0" cy="5143500"/>
          </a:xfrm>
          <a:prstGeom prst="line">
            <a:avLst/>
          </a:prstGeom>
          <a:noFill/>
          <a:ln w="6350">
            <a:solidFill>
              <a:srgbClr val="141E2C"/>
            </a:solidFill>
            <a:prstDash val="solid"/>
          </a:ln>
        </p:spPr>
      </p:sp>
      <p:sp>
        <p:nvSpPr>
          <p:cNvPr id="5" name="Shape 3"/>
          <p:cNvSpPr/>
          <p:nvPr/>
        </p:nvSpPr>
        <p:spPr>
          <a:xfrm>
            <a:off x="2743200" y="0"/>
            <a:ext cx="0" cy="5143500"/>
          </a:xfrm>
          <a:prstGeom prst="line">
            <a:avLst/>
          </a:prstGeom>
          <a:noFill/>
          <a:ln w="6350">
            <a:solidFill>
              <a:srgbClr val="141E2C"/>
            </a:solidFill>
            <a:prstDash val="solid"/>
          </a:ln>
        </p:spPr>
      </p:sp>
      <p:sp>
        <p:nvSpPr>
          <p:cNvPr id="6" name="Shape 4"/>
          <p:cNvSpPr/>
          <p:nvPr/>
        </p:nvSpPr>
        <p:spPr>
          <a:xfrm>
            <a:off x="3657600" y="0"/>
            <a:ext cx="0" cy="5143500"/>
          </a:xfrm>
          <a:prstGeom prst="line">
            <a:avLst/>
          </a:prstGeom>
          <a:noFill/>
          <a:ln w="6350">
            <a:solidFill>
              <a:srgbClr val="141E2C"/>
            </a:solidFill>
            <a:prstDash val="solid"/>
          </a:ln>
        </p:spPr>
      </p:sp>
      <p:sp>
        <p:nvSpPr>
          <p:cNvPr id="7" name="Shape 5"/>
          <p:cNvSpPr/>
          <p:nvPr/>
        </p:nvSpPr>
        <p:spPr>
          <a:xfrm>
            <a:off x="4572000" y="0"/>
            <a:ext cx="0" cy="5143500"/>
          </a:xfrm>
          <a:prstGeom prst="line">
            <a:avLst/>
          </a:prstGeom>
          <a:noFill/>
          <a:ln w="6350">
            <a:solidFill>
              <a:srgbClr val="141E2C"/>
            </a:solidFill>
            <a:prstDash val="solid"/>
          </a:ln>
        </p:spPr>
      </p:sp>
      <p:sp>
        <p:nvSpPr>
          <p:cNvPr id="8" name="Shape 6"/>
          <p:cNvSpPr/>
          <p:nvPr/>
        </p:nvSpPr>
        <p:spPr>
          <a:xfrm>
            <a:off x="5486400" y="0"/>
            <a:ext cx="0" cy="5143500"/>
          </a:xfrm>
          <a:prstGeom prst="line">
            <a:avLst/>
          </a:prstGeom>
          <a:noFill/>
          <a:ln w="6350">
            <a:solidFill>
              <a:srgbClr val="141E2C"/>
            </a:solidFill>
            <a:prstDash val="solid"/>
          </a:ln>
        </p:spPr>
      </p:sp>
      <p:sp>
        <p:nvSpPr>
          <p:cNvPr id="9" name="Shape 7"/>
          <p:cNvSpPr/>
          <p:nvPr/>
        </p:nvSpPr>
        <p:spPr>
          <a:xfrm>
            <a:off x="6400800" y="0"/>
            <a:ext cx="0" cy="5143500"/>
          </a:xfrm>
          <a:prstGeom prst="line">
            <a:avLst/>
          </a:prstGeom>
          <a:noFill/>
          <a:ln w="6350">
            <a:solidFill>
              <a:srgbClr val="141E2C"/>
            </a:solidFill>
            <a:prstDash val="solid"/>
          </a:ln>
        </p:spPr>
      </p:sp>
      <p:sp>
        <p:nvSpPr>
          <p:cNvPr id="10" name="Shape 8"/>
          <p:cNvSpPr/>
          <p:nvPr/>
        </p:nvSpPr>
        <p:spPr>
          <a:xfrm>
            <a:off x="7315200" y="0"/>
            <a:ext cx="0" cy="5143500"/>
          </a:xfrm>
          <a:prstGeom prst="line">
            <a:avLst/>
          </a:prstGeom>
          <a:noFill/>
          <a:ln w="6350">
            <a:solidFill>
              <a:srgbClr val="141E2C"/>
            </a:solidFill>
            <a:prstDash val="solid"/>
          </a:ln>
        </p:spPr>
      </p:sp>
      <p:sp>
        <p:nvSpPr>
          <p:cNvPr id="11" name="Shape 9"/>
          <p:cNvSpPr/>
          <p:nvPr/>
        </p:nvSpPr>
        <p:spPr>
          <a:xfrm>
            <a:off x="8229600" y="0"/>
            <a:ext cx="0" cy="5143500"/>
          </a:xfrm>
          <a:prstGeom prst="line">
            <a:avLst/>
          </a:prstGeom>
          <a:noFill/>
          <a:ln w="6350">
            <a:solidFill>
              <a:srgbClr val="141E2C"/>
            </a:solidFill>
            <a:prstDash val="solid"/>
          </a:ln>
        </p:spPr>
      </p:sp>
      <p:sp>
        <p:nvSpPr>
          <p:cNvPr id="12" name="Shape 10"/>
          <p:cNvSpPr/>
          <p:nvPr/>
        </p:nvSpPr>
        <p:spPr>
          <a:xfrm>
            <a:off x="9144000" y="0"/>
            <a:ext cx="0" cy="5143500"/>
          </a:xfrm>
          <a:prstGeom prst="line">
            <a:avLst/>
          </a:prstGeom>
          <a:noFill/>
          <a:ln w="6350">
            <a:solidFill>
              <a:srgbClr val="141E2C"/>
            </a:solidFill>
            <a:prstDash val="solid"/>
          </a:ln>
        </p:spPr>
      </p:sp>
      <p:sp>
        <p:nvSpPr>
          <p:cNvPr id="13" name="Shape 11"/>
          <p:cNvSpPr/>
          <p:nvPr/>
        </p:nvSpPr>
        <p:spPr>
          <a:xfrm>
            <a:off x="0" y="0"/>
            <a:ext cx="9144000" cy="0"/>
          </a:xfrm>
          <a:prstGeom prst="line">
            <a:avLst/>
          </a:prstGeom>
          <a:noFill/>
          <a:ln w="6350">
            <a:solidFill>
              <a:srgbClr val="141E2C"/>
            </a:solidFill>
            <a:prstDash val="solid"/>
          </a:ln>
        </p:spPr>
      </p:sp>
      <p:sp>
        <p:nvSpPr>
          <p:cNvPr id="14" name="Shape 12"/>
          <p:cNvSpPr/>
          <p:nvPr/>
        </p:nvSpPr>
        <p:spPr>
          <a:xfrm>
            <a:off x="0" y="1028700"/>
            <a:ext cx="9144000" cy="0"/>
          </a:xfrm>
          <a:prstGeom prst="line">
            <a:avLst/>
          </a:prstGeom>
          <a:noFill/>
          <a:ln w="6350">
            <a:solidFill>
              <a:srgbClr val="141E2C"/>
            </a:solidFill>
            <a:prstDash val="solid"/>
          </a:ln>
        </p:spPr>
      </p:sp>
      <p:sp>
        <p:nvSpPr>
          <p:cNvPr id="15" name="Shape 13"/>
          <p:cNvSpPr/>
          <p:nvPr/>
        </p:nvSpPr>
        <p:spPr>
          <a:xfrm>
            <a:off x="0" y="2057400"/>
            <a:ext cx="9144000" cy="0"/>
          </a:xfrm>
          <a:prstGeom prst="line">
            <a:avLst/>
          </a:prstGeom>
          <a:noFill/>
          <a:ln w="6350">
            <a:solidFill>
              <a:srgbClr val="141E2C"/>
            </a:solidFill>
            <a:prstDash val="solid"/>
          </a:ln>
        </p:spPr>
      </p:sp>
      <p:sp>
        <p:nvSpPr>
          <p:cNvPr id="16" name="Shape 14"/>
          <p:cNvSpPr/>
          <p:nvPr/>
        </p:nvSpPr>
        <p:spPr>
          <a:xfrm>
            <a:off x="0" y="3086100"/>
            <a:ext cx="9144000" cy="0"/>
          </a:xfrm>
          <a:prstGeom prst="line">
            <a:avLst/>
          </a:prstGeom>
          <a:noFill/>
          <a:ln w="6350">
            <a:solidFill>
              <a:srgbClr val="141E2C"/>
            </a:solidFill>
            <a:prstDash val="solid"/>
          </a:ln>
        </p:spPr>
      </p:sp>
      <p:sp>
        <p:nvSpPr>
          <p:cNvPr id="17" name="Shape 15"/>
          <p:cNvSpPr/>
          <p:nvPr/>
        </p:nvSpPr>
        <p:spPr>
          <a:xfrm>
            <a:off x="0" y="4114800"/>
            <a:ext cx="9144000" cy="0"/>
          </a:xfrm>
          <a:prstGeom prst="line">
            <a:avLst/>
          </a:prstGeom>
          <a:noFill/>
          <a:ln w="6350">
            <a:solidFill>
              <a:srgbClr val="141E2C"/>
            </a:solidFill>
            <a:prstDash val="solid"/>
          </a:ln>
        </p:spPr>
      </p:sp>
      <p:sp>
        <p:nvSpPr>
          <p:cNvPr id="19" name="Shape 17"/>
          <p:cNvSpPr/>
          <p:nvPr/>
        </p:nvSpPr>
        <p:spPr>
          <a:xfrm>
            <a:off x="2395728" y="429769"/>
            <a:ext cx="4572000" cy="4114800"/>
          </a:xfrm>
          <a:prstGeom prst="rect">
            <a:avLst/>
          </a:prstGeom>
          <a:solidFill>
            <a:srgbClr val="1B6FD8">
              <a:alpha val="4000"/>
            </a:srgbClr>
          </a:solidFill>
          <a:ln w="12700">
            <a:solidFill>
              <a:srgbClr val="1B6FD8">
                <a:alpha val="0"/>
              </a:srgbClr>
            </a:solidFill>
            <a:prstDash val="solid"/>
          </a:ln>
        </p:spPr>
      </p:sp>
      <p:sp>
        <p:nvSpPr>
          <p:cNvPr id="18" name="Shape 16"/>
          <p:cNvSpPr/>
          <p:nvPr/>
        </p:nvSpPr>
        <p:spPr>
          <a:xfrm>
            <a:off x="0" y="5143500"/>
            <a:ext cx="9144000" cy="0"/>
          </a:xfrm>
          <a:prstGeom prst="line">
            <a:avLst/>
          </a:prstGeom>
          <a:noFill/>
          <a:ln w="6350">
            <a:solidFill>
              <a:srgbClr val="141E2C"/>
            </a:solidFill>
            <a:prstDash val="solid"/>
          </a:ln>
        </p:spPr>
      </p:sp>
      <p:sp>
        <p:nvSpPr>
          <p:cNvPr id="22" name="Text 20"/>
          <p:cNvSpPr/>
          <p:nvPr/>
        </p:nvSpPr>
        <p:spPr>
          <a:xfrm>
            <a:off x="457200" y="1325880"/>
            <a:ext cx="8229600" cy="960120"/>
          </a:xfrm>
          <a:prstGeom prst="rect">
            <a:avLst/>
          </a:prstGeom>
          <a:noFill/>
          <a:ln/>
        </p:spPr>
        <p:txBody>
          <a:bodyPr wrap="square" lIns="0" tIns="0" rIns="0" bIns="0" rtlCol="0" anchor="ctr"/>
          <a:lstStyle/>
          <a:p>
            <a:pPr marL="0" indent="0" algn="ctr">
              <a:buNone/>
            </a:pPr>
            <a:r>
              <a:rPr lang="en-US" sz="7200" b="1" dirty="0">
                <a:solidFill>
                  <a:srgbClr val="FFFFFF"/>
                </a:solidFill>
                <a:latin typeface="Arial" pitchFamily="34" charset="0"/>
                <a:ea typeface="Arial" pitchFamily="34" charset="-122"/>
                <a:cs typeface="Arial" pitchFamily="34" charset="-120"/>
              </a:rPr>
              <a:t>JOIN US.</a:t>
            </a:r>
            <a:endParaRPr lang="en-US" sz="7200" dirty="0"/>
          </a:p>
        </p:txBody>
      </p:sp>
      <p:sp>
        <p:nvSpPr>
          <p:cNvPr id="23" name="Text 21"/>
          <p:cNvSpPr/>
          <p:nvPr/>
        </p:nvSpPr>
        <p:spPr>
          <a:xfrm>
            <a:off x="914400" y="2423160"/>
            <a:ext cx="7315200" cy="777240"/>
          </a:xfrm>
          <a:prstGeom prst="rect">
            <a:avLst/>
          </a:prstGeom>
          <a:noFill/>
          <a:ln/>
        </p:spPr>
        <p:txBody>
          <a:bodyPr wrap="square" lIns="0" tIns="0" rIns="0" bIns="0" rtlCol="0" anchor="ctr"/>
          <a:lstStyle/>
          <a:p>
            <a:pPr marL="0" indent="0" algn="ctr">
              <a:buNone/>
            </a:pPr>
            <a:r>
              <a:rPr lang="en-US" sz="1350" dirty="0">
                <a:solidFill>
                  <a:srgbClr val="8FA3BE"/>
                </a:solidFill>
                <a:latin typeface="Arial" pitchFamily="34" charset="0"/>
                <a:ea typeface="Arial" pitchFamily="34" charset="-122"/>
                <a:cs typeface="Arial" pitchFamily="34" charset="-120"/>
              </a:rPr>
              <a:t>NexCort iQ is the only platform built from the ground up for</a:t>
            </a:r>
            <a:endParaRPr lang="en-US" sz="1350" dirty="0"/>
          </a:p>
          <a:p>
            <a:pPr marL="0" indent="0" algn="ctr">
              <a:buNone/>
            </a:pPr>
            <a:r>
              <a:rPr lang="en-US" sz="1350" dirty="0">
                <a:solidFill>
                  <a:srgbClr val="8FA3BE"/>
                </a:solidFill>
                <a:latin typeface="Arial" pitchFamily="34" charset="0"/>
                <a:ea typeface="Arial" pitchFamily="34" charset="-122"/>
                <a:cs typeface="Arial" pitchFamily="34" charset="-120"/>
              </a:rPr>
              <a:t>the speed, stakes, and accountability of emergency response.</a:t>
            </a:r>
            <a:endParaRPr lang="en-US" sz="1350" dirty="0"/>
          </a:p>
        </p:txBody>
      </p:sp>
      <p:sp>
        <p:nvSpPr>
          <p:cNvPr id="24" name="Text 22"/>
          <p:cNvSpPr/>
          <p:nvPr/>
        </p:nvSpPr>
        <p:spPr>
          <a:xfrm>
            <a:off x="1371600" y="3401568"/>
            <a:ext cx="2743200" cy="384048"/>
          </a:xfrm>
          <a:prstGeom prst="rect">
            <a:avLst/>
          </a:prstGeom>
          <a:noFill/>
          <a:ln/>
        </p:spPr>
        <p:txBody>
          <a:bodyPr wrap="square" lIns="0" tIns="0" rIns="0" bIns="0" rtlCol="0" anchor="ctr"/>
          <a:lstStyle/>
          <a:p>
            <a:pPr marL="0" indent="0" algn="ctr">
              <a:buNone/>
            </a:pPr>
            <a:r>
              <a:rPr lang="en-US" sz="1600" b="1" dirty="0">
                <a:solidFill>
                  <a:srgbClr val="C8102E"/>
                </a:solidFill>
                <a:latin typeface="Arial" pitchFamily="34" charset="0"/>
                <a:ea typeface="Arial" pitchFamily="34" charset="-122"/>
                <a:cs typeface="Arial" pitchFamily="34" charset="-120"/>
              </a:rPr>
              <a:t>LEAD THE</a:t>
            </a:r>
            <a:endParaRPr lang="en-US" sz="1600" dirty="0"/>
          </a:p>
        </p:txBody>
      </p:sp>
      <p:sp>
        <p:nvSpPr>
          <p:cNvPr id="25" name="Text 23"/>
          <p:cNvSpPr/>
          <p:nvPr/>
        </p:nvSpPr>
        <p:spPr>
          <a:xfrm>
            <a:off x="1371600" y="3822192"/>
            <a:ext cx="2743200" cy="594360"/>
          </a:xfrm>
          <a:prstGeom prst="rect">
            <a:avLst/>
          </a:prstGeom>
          <a:noFill/>
          <a:ln/>
        </p:spPr>
        <p:txBody>
          <a:bodyPr wrap="square" lIns="0" tIns="0" rIns="0" bIns="0" rtlCol="0" anchor="ctr"/>
          <a:lstStyle/>
          <a:p>
            <a:pPr marL="0" indent="0" algn="ctr">
              <a:buNone/>
            </a:pPr>
            <a:r>
              <a:rPr lang="en-US" sz="1050" dirty="0">
                <a:solidFill>
                  <a:srgbClr val="8FA3BE"/>
                </a:solidFill>
                <a:latin typeface="Arial" pitchFamily="34" charset="0"/>
                <a:ea typeface="Arial" pitchFamily="34" charset="-122"/>
                <a:cs typeface="Arial" pitchFamily="34" charset="-120"/>
              </a:rPr>
              <a:t>First agencies in get</a:t>
            </a:r>
            <a:endParaRPr lang="en-US" sz="1050" dirty="0"/>
          </a:p>
          <a:p>
            <a:pPr marL="0" indent="0" algn="ctr">
              <a:buNone/>
            </a:pPr>
            <a:r>
              <a:rPr lang="en-US" sz="1050" dirty="0">
                <a:solidFill>
                  <a:srgbClr val="8FA3BE"/>
                </a:solidFill>
                <a:latin typeface="Arial" pitchFamily="34" charset="0"/>
                <a:ea typeface="Arial" pitchFamily="34" charset="-122"/>
                <a:cs typeface="Arial" pitchFamily="34" charset="-120"/>
              </a:rPr>
              <a:t>the most influence on the roadmap</a:t>
            </a:r>
            <a:endParaRPr lang="en-US" sz="1050" dirty="0"/>
          </a:p>
        </p:txBody>
      </p:sp>
      <p:sp>
        <p:nvSpPr>
          <p:cNvPr id="26" name="Text 24"/>
          <p:cNvSpPr/>
          <p:nvPr/>
        </p:nvSpPr>
        <p:spPr>
          <a:xfrm>
            <a:off x="5943600" y="3401568"/>
            <a:ext cx="2743200" cy="384048"/>
          </a:xfrm>
          <a:prstGeom prst="rect">
            <a:avLst/>
          </a:prstGeom>
          <a:noFill/>
          <a:ln/>
        </p:spPr>
        <p:txBody>
          <a:bodyPr wrap="square" lIns="0" tIns="0" rIns="0" bIns="0" rtlCol="0" anchor="ctr"/>
          <a:lstStyle/>
          <a:p>
            <a:pPr marL="0" indent="0" algn="ctr">
              <a:buNone/>
            </a:pPr>
            <a:r>
              <a:rPr lang="en-US" sz="1600" b="1" dirty="0">
                <a:solidFill>
                  <a:srgbClr val="C8102E"/>
                </a:solidFill>
                <a:latin typeface="Arial" pitchFamily="34" charset="0"/>
                <a:ea typeface="Arial" pitchFamily="34" charset="-122"/>
                <a:cs typeface="Arial" pitchFamily="34" charset="-120"/>
              </a:rPr>
              <a:t>RESPONSE</a:t>
            </a:r>
            <a:endParaRPr lang="en-US" sz="1600" dirty="0"/>
          </a:p>
        </p:txBody>
      </p:sp>
      <p:sp>
        <p:nvSpPr>
          <p:cNvPr id="27" name="Text 25"/>
          <p:cNvSpPr/>
          <p:nvPr/>
        </p:nvSpPr>
        <p:spPr>
          <a:xfrm>
            <a:off x="5943600" y="3822192"/>
            <a:ext cx="2743200" cy="594360"/>
          </a:xfrm>
          <a:prstGeom prst="rect">
            <a:avLst/>
          </a:prstGeom>
          <a:noFill/>
          <a:ln/>
        </p:spPr>
        <p:txBody>
          <a:bodyPr wrap="square" lIns="0" tIns="0" rIns="0" bIns="0" rtlCol="0" anchor="ctr"/>
          <a:lstStyle/>
          <a:p>
            <a:pPr marL="0" indent="0" algn="ctr">
              <a:buNone/>
            </a:pPr>
            <a:r>
              <a:rPr lang="en-US" sz="1050" dirty="0">
                <a:solidFill>
                  <a:srgbClr val="8FA3BE"/>
                </a:solidFill>
                <a:latin typeface="Arial" pitchFamily="34" charset="0"/>
                <a:ea typeface="Arial" pitchFamily="34" charset="-122"/>
                <a:cs typeface="Arial" pitchFamily="34" charset="-120"/>
              </a:rPr>
              <a:t>Shape the standard for</a:t>
            </a:r>
            <a:endParaRPr lang="en-US" sz="1050" dirty="0"/>
          </a:p>
          <a:p>
            <a:pPr marL="0" indent="0" algn="ctr">
              <a:buNone/>
            </a:pPr>
            <a:r>
              <a:rPr lang="en-US" sz="1050" dirty="0">
                <a:solidFill>
                  <a:srgbClr val="8FA3BE"/>
                </a:solidFill>
                <a:latin typeface="Arial" pitchFamily="34" charset="0"/>
                <a:ea typeface="Arial" pitchFamily="34" charset="-122"/>
                <a:cs typeface="Arial" pitchFamily="34" charset="-120"/>
              </a:rPr>
              <a:t>intelligent emergency communications</a:t>
            </a:r>
            <a:endParaRPr lang="en-US" sz="1050" dirty="0"/>
          </a:p>
        </p:txBody>
      </p:sp>
      <p:sp>
        <p:nvSpPr>
          <p:cNvPr id="28" name="Shape 26"/>
          <p:cNvSpPr/>
          <p:nvPr/>
        </p:nvSpPr>
        <p:spPr>
          <a:xfrm>
            <a:off x="0" y="4846320"/>
            <a:ext cx="9144000" cy="297180"/>
          </a:xfrm>
          <a:prstGeom prst="rect">
            <a:avLst/>
          </a:prstGeom>
          <a:solidFill>
            <a:srgbClr val="111A2B"/>
          </a:solidFill>
          <a:ln w="12700">
            <a:solidFill>
              <a:srgbClr val="111A2B"/>
            </a:solidFill>
            <a:prstDash val="solid"/>
          </a:ln>
        </p:spPr>
      </p:sp>
      <p:sp>
        <p:nvSpPr>
          <p:cNvPr id="29" name="Text 27"/>
          <p:cNvSpPr/>
          <p:nvPr/>
        </p:nvSpPr>
        <p:spPr>
          <a:xfrm>
            <a:off x="0" y="4846320"/>
            <a:ext cx="9144000" cy="297180"/>
          </a:xfrm>
          <a:prstGeom prst="rect">
            <a:avLst/>
          </a:prstGeom>
          <a:noFill/>
          <a:ln/>
        </p:spPr>
        <p:txBody>
          <a:bodyPr wrap="square" lIns="0" tIns="0" rIns="0" bIns="0" rtlCol="0" anchor="ctr"/>
          <a:lstStyle/>
          <a:p>
            <a:pPr marL="0" indent="0" algn="ctr">
              <a:buNone/>
            </a:pPr>
            <a:r>
              <a:rPr lang="en-US" sz="1000" dirty="0">
                <a:solidFill>
                  <a:srgbClr val="5B7A9C"/>
                </a:solidFill>
                <a:latin typeface="Arial" pitchFamily="34" charset="0"/>
                <a:ea typeface="Arial" pitchFamily="34" charset="-122"/>
                <a:cs typeface="Arial" pitchFamily="34" charset="-120"/>
              </a:rPr>
              <a:t>rapidcortex.us  |  Intelligence at the speed of response.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562</TotalTime>
  <Words>998</Words>
  <Application>Microsoft Macintosh PowerPoint</Application>
  <PresentationFormat>On-screen Show (16:9)</PresentationFormat>
  <Paragraphs>166</Paragraphs>
  <Slides>13</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J.W. Coleman</cp:lastModifiedBy>
  <cp:revision>6</cp:revision>
  <dcterms:created xsi:type="dcterms:W3CDTF">2026-06-16T14:39:50Z</dcterms:created>
  <dcterms:modified xsi:type="dcterms:W3CDTF">2026-07-22T02:37:00Z</dcterms:modified>
</cp:coreProperties>
</file>